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71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700"/>
    <a:srgbClr val="EBE5E5"/>
    <a:srgbClr val="DFC991"/>
    <a:srgbClr val="B8A4A4"/>
    <a:srgbClr val="D5B5B5"/>
    <a:srgbClr val="080278"/>
    <a:srgbClr val="2F4464"/>
    <a:srgbClr val="EBBD15"/>
    <a:srgbClr val="001B44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55774" autoAdjust="0"/>
  </p:normalViewPr>
  <p:slideViewPr>
    <p:cSldViewPr snapToGrid="0">
      <p:cViewPr varScale="1">
        <p:scale>
          <a:sx n="63" d="100"/>
          <a:sy n="63" d="100"/>
        </p:scale>
        <p:origin x="-2430" y="-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4A7D9B-9A47-4DFF-9D9E-AB7D153A7763}" type="datetimeFigureOut">
              <a:rPr lang="en-PH" smtClean="0"/>
              <a:t>11/12/2025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74597C-610D-4A4D-B7D5-E04939425FC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39940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"Good morning/afternoon. I’m Nice Bulio and this is  Mc Sergel Cardano.</a:t>
            </a:r>
          </a:p>
          <a:p>
            <a:r>
              <a:rPr lang="en-US"/>
              <a:t>Our research uses machine learning to predict student enrollment in the Philippines, so schools can prepare better. Let's begin."</a:t>
            </a:r>
          </a:p>
          <a:p>
            <a:endParaRPr lang="en-US"/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"The Philippine education system has a serious problem: enrollment numbers keep changing unpredictably.</a:t>
            </a:r>
          </a:p>
          <a:p>
            <a:r>
              <a:rPr lang="en-US"/>
              <a:t>In some regions, student numbers swing by 250,000 students every year. In NCR and CALABARZON, enrollment varies by 18-22%—that's three times more than stable regions.</a:t>
            </a:r>
          </a:p>
          <a:p>
            <a:r>
              <a:rPr lang="en-US"/>
              <a:t>Real example: In 2021, one Davao school suddenly got 250 surprise students. Imagine trying to find teachers and classrooms overnight. This happens all the time, threatening both efficiency and fairness in education."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"The root cause? DepEd has no system to predict enrollment. They treat all 17 regions the same, even though some are stable and others are chaotic.</a:t>
            </a:r>
          </a:p>
          <a:p>
            <a:r>
              <a:rPr lang="en-US"/>
              <a:t>This creates three problems:</a:t>
            </a:r>
          </a:p>
          <a:p>
            <a:r>
              <a:rPr lang="en-US"/>
              <a:t>Reactive planning: Schools report enrollment 30 days late, emergency hiring takes 2-3 months.</a:t>
            </a:r>
          </a:p>
          <a:p>
            <a:r>
              <a:rPr lang="en-US"/>
              <a:t>Misallocation: Wrong regions get wrong resources.</a:t>
            </a:r>
          </a:p>
          <a:p>
            <a:r>
              <a:rPr lang="en-US"/>
              <a:t>Inequity: Overcrowded classrooms with 60 students, delayed lessons, quality gaps.</a:t>
            </a:r>
          </a:p>
          <a:p>
            <a:r>
              <a:rPr lang="en-US"/>
              <a:t>Our solution: Predict enrollment AND classify which regions need special attention."</a:t>
            </a:r>
          </a:p>
          <a:p>
            <a:endParaRPr lang="en-US"/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"Three questions guided our research:</a:t>
            </a:r>
          </a:p>
          <a:p>
            <a:r>
              <a:rPr lang="en-US"/>
              <a:t>One: Which machine learning model best predicts enrollment?</a:t>
            </a:r>
          </a:p>
          <a:p>
            <a:r>
              <a:rPr lang="en-US"/>
              <a:t>Two: Which regions are stable versus volatile?</a:t>
            </a:r>
          </a:p>
          <a:p>
            <a:r>
              <a:rPr lang="en-US"/>
              <a:t>Three: How can we use this to improve resource distribution?"</a:t>
            </a:r>
          </a:p>
          <a:p>
            <a:endParaRPr lang="en-US"/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"Three questions guided our research:</a:t>
            </a:r>
          </a:p>
          <a:p>
            <a:r>
              <a:rPr lang="en-US"/>
              <a:t>One: Which machine learning model best predicts enrollment?</a:t>
            </a:r>
          </a:p>
          <a:p>
            <a:r>
              <a:rPr lang="en-US"/>
              <a:t>Two: Which regions are stable versus volatile?</a:t>
            </a:r>
          </a:p>
          <a:p>
            <a:r>
              <a:rPr lang="en-US"/>
              <a:t>Three: How can we use this to improve resource distribution?"</a:t>
            </a:r>
          </a:p>
          <a:p>
            <a:endParaRPr lang="en-US"/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"Our approach is simple: Input, Process, Output.</a:t>
            </a:r>
          </a:p>
          <a:p>
            <a:r>
              <a:rPr lang="en-US"/>
              <a:t>Input: 11 years of enrollment data, 2010-2021, all 17 regions, 561 observations.</a:t>
            </a:r>
          </a:p>
          <a:p>
            <a:r>
              <a:rPr lang="en-US"/>
              <a:t>Process: Four machine learning models plus volatility analysis.</a:t>
            </a:r>
          </a:p>
          <a:p>
            <a:r>
              <a:rPr lang="en-US"/>
              <a:t>Output: Enrollment forecasts and region classifications.</a:t>
            </a:r>
          </a:p>
          <a:p>
            <a:r>
              <a:rPr lang="en-US"/>
              <a:t>Validation: We tested on 2020-2021 pandemic years—if it works during COVID, it works anytime."</a:t>
            </a:r>
          </a:p>
          <a:p>
            <a:endParaRPr lang="en-US"/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"We used Philippines School Enrollment Data covering 2010-2021, all 17 regions, public and private schools, validated with DepEd records.</a:t>
            </a:r>
          </a:p>
          <a:p>
            <a:r>
              <a:rPr lang="en-US"/>
              <a:t>561 observations, 57 features organized into: academic year, region, sector, grade levels, and senior high strands."</a:t>
            </a:r>
          </a:p>
          <a:p>
            <a:endParaRPr lang="en-US"/>
          </a:p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“To prepare the data, we did four major steps.</a:t>
            </a:r>
          </a:p>
          <a:p>
            <a:r>
              <a:rPr lang="en-US" dirty="0"/>
              <a:t>First, we aggregated all grade levels to create total regional enrollment.</a:t>
            </a:r>
          </a:p>
          <a:p>
            <a:r>
              <a:rPr lang="en-US" dirty="0"/>
              <a:t>Second, we applied one-hot encoding to convert categories into numerical format.</a:t>
            </a:r>
          </a:p>
          <a:p>
            <a:r>
              <a:rPr lang="en-US" dirty="0"/>
              <a:t>Third, we cleaned missing values and removed outliers.</a:t>
            </a:r>
          </a:p>
          <a:p>
            <a:r>
              <a:rPr lang="en-US" dirty="0"/>
              <a:t>And fourth, we used walk-forward validation, which means training on previous years and predicting future years.</a:t>
            </a:r>
          </a:p>
          <a:p>
            <a:r>
              <a:rPr lang="en-US" dirty="0"/>
              <a:t>This method prevents data leakage and ensures realistic forecasting.”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“We tested four machine learning models:</a:t>
            </a:r>
          </a:p>
          <a:p>
            <a:r>
              <a:rPr lang="en-US" dirty="0"/>
              <a:t>Linear Regression, Decision Tree, Random Forest, and Support Vector Regression.</a:t>
            </a:r>
          </a:p>
          <a:p>
            <a:endParaRPr lang="en-US" dirty="0"/>
          </a:p>
          <a:p>
            <a:r>
              <a:rPr lang="en-US" dirty="0"/>
              <a:t>We evaluated each model using R², MAE, and RMSE.</a:t>
            </a:r>
          </a:p>
          <a:p>
            <a:r>
              <a:rPr lang="en-US" dirty="0"/>
              <a:t>These metrics help us understand accuracy, error size, and penalty for large mistakes.</a:t>
            </a:r>
          </a:p>
          <a:p>
            <a:endParaRPr lang="en-US" dirty="0"/>
          </a:p>
          <a:p>
            <a:r>
              <a:rPr lang="en-US" dirty="0"/>
              <a:t>We also tested the models specifically on the pandemic years, 2020 and 2021, to check their reliability during extreme events.”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Here we present the performance comparison of all machine learning models we tested.</a:t>
            </a:r>
          </a:p>
          <a:p>
            <a:endParaRPr lang="en-US" dirty="0"/>
          </a:p>
          <a:p>
            <a:r>
              <a:rPr lang="en-US" dirty="0"/>
              <a:t>Among all the models, Random Forest delivered the strongest and most consistent performance in forecasting regional K–12 enrollment.</a:t>
            </a:r>
          </a:p>
          <a:p>
            <a:endParaRPr lang="en-US" dirty="0"/>
          </a:p>
          <a:p>
            <a:r>
              <a:rPr lang="en-US" dirty="0"/>
              <a:t>Random Forest achieved:</a:t>
            </a:r>
          </a:p>
          <a:p>
            <a:endParaRPr lang="en-US" dirty="0"/>
          </a:p>
          <a:p>
            <a:r>
              <a:rPr lang="en-US" dirty="0"/>
              <a:t>• R² = 0.9874, meaning it explains 98.74 percent of enrollment variation</a:t>
            </a:r>
          </a:p>
          <a:p>
            <a:r>
              <a:rPr lang="en-US" dirty="0"/>
              <a:t>• MAE of 46,313 students, or about 8.9 percent average error</a:t>
            </a:r>
          </a:p>
          <a:p>
            <a:r>
              <a:rPr lang="en-US" dirty="0"/>
              <a:t>• RMSE of 78,753, showing reliable stability even during large shifts in enrollment</a:t>
            </a:r>
          </a:p>
          <a:p>
            <a:endParaRPr lang="en-US" dirty="0"/>
          </a:p>
          <a:p>
            <a:r>
              <a:rPr lang="en-US" dirty="0"/>
              <a:t>Based on these results, Random Forest is the recommended model for deployment because it offers the best balance of accuracy and robustness across different regions and years.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This graph shows how closely the Random Forest model’s predictions match the actual enrollment values for 2020 and 2021.</a:t>
            </a:r>
          </a:p>
          <a:p>
            <a:endParaRPr lang="en-US" dirty="0"/>
          </a:p>
          <a:p>
            <a:r>
              <a:rPr lang="en-US" dirty="0"/>
              <a:t>We see a strong alignment along the diagonal line, which confirms:</a:t>
            </a:r>
          </a:p>
          <a:p>
            <a:endParaRPr lang="en-US" dirty="0"/>
          </a:p>
          <a:p>
            <a:r>
              <a:rPr lang="en-US" dirty="0"/>
              <a:t>• High predictive accuracy</a:t>
            </a:r>
          </a:p>
          <a:p>
            <a:r>
              <a:rPr lang="en-US" dirty="0"/>
              <a:t>• Stable performance across all regions</a:t>
            </a:r>
          </a:p>
          <a:p>
            <a:r>
              <a:rPr lang="en-US" dirty="0"/>
              <a:t>• Balanced predictions, with no systematic over- or under-estimation</a:t>
            </a:r>
          </a:p>
          <a:p>
            <a:r>
              <a:rPr lang="en-US" dirty="0"/>
              <a:t>• Resilience even during the pandemic years</a:t>
            </a:r>
          </a:p>
          <a:p>
            <a:endParaRPr lang="en-US" dirty="0"/>
          </a:p>
          <a:p>
            <a:r>
              <a:rPr lang="en-US" dirty="0"/>
              <a:t>Overall, these results show that Random Forest effectively captures regional enrollment patterns and provides dependable forecasts for planning purposes.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Our second output is the volatility classification.</a:t>
            </a:r>
          </a:p>
          <a:p>
            <a:endParaRPr lang="en-US"/>
          </a:p>
          <a:p>
            <a:r>
              <a:rPr lang="en-US"/>
              <a:t>Using the 75th percentile coefficient of variation as the threshold, we identified:</a:t>
            </a:r>
          </a:p>
          <a:p>
            <a:endParaRPr lang="en-US"/>
          </a:p>
          <a:p>
            <a:r>
              <a:rPr lang="en-US"/>
              <a:t>• Four volatile regions — NCR, CALABARZON, Central Luzon, and Central Visayas</a:t>
            </a:r>
          </a:p>
          <a:p>
            <a:r>
              <a:rPr lang="en-US"/>
              <a:t>• Thirteen stable regions, with predictable enrollment patterns</a:t>
            </a:r>
          </a:p>
          <a:p>
            <a:endParaRPr lang="en-US"/>
          </a:p>
          <a:p>
            <a:r>
              <a:rPr lang="en-US"/>
              <a:t>Volatile regions experience large year-to-year fluctuations, making planning more challenging.</a:t>
            </a:r>
          </a:p>
          <a:p>
            <a:r>
              <a:rPr lang="en-US"/>
              <a:t>Stable regions show consistent trends, allowing for more efficient resource scheduling.</a:t>
            </a:r>
          </a:p>
          <a:p>
            <a:endParaRPr lang="en-US"/>
          </a:p>
          <a:p>
            <a:r>
              <a:rPr lang="en-US"/>
              <a:t>This classification helps target support where it is most needed.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 conclusion, our study successfully developed a dual-method framework that:</a:t>
            </a:r>
          </a:p>
          <a:p>
            <a:endParaRPr lang="en-US"/>
          </a:p>
          <a:p>
            <a:r>
              <a:rPr lang="en-US"/>
              <a:t>Accurately forecasts regional K–12 enrollment using the Random Forest model, which achieved 98.74 percent accuracy and strong reliability during the test years.</a:t>
            </a:r>
          </a:p>
          <a:p>
            <a:endParaRPr lang="en-US"/>
          </a:p>
          <a:p>
            <a:r>
              <a:rPr lang="en-US"/>
              <a:t>Identifies regional volatility patterns, revealing four regions with high variability and thirteen stable regions.</a:t>
            </a:r>
          </a:p>
          <a:p>
            <a:endParaRPr lang="en-US"/>
          </a:p>
          <a:p>
            <a:r>
              <a:rPr lang="en-US"/>
              <a:t>Supports proactive and data-driven planning for DepEd by enabling better distribution of teachers, classrooms, and other educational resources.</a:t>
            </a:r>
          </a:p>
          <a:p>
            <a:endParaRPr lang="en-US"/>
          </a:p>
          <a:p>
            <a:r>
              <a:rPr lang="en-US"/>
              <a:t>By combining forecasting and volatility classification, our framework provides a practical tool that enhances efficiency and promotes educational equity across Philippine regions.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We recommend several actions based on our findings:</a:t>
            </a:r>
          </a:p>
          <a:p>
            <a:endParaRPr lang="en-US"/>
          </a:p>
          <a:p>
            <a:r>
              <a:rPr lang="en-US"/>
              <a:t>For immediate implementation:</a:t>
            </a:r>
          </a:p>
          <a:p>
            <a:r>
              <a:rPr lang="en-US"/>
              <a:t>• Allocate buffer capacity in regions with volatility</a:t>
            </a:r>
          </a:p>
          <a:p>
            <a:r>
              <a:rPr lang="en-US"/>
              <a:t>• Conduct quarterly enrollment monitoring</a:t>
            </a:r>
          </a:p>
          <a:p>
            <a:r>
              <a:rPr lang="en-US"/>
              <a:t>• Deploy rapid response teams for sudden surges</a:t>
            </a:r>
          </a:p>
          <a:p>
            <a:r>
              <a:rPr lang="en-US"/>
              <a:t>• Prepare mobile classrooms and substitute teacher pools</a:t>
            </a:r>
          </a:p>
          <a:p>
            <a:endParaRPr lang="en-US"/>
          </a:p>
          <a:p>
            <a:r>
              <a:rPr lang="en-US"/>
              <a:t>For system development:</a:t>
            </a:r>
          </a:p>
          <a:p>
            <a:r>
              <a:rPr lang="en-US"/>
              <a:t>• Create an automated forecasting dashboard powered by Random Forest</a:t>
            </a:r>
          </a:p>
          <a:p>
            <a:r>
              <a:rPr lang="en-US"/>
              <a:t>• Train planning officers in data-driven decision making</a:t>
            </a:r>
          </a:p>
          <a:p>
            <a:r>
              <a:rPr lang="en-US"/>
              <a:t>• Integrate forecasts into DepEd’s annual budgeting and teacher deployment processes</a:t>
            </a:r>
          </a:p>
          <a:p>
            <a:endParaRPr lang="en-US"/>
          </a:p>
          <a:p>
            <a:r>
              <a:rPr lang="en-US"/>
              <a:t>For continuous improvement:</a:t>
            </a:r>
          </a:p>
          <a:p>
            <a:r>
              <a:rPr lang="en-US"/>
              <a:t>• Update models annually with new data</a:t>
            </a:r>
          </a:p>
          <a:p>
            <a:r>
              <a:rPr lang="en-US"/>
              <a:t>• Track accuracy and recalibrate thresholds when needed</a:t>
            </a:r>
          </a:p>
          <a:p>
            <a:r>
              <a:rPr lang="en-US"/>
              <a:t>• Expand to school-level forecasting in highly dynamic regions</a:t>
            </a:r>
          </a:p>
          <a:p>
            <a:endParaRPr lang="en-US"/>
          </a:p>
          <a:p>
            <a:r>
              <a:rPr lang="en-US"/>
              <a:t>These recommendations support a long-term shift toward a more proactive, efficient, and equitable education planning system.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All references are listed here. Importantly, all our code and data are open-source on GitHub at github.com/NCoding95/Mini-Project. Everything is fully reproducible.</a:t>
            </a:r>
          </a:p>
          <a:p>
            <a:r>
              <a:rPr lang="en-US"/>
              <a:t>15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A6D729D-2A79-4F12-91CE-C62DF69E19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8B0E0BA3-35FB-46E6-BEBC-EA22A5B30A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6A0CD02-A7D7-4ABC-A370-FF813BA1B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6A07E-44D4-4AE4-99FF-C9FF06CA7DD6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C74FB2C-2615-4086-B721-D73F58B04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AB8A52C-D03E-4D5E-B67D-6F60FB185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EBDCD-7523-4858-BEEE-8882F8F85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464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9CA00C9-4B3E-4638-93AE-03055D416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F752FAE-3D8B-4801-9053-A44C90FA2A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7D49EAA-1A90-49C8-A956-C2DEB0B8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6A07E-44D4-4AE4-99FF-C9FF06CA7DD6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649D618-BB13-4424-A7B6-6B1FEC4CB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6C88502-1C82-4FAD-90F9-1A17B953D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EBDCD-7523-4858-BEEE-8882F8F85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169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0F49D8C-B887-4F77-8003-AFF6289B5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A68B060-537D-4C68-83B6-489D897B64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E094AED-A7E7-474B-B5B3-7ED8CBD5C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6A07E-44D4-4AE4-99FF-C9FF06CA7DD6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BEA36BDB-9FF5-46D1-8B20-D87C5D8C7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337457F-44C7-455F-964C-432B73EDC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EBDCD-7523-4858-BEEE-8882F8F85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493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63D9AEE-7437-4313-890D-BB4BA1421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AA30425-8596-4B5A-9EBC-E01CCB5CC3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E3253384-482E-452A-8C69-CEEB5C703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6A0576D8-3DD9-483B-81CF-51B3DF137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6A07E-44D4-4AE4-99FF-C9FF06CA7DD6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89581CCB-EA89-4035-B3F6-E690A88F3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2872AE57-033F-4C32-BBEB-588BF9E51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EBDCD-7523-4858-BEEE-8882F8F85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907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1785947-7995-46FA-B391-BC09B9BC7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6A5075DA-E397-45FC-86DD-1338A33A1D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E7287E0A-D386-4BA7-AA75-AEE2F563B2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92E06669-2683-4752-A113-2865E6914F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2E90B303-3F05-4495-9783-56CC62CD25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01161707-6C68-45A7-A771-1C6E79B2C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6A07E-44D4-4AE4-99FF-C9FF06CA7DD6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233DADE7-BE0F-4224-B07B-8CBEE171F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D44D49ED-42C9-49E1-880B-107FD657A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EBDCD-7523-4858-BEEE-8882F8F85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316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F42F66E-4E58-45F0-A69A-3CAC46604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A6FA6685-A158-4610-BECD-2F140589C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6A07E-44D4-4AE4-99FF-C9FF06CA7DD6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1C72F8FD-C906-4B14-8C14-3476F6C3A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5D91BD6E-96D8-435B-B72B-8E5D951A1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EBDCD-7523-4858-BEEE-8882F8F85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202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1651EB6C-70CD-4619-B5B2-E2FB2221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6A07E-44D4-4AE4-99FF-C9FF06CA7DD6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3B452CFC-619A-40E5-AAA3-3F17D741E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A20184D-F102-40A4-B72D-C481CBFF7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EBDCD-7523-4858-BEEE-8882F8F85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574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2DA5002-A0E3-468E-A3B9-6EC957EAF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A662E50-CF6A-42F5-AB0C-7BFE00C39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9C348EFB-CF14-4A48-82E8-19F11109C7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2FE84C8B-6BC9-4080-B22E-BEAE87B8F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6A07E-44D4-4AE4-99FF-C9FF06CA7DD6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CAA1369B-DFA0-416A-8E29-753AEF849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F501B5EA-A6DA-4FCA-B2F5-01E521720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EBDCD-7523-4858-BEEE-8882F8F85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525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179C125-A872-45EE-AEB3-F026C1FD8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945101F3-CE5C-4F7A-A2C9-D22845C574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D75A6F63-54DC-402C-9EC6-4EC4B7DD0C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7675CB52-F4A1-45C4-A63E-EEABEF624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6A07E-44D4-4AE4-99FF-C9FF06CA7DD6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BCCADF91-6BE7-4A22-8D74-8C06D6B37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C9B59A85-79C5-4C39-B0CC-E3B8DACE4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EBDCD-7523-4858-BEEE-8882F8F85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416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F0FD4B6-4E5F-4C38-AAB1-92370FD31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FFF49FFB-31D7-437C-AEF2-334ED002F9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C0320C7F-F9E9-4BB2-B2FD-93208EDDD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6A07E-44D4-4AE4-99FF-C9FF06CA7DD6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691AE4D-67F3-4D25-8BCA-C1AB2C1BE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D3FE6D0-3911-4434-99F4-BB402F162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EBDCD-7523-4858-BEEE-8882F8F85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588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130186B4-8138-4FFD-858F-3F17F60269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04C7BFE9-1C29-4A43-8A04-D866F8F2AE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5C0CE0E-40F7-4F36-BAA6-A3F2C0A42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6A07E-44D4-4AE4-99FF-C9FF06CA7DD6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20229D5-1FC9-4752-BCDD-9B1B47F01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EDA4E13-40CA-4F60-9183-B8DA30C64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EBDCD-7523-4858-BEEE-8882F8F85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546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5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272EA2BF-5A01-467B-9B9E-A4D2388AD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72BC42AA-6CF4-47A8-B158-D184D248E5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ECB43C4-628A-49B6-A1B9-80F9CC62AD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A6A07E-44D4-4AE4-99FF-C9FF06CA7DD6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0009991-7BFD-4190-B973-89A1044217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370DEC8-AC6B-45C4-A34B-8230DFDA62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EBDCD-7523-4858-BEEE-8882F8F85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701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9.png"/><Relationship Id="rId18" Type="http://schemas.openxmlformats.org/officeDocument/2006/relationships/image" Target="../media/image18.sv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12" Type="http://schemas.openxmlformats.org/officeDocument/2006/relationships/image" Target="../media/image12.svg"/><Relationship Id="rId1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8.png"/><Relationship Id="rId5" Type="http://schemas.openxmlformats.org/officeDocument/2006/relationships/image" Target="../media/image4.png"/><Relationship Id="rId15" Type="http://schemas.openxmlformats.org/officeDocument/2006/relationships/image" Target="../media/image10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7.png"/><Relationship Id="rId14" Type="http://schemas.openxmlformats.org/officeDocument/2006/relationships/image" Target="../media/image14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3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22.svg"/><Relationship Id="rId4" Type="http://schemas.openxmlformats.org/officeDocument/2006/relationships/image" Target="../media/image4.sv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12" Type="http://schemas.openxmlformats.org/officeDocument/2006/relationships/image" Target="../media/image2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6.png"/><Relationship Id="rId5" Type="http://schemas.openxmlformats.org/officeDocument/2006/relationships/image" Target="../media/image4.png"/><Relationship Id="rId10" Type="http://schemas.openxmlformats.org/officeDocument/2006/relationships/image" Target="../media/image26.svg"/><Relationship Id="rId4" Type="http://schemas.openxmlformats.org/officeDocument/2006/relationships/image" Target="../media/image4.sv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12" Type="http://schemas.openxmlformats.org/officeDocument/2006/relationships/image" Target="../media/image2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6.png"/><Relationship Id="rId5" Type="http://schemas.openxmlformats.org/officeDocument/2006/relationships/image" Target="../media/image4.png"/><Relationship Id="rId10" Type="http://schemas.openxmlformats.org/officeDocument/2006/relationships/image" Target="../media/image26.svg"/><Relationship Id="rId4" Type="http://schemas.openxmlformats.org/officeDocument/2006/relationships/image" Target="../media/image4.sv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13" Type="http://schemas.openxmlformats.org/officeDocument/2006/relationships/image" Target="../media/image20.png"/><Relationship Id="rId3" Type="http://schemas.openxmlformats.org/officeDocument/2006/relationships/image" Target="../media/image3.png"/><Relationship Id="rId7" Type="http://schemas.openxmlformats.org/officeDocument/2006/relationships/image" Target="../media/image17.png"/><Relationship Id="rId12" Type="http://schemas.openxmlformats.org/officeDocument/2006/relationships/image" Target="../media/image34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9.png"/><Relationship Id="rId5" Type="http://schemas.openxmlformats.org/officeDocument/2006/relationships/image" Target="../media/image4.png"/><Relationship Id="rId10" Type="http://schemas.openxmlformats.org/officeDocument/2006/relationships/image" Target="../media/image32.svg"/><Relationship Id="rId4" Type="http://schemas.openxmlformats.org/officeDocument/2006/relationships/image" Target="../media/image4.svg"/><Relationship Id="rId9" Type="http://schemas.openxmlformats.org/officeDocument/2006/relationships/image" Target="../media/image18.png"/><Relationship Id="rId14" Type="http://schemas.openxmlformats.org/officeDocument/2006/relationships/image" Target="../media/image36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21.png"/><Relationship Id="rId7" Type="http://schemas.openxmlformats.org/officeDocument/2006/relationships/image" Target="../media/image3.png"/><Relationship Id="rId12" Type="http://schemas.openxmlformats.org/officeDocument/2006/relationships/image" Target="../media/image4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svg"/><Relationship Id="rId11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5.png"/><Relationship Id="rId4" Type="http://schemas.openxmlformats.org/officeDocument/2006/relationships/image" Target="../media/image38.svg"/><Relationship Id="rId9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13" Type="http://schemas.openxmlformats.org/officeDocument/2006/relationships/image" Target="../media/image27.png"/><Relationship Id="rId3" Type="http://schemas.openxmlformats.org/officeDocument/2006/relationships/image" Target="../media/image24.png"/><Relationship Id="rId7" Type="http://schemas.openxmlformats.org/officeDocument/2006/relationships/image" Target="../media/image3.png"/><Relationship Id="rId12" Type="http://schemas.openxmlformats.org/officeDocument/2006/relationships/image" Target="../media/image48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svg"/><Relationship Id="rId11" Type="http://schemas.openxmlformats.org/officeDocument/2006/relationships/image" Target="../media/image26.png"/><Relationship Id="rId5" Type="http://schemas.openxmlformats.org/officeDocument/2006/relationships/image" Target="../media/image25.png"/><Relationship Id="rId10" Type="http://schemas.openxmlformats.org/officeDocument/2006/relationships/image" Target="../media/image5.png"/><Relationship Id="rId4" Type="http://schemas.openxmlformats.org/officeDocument/2006/relationships/image" Target="../media/image44.svg"/><Relationship Id="rId9" Type="http://schemas.openxmlformats.org/officeDocument/2006/relationships/image" Target="../media/image4.png"/><Relationship Id="rId14" Type="http://schemas.openxmlformats.org/officeDocument/2006/relationships/image" Target="../media/image50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31.png"/><Relationship Id="rId18" Type="http://schemas.openxmlformats.org/officeDocument/2006/relationships/image" Target="../media/image62.svg"/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12" Type="http://schemas.openxmlformats.org/officeDocument/2006/relationships/image" Target="../media/image56.svg"/><Relationship Id="rId17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6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svg"/><Relationship Id="rId11" Type="http://schemas.openxmlformats.org/officeDocument/2006/relationships/image" Target="../media/image30.png"/><Relationship Id="rId5" Type="http://schemas.openxmlformats.org/officeDocument/2006/relationships/image" Target="../media/image28.png"/><Relationship Id="rId15" Type="http://schemas.openxmlformats.org/officeDocument/2006/relationships/image" Target="../media/image32.png"/><Relationship Id="rId10" Type="http://schemas.openxmlformats.org/officeDocument/2006/relationships/image" Target="../media/image54.svg"/><Relationship Id="rId4" Type="http://schemas.openxmlformats.org/officeDocument/2006/relationships/image" Target="../media/image5.png"/><Relationship Id="rId9" Type="http://schemas.openxmlformats.org/officeDocument/2006/relationships/image" Target="../media/image29.png"/><Relationship Id="rId14" Type="http://schemas.openxmlformats.org/officeDocument/2006/relationships/image" Target="../media/image58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4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016/j.ijeds.2022.03.008" TargetMode="External"/><Relationship Id="rId13" Type="http://schemas.openxmlformats.org/officeDocument/2006/relationships/hyperlink" Target="https://psa.gov.ph/poverty-press-releases" TargetMode="External"/><Relationship Id="rId3" Type="http://schemas.openxmlformats.org/officeDocument/2006/relationships/image" Target="../media/image4.png"/><Relationship Id="rId7" Type="http://schemas.openxmlformats.org/officeDocument/2006/relationships/hyperlink" Target="https://doi.org/10.1007/978-0-387-84858-7" TargetMode="External"/><Relationship Id="rId12" Type="http://schemas.openxmlformats.org/officeDocument/2006/relationships/hyperlink" Target="https://www.pids.gov.ph/details/news/in-the-news" TargetMode="External"/><Relationship Id="rId2" Type="http://schemas.openxmlformats.org/officeDocument/2006/relationships/notesSlide" Target="../notesSlides/notesSlide15.xml"/><Relationship Id="rId16" Type="http://schemas.openxmlformats.org/officeDocument/2006/relationships/hyperlink" Target="https://github.com/NCoding95/Mini-Project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oi.org/10.1080/00220671.2011.552075" TargetMode="External"/><Relationship Id="rId11" Type="http://schemas.openxmlformats.org/officeDocument/2006/relationships/hyperlink" Target="https://www.deped.gov.ph/2024/09/19/matatag-curriculum-flexibility" TargetMode="External"/><Relationship Id="rId5" Type="http://schemas.openxmlformats.org/officeDocument/2006/relationships/hyperlink" Target="https://doi.org/10.1007/s10639-022-11234-5" TargetMode="External"/><Relationship Id="rId15" Type="http://schemas.openxmlformats.org/officeDocument/2006/relationships/hyperlink" Target="https://doi.org/10.1596/978-1-4648-1096-1" TargetMode="External"/><Relationship Id="rId10" Type="http://schemas.openxmlformats.org/officeDocument/2006/relationships/hyperlink" Target="https://cpbrd.congress.gov.ph/" TargetMode="External"/><Relationship Id="rId4" Type="http://schemas.openxmlformats.org/officeDocument/2006/relationships/image" Target="../media/image5.png"/><Relationship Id="rId9" Type="http://schemas.openxmlformats.org/officeDocument/2006/relationships/hyperlink" Target="https://unesdoc.unesco.org/ark:/48223/pf0000186606" TargetMode="External"/><Relationship Id="rId14" Type="http://schemas.openxmlformats.org/officeDocument/2006/relationships/hyperlink" Target="https://www.kaggle.com/datasets/raiblaze/philippines-school-enrollment-dat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="" xmlns:a16="http://schemas.microsoft.com/office/drawing/2014/main" id="{9CCD8ACD-2638-42DC-AF77-04775BD4D489}"/>
              </a:ext>
            </a:extLst>
          </p:cNvPr>
          <p:cNvGrpSpPr/>
          <p:nvPr/>
        </p:nvGrpSpPr>
        <p:grpSpPr>
          <a:xfrm>
            <a:off x="5609189" y="-314051"/>
            <a:ext cx="8721681" cy="7471425"/>
            <a:chOff x="1737297" y="-382372"/>
            <a:chExt cx="8721681" cy="7471425"/>
          </a:xfrm>
          <a:solidFill>
            <a:srgbClr val="DFC991">
              <a:alpha val="30000"/>
            </a:srgbClr>
          </a:solidFill>
        </p:grpSpPr>
        <p:sp>
          <p:nvSpPr>
            <p:cNvPr id="256" name="Freeform: Shape 255">
              <a:extLst>
                <a:ext uri="{FF2B5EF4-FFF2-40B4-BE49-F238E27FC236}">
                  <a16:creationId xmlns="" xmlns:a16="http://schemas.microsoft.com/office/drawing/2014/main" id="{FE8FFFC2-0D94-4D94-9F0F-57D32B714982}"/>
                </a:ext>
              </a:extLst>
            </p:cNvPr>
            <p:cNvSpPr/>
            <p:nvPr/>
          </p:nvSpPr>
          <p:spPr>
            <a:xfrm rot="16200000" flipH="1">
              <a:off x="2571764" y="2937047"/>
              <a:ext cx="2494230" cy="879491"/>
            </a:xfrm>
            <a:custGeom>
              <a:avLst/>
              <a:gdLst>
                <a:gd name="connsiteX0" fmla="*/ 0 w 2494230"/>
                <a:gd name="connsiteY0" fmla="*/ 879491 h 879491"/>
                <a:gd name="connsiteX1" fmla="*/ 2494230 w 2494230"/>
                <a:gd name="connsiteY1" fmla="*/ 879490 h 879491"/>
                <a:gd name="connsiteX2" fmla="*/ 1221724 w 2494230"/>
                <a:gd name="connsiteY2" fmla="*/ 0 h 879491"/>
                <a:gd name="connsiteX3" fmla="*/ 0 w 2494230"/>
                <a:gd name="connsiteY3" fmla="*/ 879491 h 879491"/>
                <a:gd name="connsiteX4" fmla="*/ 664028 w 2494230"/>
                <a:gd name="connsiteY4" fmla="*/ 650774 h 879491"/>
                <a:gd name="connsiteX5" fmla="*/ 1213419 w 2494230"/>
                <a:gd name="connsiteY5" fmla="*/ 267998 h 879491"/>
                <a:gd name="connsiteX6" fmla="*/ 1785647 w 2494230"/>
                <a:gd name="connsiteY6" fmla="*/ 650773 h 879491"/>
                <a:gd name="connsiteX7" fmla="*/ 664028 w 2494230"/>
                <a:gd name="connsiteY7" fmla="*/ 650774 h 879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94230" h="879491">
                  <a:moveTo>
                    <a:pt x="0" y="879491"/>
                  </a:moveTo>
                  <a:lnTo>
                    <a:pt x="2494230" y="879490"/>
                  </a:lnTo>
                  <a:lnTo>
                    <a:pt x="1221724" y="0"/>
                  </a:lnTo>
                  <a:lnTo>
                    <a:pt x="0" y="879491"/>
                  </a:lnTo>
                  <a:close/>
                  <a:moveTo>
                    <a:pt x="664028" y="650774"/>
                  </a:moveTo>
                  <a:lnTo>
                    <a:pt x="1213419" y="267998"/>
                  </a:lnTo>
                  <a:lnTo>
                    <a:pt x="1785647" y="650773"/>
                  </a:lnTo>
                  <a:lnTo>
                    <a:pt x="664028" y="650774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="" xmlns:a16="http://schemas.microsoft.com/office/drawing/2014/main" id="{41EA7C2A-011C-425F-889D-11BCB674DC4D}"/>
                </a:ext>
              </a:extLst>
            </p:cNvPr>
            <p:cNvSpPr/>
            <p:nvPr/>
          </p:nvSpPr>
          <p:spPr>
            <a:xfrm rot="5400000">
              <a:off x="3877830" y="2932468"/>
              <a:ext cx="2494230" cy="879491"/>
            </a:xfrm>
            <a:custGeom>
              <a:avLst/>
              <a:gdLst>
                <a:gd name="connsiteX0" fmla="*/ 0 w 2494230"/>
                <a:gd name="connsiteY0" fmla="*/ 879491 h 879491"/>
                <a:gd name="connsiteX1" fmla="*/ 2494230 w 2494230"/>
                <a:gd name="connsiteY1" fmla="*/ 879490 h 879491"/>
                <a:gd name="connsiteX2" fmla="*/ 1221724 w 2494230"/>
                <a:gd name="connsiteY2" fmla="*/ 0 h 879491"/>
                <a:gd name="connsiteX3" fmla="*/ 0 w 2494230"/>
                <a:gd name="connsiteY3" fmla="*/ 879491 h 879491"/>
                <a:gd name="connsiteX4" fmla="*/ 664028 w 2494230"/>
                <a:gd name="connsiteY4" fmla="*/ 650774 h 879491"/>
                <a:gd name="connsiteX5" fmla="*/ 1213419 w 2494230"/>
                <a:gd name="connsiteY5" fmla="*/ 267998 h 879491"/>
                <a:gd name="connsiteX6" fmla="*/ 1785647 w 2494230"/>
                <a:gd name="connsiteY6" fmla="*/ 650773 h 879491"/>
                <a:gd name="connsiteX7" fmla="*/ 664028 w 2494230"/>
                <a:gd name="connsiteY7" fmla="*/ 650774 h 879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94230" h="879491">
                  <a:moveTo>
                    <a:pt x="0" y="879491"/>
                  </a:moveTo>
                  <a:lnTo>
                    <a:pt x="2494230" y="879490"/>
                  </a:lnTo>
                  <a:lnTo>
                    <a:pt x="1221724" y="0"/>
                  </a:lnTo>
                  <a:lnTo>
                    <a:pt x="0" y="879491"/>
                  </a:lnTo>
                  <a:close/>
                  <a:moveTo>
                    <a:pt x="664028" y="650774"/>
                  </a:moveTo>
                  <a:lnTo>
                    <a:pt x="1213419" y="267998"/>
                  </a:lnTo>
                  <a:lnTo>
                    <a:pt x="1785647" y="650773"/>
                  </a:lnTo>
                  <a:lnTo>
                    <a:pt x="664028" y="650774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="" xmlns:a16="http://schemas.microsoft.com/office/drawing/2014/main" id="{8908D255-DBE8-4C1D-A858-7BA7B4B9D67C}"/>
                </a:ext>
              </a:extLst>
            </p:cNvPr>
            <p:cNvSpPr/>
            <p:nvPr/>
          </p:nvSpPr>
          <p:spPr>
            <a:xfrm>
              <a:off x="1737297" y="-382372"/>
              <a:ext cx="4191062" cy="7471425"/>
            </a:xfrm>
            <a:custGeom>
              <a:avLst/>
              <a:gdLst>
                <a:gd name="connsiteX0" fmla="*/ 1267725 w 4191062"/>
                <a:gd name="connsiteY0" fmla="*/ 0 h 7471425"/>
                <a:gd name="connsiteX1" fmla="*/ 4182375 w 4191062"/>
                <a:gd name="connsiteY1" fmla="*/ 0 h 7471425"/>
                <a:gd name="connsiteX2" fmla="*/ 2868732 w 4191062"/>
                <a:gd name="connsiteY2" fmla="*/ 1578661 h 7471425"/>
                <a:gd name="connsiteX3" fmla="*/ 3001310 w 4191062"/>
                <a:gd name="connsiteY3" fmla="*/ 1747697 h 7471425"/>
                <a:gd name="connsiteX4" fmla="*/ 3976629 w 4191062"/>
                <a:gd name="connsiteY4" fmla="*/ 591936 h 7471425"/>
                <a:gd name="connsiteX5" fmla="*/ 3976629 w 4191062"/>
                <a:gd name="connsiteY5" fmla="*/ 1016218 h 7471425"/>
                <a:gd name="connsiteX6" fmla="*/ 3173782 w 4191062"/>
                <a:gd name="connsiteY6" fmla="*/ 1967600 h 7471425"/>
                <a:gd name="connsiteX7" fmla="*/ 3303553 w 4191062"/>
                <a:gd name="connsiteY7" fmla="*/ 2133057 h 7471425"/>
                <a:gd name="connsiteX8" fmla="*/ 3976629 w 4191062"/>
                <a:gd name="connsiteY8" fmla="*/ 1324396 h 7471425"/>
                <a:gd name="connsiteX9" fmla="*/ 3976629 w 4191062"/>
                <a:gd name="connsiteY9" fmla="*/ 1805160 h 7471425"/>
                <a:gd name="connsiteX10" fmla="*/ 3497688 w 4191062"/>
                <a:gd name="connsiteY10" fmla="*/ 2380579 h 7471425"/>
                <a:gd name="connsiteX11" fmla="*/ 3598891 w 4191062"/>
                <a:gd name="connsiteY11" fmla="*/ 2509613 h 7471425"/>
                <a:gd name="connsiteX12" fmla="*/ 3976629 w 4191062"/>
                <a:gd name="connsiteY12" fmla="*/ 2056297 h 7471425"/>
                <a:gd name="connsiteX13" fmla="*/ 3976629 w 4191062"/>
                <a:gd name="connsiteY13" fmla="*/ 2545640 h 7471425"/>
                <a:gd name="connsiteX14" fmla="*/ 3796599 w 4191062"/>
                <a:gd name="connsiteY14" fmla="*/ 2761690 h 7471425"/>
                <a:gd name="connsiteX15" fmla="*/ 3950761 w 4191062"/>
                <a:gd name="connsiteY15" fmla="*/ 2958247 h 7471425"/>
                <a:gd name="connsiteX16" fmla="*/ 3976629 w 4191062"/>
                <a:gd name="connsiteY16" fmla="*/ 2931158 h 7471425"/>
                <a:gd name="connsiteX17" fmla="*/ 3976629 w 4191062"/>
                <a:gd name="connsiteY17" fmla="*/ 3622101 h 7471425"/>
                <a:gd name="connsiteX18" fmla="*/ 2708228 w 4191062"/>
                <a:gd name="connsiteY18" fmla="*/ 1925442 h 7471425"/>
                <a:gd name="connsiteX19" fmla="*/ 1336628 w 4191062"/>
                <a:gd name="connsiteY19" fmla="*/ 3760145 h 7471425"/>
                <a:gd name="connsiteX20" fmla="*/ 2708229 w 4191062"/>
                <a:gd name="connsiteY20" fmla="*/ 5594848 h 7471425"/>
                <a:gd name="connsiteX21" fmla="*/ 3976629 w 4191062"/>
                <a:gd name="connsiteY21" fmla="*/ 3898189 h 7471425"/>
                <a:gd name="connsiteX22" fmla="*/ 3976629 w 4191062"/>
                <a:gd name="connsiteY22" fmla="*/ 4632513 h 7471425"/>
                <a:gd name="connsiteX23" fmla="*/ 3907425 w 4191062"/>
                <a:gd name="connsiteY23" fmla="*/ 4560042 h 7471425"/>
                <a:gd name="connsiteX24" fmla="*/ 3766999 w 4191062"/>
                <a:gd name="connsiteY24" fmla="*/ 4739085 h 7471425"/>
                <a:gd name="connsiteX25" fmla="*/ 3976629 w 4191062"/>
                <a:gd name="connsiteY25" fmla="*/ 4990658 h 7471425"/>
                <a:gd name="connsiteX26" fmla="*/ 3976629 w 4191062"/>
                <a:gd name="connsiteY26" fmla="*/ 5386557 h 7471425"/>
                <a:gd name="connsiteX27" fmla="*/ 3607045 w 4191062"/>
                <a:gd name="connsiteY27" fmla="*/ 4943026 h 7471425"/>
                <a:gd name="connsiteX28" fmla="*/ 3466996 w 4191062"/>
                <a:gd name="connsiteY28" fmla="*/ 5121588 h 7471425"/>
                <a:gd name="connsiteX29" fmla="*/ 3976629 w 4191062"/>
                <a:gd name="connsiteY29" fmla="*/ 5733882 h 7471425"/>
                <a:gd name="connsiteX30" fmla="*/ 3976629 w 4191062"/>
                <a:gd name="connsiteY30" fmla="*/ 6130046 h 7471425"/>
                <a:gd name="connsiteX31" fmla="*/ 3307023 w 4191062"/>
                <a:gd name="connsiteY31" fmla="*/ 5325555 h 7471425"/>
                <a:gd name="connsiteX32" fmla="*/ 3147373 w 4191062"/>
                <a:gd name="connsiteY32" fmla="*/ 5529108 h 7471425"/>
                <a:gd name="connsiteX33" fmla="*/ 3976629 w 4191062"/>
                <a:gd name="connsiteY33" fmla="*/ 6511784 h 7471425"/>
                <a:gd name="connsiteX34" fmla="*/ 3976629 w 4191062"/>
                <a:gd name="connsiteY34" fmla="*/ 6904758 h 7471425"/>
                <a:gd name="connsiteX35" fmla="*/ 2987628 w 4191062"/>
                <a:gd name="connsiteY35" fmla="*/ 5732783 h 7471425"/>
                <a:gd name="connsiteX36" fmla="*/ 2869560 w 4191062"/>
                <a:gd name="connsiteY36" fmla="*/ 5883319 h 7471425"/>
                <a:gd name="connsiteX37" fmla="*/ 3976629 w 4191062"/>
                <a:gd name="connsiteY37" fmla="*/ 7213732 h 7471425"/>
                <a:gd name="connsiteX38" fmla="*/ 3976629 w 4191062"/>
                <a:gd name="connsiteY38" fmla="*/ 7450494 h 7471425"/>
                <a:gd name="connsiteX39" fmla="*/ 4173645 w 4191062"/>
                <a:gd name="connsiteY39" fmla="*/ 7450494 h 7471425"/>
                <a:gd name="connsiteX40" fmla="*/ 4191062 w 4191062"/>
                <a:gd name="connsiteY40" fmla="*/ 7471425 h 7471425"/>
                <a:gd name="connsiteX41" fmla="*/ 1276412 w 4191062"/>
                <a:gd name="connsiteY41" fmla="*/ 7471425 h 7471425"/>
                <a:gd name="connsiteX42" fmla="*/ 2592469 w 4191062"/>
                <a:gd name="connsiteY42" fmla="*/ 5889864 h 7471425"/>
                <a:gd name="connsiteX43" fmla="*/ 2469384 w 4191062"/>
                <a:gd name="connsiteY43" fmla="*/ 5732932 h 7471425"/>
                <a:gd name="connsiteX44" fmla="*/ 1298376 w 4191062"/>
                <a:gd name="connsiteY44" fmla="*/ 7120585 h 7471425"/>
                <a:gd name="connsiteX45" fmla="*/ 1087761 w 4191062"/>
                <a:gd name="connsiteY45" fmla="*/ 6942852 h 7471425"/>
                <a:gd name="connsiteX46" fmla="*/ 2295680 w 4191062"/>
                <a:gd name="connsiteY46" fmla="*/ 5511459 h 7471425"/>
                <a:gd name="connsiteX47" fmla="*/ 2171436 w 4191062"/>
                <a:gd name="connsiteY47" fmla="*/ 5353049 h 7471425"/>
                <a:gd name="connsiteX48" fmla="*/ 1028662 w 4191062"/>
                <a:gd name="connsiteY48" fmla="*/ 6726023 h 7471425"/>
                <a:gd name="connsiteX49" fmla="*/ 801935 w 4191062"/>
                <a:gd name="connsiteY49" fmla="*/ 6537310 h 7471425"/>
                <a:gd name="connsiteX50" fmla="*/ 1985237 w 4191062"/>
                <a:gd name="connsiteY50" fmla="*/ 5115644 h 7471425"/>
                <a:gd name="connsiteX51" fmla="*/ 1871685 w 4191062"/>
                <a:gd name="connsiteY51" fmla="*/ 4970866 h 7471425"/>
                <a:gd name="connsiteX52" fmla="*/ 775184 w 4191062"/>
                <a:gd name="connsiteY52" fmla="*/ 6286756 h 7471425"/>
                <a:gd name="connsiteX53" fmla="*/ 541090 w 4191062"/>
                <a:gd name="connsiteY53" fmla="*/ 6091691 h 7471425"/>
                <a:gd name="connsiteX54" fmla="*/ 1679370 w 4191062"/>
                <a:gd name="connsiteY54" fmla="*/ 4725664 h 7471425"/>
                <a:gd name="connsiteX55" fmla="*/ 1558890 w 4191062"/>
                <a:gd name="connsiteY55" fmla="*/ 4572053 h 7471425"/>
                <a:gd name="connsiteX56" fmla="*/ 365362 w 4191062"/>
                <a:gd name="connsiteY56" fmla="*/ 5821918 h 7471425"/>
                <a:gd name="connsiteX57" fmla="*/ 0 w 4191062"/>
                <a:gd name="connsiteY57" fmla="*/ 5473023 h 7471425"/>
                <a:gd name="connsiteX58" fmla="*/ 1243886 w 4191062"/>
                <a:gd name="connsiteY58" fmla="*/ 4170421 h 7471425"/>
                <a:gd name="connsiteX59" fmla="*/ 899647 w 4191062"/>
                <a:gd name="connsiteY59" fmla="*/ 3731518 h 7471425"/>
                <a:gd name="connsiteX60" fmla="*/ 1260527 w 4191062"/>
                <a:gd name="connsiteY60" fmla="*/ 3271397 h 7471425"/>
                <a:gd name="connsiteX61" fmla="*/ 79154 w 4191062"/>
                <a:gd name="connsiteY61" fmla="*/ 1850000 h 7471425"/>
                <a:gd name="connsiteX62" fmla="*/ 455350 w 4191062"/>
                <a:gd name="connsiteY62" fmla="*/ 1537328 h 7471425"/>
                <a:gd name="connsiteX63" fmla="*/ 1569345 w 4191062"/>
                <a:gd name="connsiteY63" fmla="*/ 2877653 h 7471425"/>
                <a:gd name="connsiteX64" fmla="*/ 1677693 w 4191062"/>
                <a:gd name="connsiteY64" fmla="*/ 2739510 h 7471425"/>
                <a:gd name="connsiteX65" fmla="*/ 510850 w 4191062"/>
                <a:gd name="connsiteY65" fmla="*/ 1335598 h 7471425"/>
                <a:gd name="connsiteX66" fmla="*/ 723017 w 4191062"/>
                <a:gd name="connsiteY66" fmla="*/ 1159258 h 7471425"/>
                <a:gd name="connsiteX67" fmla="*/ 1851859 w 4191062"/>
                <a:gd name="connsiteY67" fmla="*/ 2517448 h 7471425"/>
                <a:gd name="connsiteX68" fmla="*/ 1975756 w 4191062"/>
                <a:gd name="connsiteY68" fmla="*/ 2359481 h 7471425"/>
                <a:gd name="connsiteX69" fmla="*/ 776423 w 4191062"/>
                <a:gd name="connsiteY69" fmla="*/ 916478 h 7471425"/>
                <a:gd name="connsiteX70" fmla="*/ 998338 w 4191062"/>
                <a:gd name="connsiteY70" fmla="*/ 732036 h 7471425"/>
                <a:gd name="connsiteX71" fmla="*/ 2157924 w 4191062"/>
                <a:gd name="connsiteY71" fmla="*/ 2127216 h 7471425"/>
                <a:gd name="connsiteX72" fmla="*/ 2287963 w 4191062"/>
                <a:gd name="connsiteY72" fmla="*/ 1961416 h 7471425"/>
                <a:gd name="connsiteX73" fmla="*/ 1110885 w 4191062"/>
                <a:gd name="connsiteY73" fmla="*/ 545191 h 7471425"/>
                <a:gd name="connsiteX74" fmla="*/ 1315246 w 4191062"/>
                <a:gd name="connsiteY74" fmla="*/ 375339 h 7471425"/>
                <a:gd name="connsiteX75" fmla="*/ 2455720 w 4191062"/>
                <a:gd name="connsiteY75" fmla="*/ 1747525 h 7471425"/>
                <a:gd name="connsiteX76" fmla="*/ 2584866 w 4191062"/>
                <a:gd name="connsiteY76" fmla="*/ 1582864 h 7471425"/>
                <a:gd name="connsiteX77" fmla="*/ 1267725 w 4191062"/>
                <a:gd name="connsiteY77" fmla="*/ 0 h 7471425"/>
                <a:gd name="connsiteX78" fmla="*/ 2484239 w 4191062"/>
                <a:gd name="connsiteY78" fmla="*/ 433754 h 7471425"/>
                <a:gd name="connsiteX79" fmla="*/ 2288659 w 4191062"/>
                <a:gd name="connsiteY79" fmla="*/ 632877 h 7471425"/>
                <a:gd name="connsiteX80" fmla="*/ 2484239 w 4191062"/>
                <a:gd name="connsiteY80" fmla="*/ 832000 h 7471425"/>
                <a:gd name="connsiteX81" fmla="*/ 2679819 w 4191062"/>
                <a:gd name="connsiteY81" fmla="*/ 632877 h 7471425"/>
                <a:gd name="connsiteX82" fmla="*/ 2484239 w 4191062"/>
                <a:gd name="connsiteY82" fmla="*/ 433754 h 7471425"/>
                <a:gd name="connsiteX83" fmla="*/ 3015358 w 4191062"/>
                <a:gd name="connsiteY83" fmla="*/ 433754 h 7471425"/>
                <a:gd name="connsiteX84" fmla="*/ 2819778 w 4191062"/>
                <a:gd name="connsiteY84" fmla="*/ 632877 h 7471425"/>
                <a:gd name="connsiteX85" fmla="*/ 3015358 w 4191062"/>
                <a:gd name="connsiteY85" fmla="*/ 832000 h 7471425"/>
                <a:gd name="connsiteX86" fmla="*/ 3210938 w 4191062"/>
                <a:gd name="connsiteY86" fmla="*/ 632877 h 7471425"/>
                <a:gd name="connsiteX87" fmla="*/ 3015358 w 4191062"/>
                <a:gd name="connsiteY87" fmla="*/ 433754 h 7471425"/>
                <a:gd name="connsiteX88" fmla="*/ 2379406 w 4191062"/>
                <a:gd name="connsiteY88" fmla="*/ 978450 h 7471425"/>
                <a:gd name="connsiteX89" fmla="*/ 2733737 w 4191062"/>
                <a:gd name="connsiteY89" fmla="*/ 1431839 h 7471425"/>
                <a:gd name="connsiteX90" fmla="*/ 3088067 w 4191062"/>
                <a:gd name="connsiteY90" fmla="*/ 978450 h 7471425"/>
                <a:gd name="connsiteX91" fmla="*/ 2379406 w 4191062"/>
                <a:gd name="connsiteY91" fmla="*/ 978450 h 7471425"/>
                <a:gd name="connsiteX92" fmla="*/ 2733737 w 4191062"/>
                <a:gd name="connsiteY92" fmla="*/ 6086490 h 7471425"/>
                <a:gd name="connsiteX93" fmla="*/ 2379406 w 4191062"/>
                <a:gd name="connsiteY93" fmla="*/ 6539879 h 7471425"/>
                <a:gd name="connsiteX94" fmla="*/ 3088067 w 4191062"/>
                <a:gd name="connsiteY94" fmla="*/ 6539879 h 7471425"/>
                <a:gd name="connsiteX95" fmla="*/ 2733737 w 4191062"/>
                <a:gd name="connsiteY95" fmla="*/ 6086490 h 7471425"/>
                <a:gd name="connsiteX96" fmla="*/ 2484239 w 4191062"/>
                <a:gd name="connsiteY96" fmla="*/ 6635631 h 7471425"/>
                <a:gd name="connsiteX97" fmla="*/ 2288659 w 4191062"/>
                <a:gd name="connsiteY97" fmla="*/ 6834754 h 7471425"/>
                <a:gd name="connsiteX98" fmla="*/ 2484239 w 4191062"/>
                <a:gd name="connsiteY98" fmla="*/ 7033877 h 7471425"/>
                <a:gd name="connsiteX99" fmla="*/ 2679819 w 4191062"/>
                <a:gd name="connsiteY99" fmla="*/ 6834754 h 7471425"/>
                <a:gd name="connsiteX100" fmla="*/ 2484239 w 4191062"/>
                <a:gd name="connsiteY100" fmla="*/ 6635631 h 7471425"/>
                <a:gd name="connsiteX101" fmla="*/ 3015358 w 4191062"/>
                <a:gd name="connsiteY101" fmla="*/ 6635631 h 7471425"/>
                <a:gd name="connsiteX102" fmla="*/ 2819778 w 4191062"/>
                <a:gd name="connsiteY102" fmla="*/ 6834754 h 7471425"/>
                <a:gd name="connsiteX103" fmla="*/ 3015358 w 4191062"/>
                <a:gd name="connsiteY103" fmla="*/ 7033877 h 7471425"/>
                <a:gd name="connsiteX104" fmla="*/ 3210938 w 4191062"/>
                <a:gd name="connsiteY104" fmla="*/ 6834754 h 7471425"/>
                <a:gd name="connsiteX105" fmla="*/ 3015358 w 4191062"/>
                <a:gd name="connsiteY105" fmla="*/ 6635631 h 7471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</a:cxnLst>
              <a:rect l="l" t="t" r="r" b="b"/>
              <a:pathLst>
                <a:path w="4191062" h="7471425">
                  <a:moveTo>
                    <a:pt x="1267725" y="0"/>
                  </a:moveTo>
                  <a:lnTo>
                    <a:pt x="4182375" y="0"/>
                  </a:lnTo>
                  <a:lnTo>
                    <a:pt x="2868732" y="1578661"/>
                  </a:lnTo>
                  <a:lnTo>
                    <a:pt x="3001310" y="1747697"/>
                  </a:lnTo>
                  <a:lnTo>
                    <a:pt x="3976629" y="591936"/>
                  </a:lnTo>
                  <a:lnTo>
                    <a:pt x="3976629" y="1016218"/>
                  </a:lnTo>
                  <a:lnTo>
                    <a:pt x="3173782" y="1967600"/>
                  </a:lnTo>
                  <a:lnTo>
                    <a:pt x="3303553" y="2133057"/>
                  </a:lnTo>
                  <a:lnTo>
                    <a:pt x="3976629" y="1324396"/>
                  </a:lnTo>
                  <a:lnTo>
                    <a:pt x="3976629" y="1805160"/>
                  </a:lnTo>
                  <a:lnTo>
                    <a:pt x="3497688" y="2380579"/>
                  </a:lnTo>
                  <a:lnTo>
                    <a:pt x="3598891" y="2509613"/>
                  </a:lnTo>
                  <a:lnTo>
                    <a:pt x="3976629" y="2056297"/>
                  </a:lnTo>
                  <a:lnTo>
                    <a:pt x="3976629" y="2545640"/>
                  </a:lnTo>
                  <a:lnTo>
                    <a:pt x="3796599" y="2761690"/>
                  </a:lnTo>
                  <a:lnTo>
                    <a:pt x="3950761" y="2958247"/>
                  </a:lnTo>
                  <a:lnTo>
                    <a:pt x="3976629" y="2931158"/>
                  </a:lnTo>
                  <a:lnTo>
                    <a:pt x="3976629" y="3622101"/>
                  </a:lnTo>
                  <a:lnTo>
                    <a:pt x="2708228" y="1925442"/>
                  </a:lnTo>
                  <a:lnTo>
                    <a:pt x="1336628" y="3760145"/>
                  </a:lnTo>
                  <a:lnTo>
                    <a:pt x="2708229" y="5594848"/>
                  </a:lnTo>
                  <a:lnTo>
                    <a:pt x="3976629" y="3898189"/>
                  </a:lnTo>
                  <a:lnTo>
                    <a:pt x="3976629" y="4632513"/>
                  </a:lnTo>
                  <a:lnTo>
                    <a:pt x="3907425" y="4560042"/>
                  </a:lnTo>
                  <a:lnTo>
                    <a:pt x="3766999" y="4739085"/>
                  </a:lnTo>
                  <a:lnTo>
                    <a:pt x="3976629" y="4990658"/>
                  </a:lnTo>
                  <a:lnTo>
                    <a:pt x="3976629" y="5386557"/>
                  </a:lnTo>
                  <a:lnTo>
                    <a:pt x="3607045" y="4943026"/>
                  </a:lnTo>
                  <a:lnTo>
                    <a:pt x="3466996" y="5121588"/>
                  </a:lnTo>
                  <a:lnTo>
                    <a:pt x="3976629" y="5733882"/>
                  </a:lnTo>
                  <a:lnTo>
                    <a:pt x="3976629" y="6130046"/>
                  </a:lnTo>
                  <a:lnTo>
                    <a:pt x="3307023" y="5325555"/>
                  </a:lnTo>
                  <a:lnTo>
                    <a:pt x="3147373" y="5529108"/>
                  </a:lnTo>
                  <a:lnTo>
                    <a:pt x="3976629" y="6511784"/>
                  </a:lnTo>
                  <a:lnTo>
                    <a:pt x="3976629" y="6904758"/>
                  </a:lnTo>
                  <a:lnTo>
                    <a:pt x="2987628" y="5732783"/>
                  </a:lnTo>
                  <a:lnTo>
                    <a:pt x="2869560" y="5883319"/>
                  </a:lnTo>
                  <a:lnTo>
                    <a:pt x="3976629" y="7213732"/>
                  </a:lnTo>
                  <a:lnTo>
                    <a:pt x="3976629" y="7450494"/>
                  </a:lnTo>
                  <a:lnTo>
                    <a:pt x="4173645" y="7450494"/>
                  </a:lnTo>
                  <a:lnTo>
                    <a:pt x="4191062" y="7471425"/>
                  </a:lnTo>
                  <a:lnTo>
                    <a:pt x="1276412" y="7471425"/>
                  </a:lnTo>
                  <a:lnTo>
                    <a:pt x="2592469" y="5889864"/>
                  </a:lnTo>
                  <a:lnTo>
                    <a:pt x="2469384" y="5732932"/>
                  </a:lnTo>
                  <a:lnTo>
                    <a:pt x="1298376" y="7120585"/>
                  </a:lnTo>
                  <a:lnTo>
                    <a:pt x="1087761" y="6942852"/>
                  </a:lnTo>
                  <a:lnTo>
                    <a:pt x="2295680" y="5511459"/>
                  </a:lnTo>
                  <a:lnTo>
                    <a:pt x="2171436" y="5353049"/>
                  </a:lnTo>
                  <a:lnTo>
                    <a:pt x="1028662" y="6726023"/>
                  </a:lnTo>
                  <a:lnTo>
                    <a:pt x="801935" y="6537310"/>
                  </a:lnTo>
                  <a:lnTo>
                    <a:pt x="1985237" y="5115644"/>
                  </a:lnTo>
                  <a:lnTo>
                    <a:pt x="1871685" y="4970866"/>
                  </a:lnTo>
                  <a:lnTo>
                    <a:pt x="775184" y="6286756"/>
                  </a:lnTo>
                  <a:lnTo>
                    <a:pt x="541090" y="6091691"/>
                  </a:lnTo>
                  <a:lnTo>
                    <a:pt x="1679370" y="4725664"/>
                  </a:lnTo>
                  <a:lnTo>
                    <a:pt x="1558890" y="4572053"/>
                  </a:lnTo>
                  <a:lnTo>
                    <a:pt x="365362" y="5821918"/>
                  </a:lnTo>
                  <a:lnTo>
                    <a:pt x="0" y="5473023"/>
                  </a:lnTo>
                  <a:lnTo>
                    <a:pt x="1243886" y="4170421"/>
                  </a:lnTo>
                  <a:lnTo>
                    <a:pt x="899647" y="3731518"/>
                  </a:lnTo>
                  <a:lnTo>
                    <a:pt x="1260527" y="3271397"/>
                  </a:lnTo>
                  <a:lnTo>
                    <a:pt x="79154" y="1850000"/>
                  </a:lnTo>
                  <a:lnTo>
                    <a:pt x="455350" y="1537328"/>
                  </a:lnTo>
                  <a:lnTo>
                    <a:pt x="1569345" y="2877653"/>
                  </a:lnTo>
                  <a:lnTo>
                    <a:pt x="1677693" y="2739510"/>
                  </a:lnTo>
                  <a:lnTo>
                    <a:pt x="510850" y="1335598"/>
                  </a:lnTo>
                  <a:lnTo>
                    <a:pt x="723017" y="1159258"/>
                  </a:lnTo>
                  <a:lnTo>
                    <a:pt x="1851859" y="2517448"/>
                  </a:lnTo>
                  <a:lnTo>
                    <a:pt x="1975756" y="2359481"/>
                  </a:lnTo>
                  <a:lnTo>
                    <a:pt x="776423" y="916478"/>
                  </a:lnTo>
                  <a:lnTo>
                    <a:pt x="998338" y="732036"/>
                  </a:lnTo>
                  <a:lnTo>
                    <a:pt x="2157924" y="2127216"/>
                  </a:lnTo>
                  <a:lnTo>
                    <a:pt x="2287963" y="1961416"/>
                  </a:lnTo>
                  <a:lnTo>
                    <a:pt x="1110885" y="545191"/>
                  </a:lnTo>
                  <a:lnTo>
                    <a:pt x="1315246" y="375339"/>
                  </a:lnTo>
                  <a:lnTo>
                    <a:pt x="2455720" y="1747525"/>
                  </a:lnTo>
                  <a:lnTo>
                    <a:pt x="2584866" y="1582864"/>
                  </a:lnTo>
                  <a:lnTo>
                    <a:pt x="1267725" y="0"/>
                  </a:lnTo>
                  <a:close/>
                  <a:moveTo>
                    <a:pt x="2484239" y="433754"/>
                  </a:moveTo>
                  <a:cubicBezTo>
                    <a:pt x="2376223" y="433754"/>
                    <a:pt x="2288659" y="522904"/>
                    <a:pt x="2288659" y="632877"/>
                  </a:cubicBezTo>
                  <a:cubicBezTo>
                    <a:pt x="2288659" y="742850"/>
                    <a:pt x="2376223" y="832000"/>
                    <a:pt x="2484239" y="832000"/>
                  </a:cubicBezTo>
                  <a:cubicBezTo>
                    <a:pt x="2592255" y="832000"/>
                    <a:pt x="2679819" y="742850"/>
                    <a:pt x="2679819" y="632877"/>
                  </a:cubicBezTo>
                  <a:cubicBezTo>
                    <a:pt x="2679819" y="522904"/>
                    <a:pt x="2592255" y="433754"/>
                    <a:pt x="2484239" y="433754"/>
                  </a:cubicBezTo>
                  <a:close/>
                  <a:moveTo>
                    <a:pt x="3015358" y="433754"/>
                  </a:moveTo>
                  <a:cubicBezTo>
                    <a:pt x="2907342" y="433754"/>
                    <a:pt x="2819778" y="522904"/>
                    <a:pt x="2819778" y="632877"/>
                  </a:cubicBezTo>
                  <a:cubicBezTo>
                    <a:pt x="2819778" y="742850"/>
                    <a:pt x="2907342" y="832000"/>
                    <a:pt x="3015358" y="832000"/>
                  </a:cubicBezTo>
                  <a:cubicBezTo>
                    <a:pt x="3123374" y="832000"/>
                    <a:pt x="3210938" y="742850"/>
                    <a:pt x="3210938" y="632877"/>
                  </a:cubicBezTo>
                  <a:cubicBezTo>
                    <a:pt x="3210938" y="522904"/>
                    <a:pt x="3123374" y="433754"/>
                    <a:pt x="3015358" y="433754"/>
                  </a:cubicBezTo>
                  <a:close/>
                  <a:moveTo>
                    <a:pt x="2379406" y="978450"/>
                  </a:moveTo>
                  <a:lnTo>
                    <a:pt x="2733737" y="1431839"/>
                  </a:lnTo>
                  <a:lnTo>
                    <a:pt x="3088067" y="978450"/>
                  </a:lnTo>
                  <a:lnTo>
                    <a:pt x="2379406" y="978450"/>
                  </a:lnTo>
                  <a:close/>
                  <a:moveTo>
                    <a:pt x="2733737" y="6086490"/>
                  </a:moveTo>
                  <a:lnTo>
                    <a:pt x="2379406" y="6539879"/>
                  </a:lnTo>
                  <a:lnTo>
                    <a:pt x="3088067" y="6539879"/>
                  </a:lnTo>
                  <a:lnTo>
                    <a:pt x="2733737" y="6086490"/>
                  </a:lnTo>
                  <a:close/>
                  <a:moveTo>
                    <a:pt x="2484239" y="6635631"/>
                  </a:moveTo>
                  <a:cubicBezTo>
                    <a:pt x="2376223" y="6635631"/>
                    <a:pt x="2288659" y="6724781"/>
                    <a:pt x="2288659" y="6834754"/>
                  </a:cubicBezTo>
                  <a:cubicBezTo>
                    <a:pt x="2288659" y="6944727"/>
                    <a:pt x="2376223" y="7033877"/>
                    <a:pt x="2484239" y="7033877"/>
                  </a:cubicBezTo>
                  <a:cubicBezTo>
                    <a:pt x="2592255" y="7033877"/>
                    <a:pt x="2679819" y="6944727"/>
                    <a:pt x="2679819" y="6834754"/>
                  </a:cubicBezTo>
                  <a:cubicBezTo>
                    <a:pt x="2679819" y="6724781"/>
                    <a:pt x="2592255" y="6635631"/>
                    <a:pt x="2484239" y="6635631"/>
                  </a:cubicBezTo>
                  <a:close/>
                  <a:moveTo>
                    <a:pt x="3015358" y="6635631"/>
                  </a:moveTo>
                  <a:cubicBezTo>
                    <a:pt x="2907342" y="6635631"/>
                    <a:pt x="2819778" y="6724781"/>
                    <a:pt x="2819778" y="6834754"/>
                  </a:cubicBezTo>
                  <a:cubicBezTo>
                    <a:pt x="2819778" y="6944727"/>
                    <a:pt x="2907342" y="7033877"/>
                    <a:pt x="3015358" y="7033877"/>
                  </a:cubicBezTo>
                  <a:cubicBezTo>
                    <a:pt x="3123374" y="7033877"/>
                    <a:pt x="3210938" y="6944727"/>
                    <a:pt x="3210938" y="6834754"/>
                  </a:cubicBezTo>
                  <a:cubicBezTo>
                    <a:pt x="3210938" y="6724781"/>
                    <a:pt x="3123374" y="6635631"/>
                    <a:pt x="3015358" y="663563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="" xmlns:a16="http://schemas.microsoft.com/office/drawing/2014/main" id="{B99F241E-7E60-4732-958A-43F6CEC119B0}"/>
                </a:ext>
              </a:extLst>
            </p:cNvPr>
            <p:cNvSpPr/>
            <p:nvPr/>
          </p:nvSpPr>
          <p:spPr>
            <a:xfrm rot="5400000">
              <a:off x="7126003" y="3010026"/>
              <a:ext cx="2494230" cy="879491"/>
            </a:xfrm>
            <a:custGeom>
              <a:avLst/>
              <a:gdLst>
                <a:gd name="connsiteX0" fmla="*/ 0 w 2494230"/>
                <a:gd name="connsiteY0" fmla="*/ 879491 h 879491"/>
                <a:gd name="connsiteX1" fmla="*/ 2494230 w 2494230"/>
                <a:gd name="connsiteY1" fmla="*/ 879490 h 879491"/>
                <a:gd name="connsiteX2" fmla="*/ 1221724 w 2494230"/>
                <a:gd name="connsiteY2" fmla="*/ 0 h 879491"/>
                <a:gd name="connsiteX3" fmla="*/ 0 w 2494230"/>
                <a:gd name="connsiteY3" fmla="*/ 879491 h 879491"/>
                <a:gd name="connsiteX4" fmla="*/ 664028 w 2494230"/>
                <a:gd name="connsiteY4" fmla="*/ 650774 h 879491"/>
                <a:gd name="connsiteX5" fmla="*/ 1213419 w 2494230"/>
                <a:gd name="connsiteY5" fmla="*/ 267998 h 879491"/>
                <a:gd name="connsiteX6" fmla="*/ 1785647 w 2494230"/>
                <a:gd name="connsiteY6" fmla="*/ 650773 h 879491"/>
                <a:gd name="connsiteX7" fmla="*/ 664028 w 2494230"/>
                <a:gd name="connsiteY7" fmla="*/ 650774 h 879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94230" h="879491">
                  <a:moveTo>
                    <a:pt x="0" y="879491"/>
                  </a:moveTo>
                  <a:lnTo>
                    <a:pt x="2494230" y="879490"/>
                  </a:lnTo>
                  <a:lnTo>
                    <a:pt x="1221724" y="0"/>
                  </a:lnTo>
                  <a:lnTo>
                    <a:pt x="0" y="879491"/>
                  </a:lnTo>
                  <a:close/>
                  <a:moveTo>
                    <a:pt x="664028" y="650774"/>
                  </a:moveTo>
                  <a:lnTo>
                    <a:pt x="1213419" y="267998"/>
                  </a:lnTo>
                  <a:lnTo>
                    <a:pt x="1785647" y="650773"/>
                  </a:lnTo>
                  <a:lnTo>
                    <a:pt x="664028" y="650774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="" xmlns:a16="http://schemas.microsoft.com/office/drawing/2014/main" id="{69E94268-C61E-470C-8387-9748B6EDDCC4}"/>
                </a:ext>
              </a:extLst>
            </p:cNvPr>
            <p:cNvSpPr/>
            <p:nvPr/>
          </p:nvSpPr>
          <p:spPr>
            <a:xfrm rot="16200000" flipH="1">
              <a:off x="5816440" y="2950456"/>
              <a:ext cx="2494230" cy="879491"/>
            </a:xfrm>
            <a:custGeom>
              <a:avLst/>
              <a:gdLst>
                <a:gd name="connsiteX0" fmla="*/ 0 w 2494230"/>
                <a:gd name="connsiteY0" fmla="*/ 879491 h 879491"/>
                <a:gd name="connsiteX1" fmla="*/ 2494230 w 2494230"/>
                <a:gd name="connsiteY1" fmla="*/ 879490 h 879491"/>
                <a:gd name="connsiteX2" fmla="*/ 1221724 w 2494230"/>
                <a:gd name="connsiteY2" fmla="*/ 0 h 879491"/>
                <a:gd name="connsiteX3" fmla="*/ 0 w 2494230"/>
                <a:gd name="connsiteY3" fmla="*/ 879491 h 879491"/>
                <a:gd name="connsiteX4" fmla="*/ 664028 w 2494230"/>
                <a:gd name="connsiteY4" fmla="*/ 650774 h 879491"/>
                <a:gd name="connsiteX5" fmla="*/ 1213419 w 2494230"/>
                <a:gd name="connsiteY5" fmla="*/ 267998 h 879491"/>
                <a:gd name="connsiteX6" fmla="*/ 1785647 w 2494230"/>
                <a:gd name="connsiteY6" fmla="*/ 650773 h 879491"/>
                <a:gd name="connsiteX7" fmla="*/ 664028 w 2494230"/>
                <a:gd name="connsiteY7" fmla="*/ 650774 h 879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94230" h="879491">
                  <a:moveTo>
                    <a:pt x="0" y="879491"/>
                  </a:moveTo>
                  <a:lnTo>
                    <a:pt x="2494230" y="879490"/>
                  </a:lnTo>
                  <a:lnTo>
                    <a:pt x="1221724" y="0"/>
                  </a:lnTo>
                  <a:lnTo>
                    <a:pt x="0" y="879491"/>
                  </a:lnTo>
                  <a:close/>
                  <a:moveTo>
                    <a:pt x="664028" y="650774"/>
                  </a:moveTo>
                  <a:lnTo>
                    <a:pt x="1213419" y="267998"/>
                  </a:lnTo>
                  <a:lnTo>
                    <a:pt x="1785647" y="650773"/>
                  </a:lnTo>
                  <a:lnTo>
                    <a:pt x="664028" y="650774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="" xmlns:a16="http://schemas.microsoft.com/office/drawing/2014/main" id="{9A65C4C0-923E-41DD-B086-F4D4FF346E5F}"/>
                </a:ext>
              </a:extLst>
            </p:cNvPr>
            <p:cNvSpPr/>
            <p:nvPr/>
          </p:nvSpPr>
          <p:spPr>
            <a:xfrm flipH="1">
              <a:off x="6267916" y="-382372"/>
              <a:ext cx="4191062" cy="7471425"/>
            </a:xfrm>
            <a:custGeom>
              <a:avLst/>
              <a:gdLst>
                <a:gd name="connsiteX0" fmla="*/ 1267725 w 4191062"/>
                <a:gd name="connsiteY0" fmla="*/ 0 h 7471425"/>
                <a:gd name="connsiteX1" fmla="*/ 4182375 w 4191062"/>
                <a:gd name="connsiteY1" fmla="*/ 0 h 7471425"/>
                <a:gd name="connsiteX2" fmla="*/ 2868732 w 4191062"/>
                <a:gd name="connsiteY2" fmla="*/ 1578661 h 7471425"/>
                <a:gd name="connsiteX3" fmla="*/ 3001310 w 4191062"/>
                <a:gd name="connsiteY3" fmla="*/ 1747697 h 7471425"/>
                <a:gd name="connsiteX4" fmla="*/ 3976629 w 4191062"/>
                <a:gd name="connsiteY4" fmla="*/ 591936 h 7471425"/>
                <a:gd name="connsiteX5" fmla="*/ 3976629 w 4191062"/>
                <a:gd name="connsiteY5" fmla="*/ 1016218 h 7471425"/>
                <a:gd name="connsiteX6" fmla="*/ 3173782 w 4191062"/>
                <a:gd name="connsiteY6" fmla="*/ 1967600 h 7471425"/>
                <a:gd name="connsiteX7" fmla="*/ 3303553 w 4191062"/>
                <a:gd name="connsiteY7" fmla="*/ 2133057 h 7471425"/>
                <a:gd name="connsiteX8" fmla="*/ 3976629 w 4191062"/>
                <a:gd name="connsiteY8" fmla="*/ 1324396 h 7471425"/>
                <a:gd name="connsiteX9" fmla="*/ 3976629 w 4191062"/>
                <a:gd name="connsiteY9" fmla="*/ 1805160 h 7471425"/>
                <a:gd name="connsiteX10" fmla="*/ 3497688 w 4191062"/>
                <a:gd name="connsiteY10" fmla="*/ 2380579 h 7471425"/>
                <a:gd name="connsiteX11" fmla="*/ 3598891 w 4191062"/>
                <a:gd name="connsiteY11" fmla="*/ 2509613 h 7471425"/>
                <a:gd name="connsiteX12" fmla="*/ 3976629 w 4191062"/>
                <a:gd name="connsiteY12" fmla="*/ 2056297 h 7471425"/>
                <a:gd name="connsiteX13" fmla="*/ 3976629 w 4191062"/>
                <a:gd name="connsiteY13" fmla="*/ 2545640 h 7471425"/>
                <a:gd name="connsiteX14" fmla="*/ 3796599 w 4191062"/>
                <a:gd name="connsiteY14" fmla="*/ 2761690 h 7471425"/>
                <a:gd name="connsiteX15" fmla="*/ 3950761 w 4191062"/>
                <a:gd name="connsiteY15" fmla="*/ 2958247 h 7471425"/>
                <a:gd name="connsiteX16" fmla="*/ 3976629 w 4191062"/>
                <a:gd name="connsiteY16" fmla="*/ 2931158 h 7471425"/>
                <a:gd name="connsiteX17" fmla="*/ 3976629 w 4191062"/>
                <a:gd name="connsiteY17" fmla="*/ 3622101 h 7471425"/>
                <a:gd name="connsiteX18" fmla="*/ 2708228 w 4191062"/>
                <a:gd name="connsiteY18" fmla="*/ 1925442 h 7471425"/>
                <a:gd name="connsiteX19" fmla="*/ 1336628 w 4191062"/>
                <a:gd name="connsiteY19" fmla="*/ 3760145 h 7471425"/>
                <a:gd name="connsiteX20" fmla="*/ 2708229 w 4191062"/>
                <a:gd name="connsiteY20" fmla="*/ 5594848 h 7471425"/>
                <a:gd name="connsiteX21" fmla="*/ 3976629 w 4191062"/>
                <a:gd name="connsiteY21" fmla="*/ 3898189 h 7471425"/>
                <a:gd name="connsiteX22" fmla="*/ 3976629 w 4191062"/>
                <a:gd name="connsiteY22" fmla="*/ 4632513 h 7471425"/>
                <a:gd name="connsiteX23" fmla="*/ 3907425 w 4191062"/>
                <a:gd name="connsiteY23" fmla="*/ 4560042 h 7471425"/>
                <a:gd name="connsiteX24" fmla="*/ 3766999 w 4191062"/>
                <a:gd name="connsiteY24" fmla="*/ 4739085 h 7471425"/>
                <a:gd name="connsiteX25" fmla="*/ 3976629 w 4191062"/>
                <a:gd name="connsiteY25" fmla="*/ 4990658 h 7471425"/>
                <a:gd name="connsiteX26" fmla="*/ 3976629 w 4191062"/>
                <a:gd name="connsiteY26" fmla="*/ 5386557 h 7471425"/>
                <a:gd name="connsiteX27" fmla="*/ 3607045 w 4191062"/>
                <a:gd name="connsiteY27" fmla="*/ 4943026 h 7471425"/>
                <a:gd name="connsiteX28" fmla="*/ 3466996 w 4191062"/>
                <a:gd name="connsiteY28" fmla="*/ 5121588 h 7471425"/>
                <a:gd name="connsiteX29" fmla="*/ 3976629 w 4191062"/>
                <a:gd name="connsiteY29" fmla="*/ 5733882 h 7471425"/>
                <a:gd name="connsiteX30" fmla="*/ 3976629 w 4191062"/>
                <a:gd name="connsiteY30" fmla="*/ 6130046 h 7471425"/>
                <a:gd name="connsiteX31" fmla="*/ 3307023 w 4191062"/>
                <a:gd name="connsiteY31" fmla="*/ 5325555 h 7471425"/>
                <a:gd name="connsiteX32" fmla="*/ 3147373 w 4191062"/>
                <a:gd name="connsiteY32" fmla="*/ 5529108 h 7471425"/>
                <a:gd name="connsiteX33" fmla="*/ 3976629 w 4191062"/>
                <a:gd name="connsiteY33" fmla="*/ 6511784 h 7471425"/>
                <a:gd name="connsiteX34" fmla="*/ 3976629 w 4191062"/>
                <a:gd name="connsiteY34" fmla="*/ 6904758 h 7471425"/>
                <a:gd name="connsiteX35" fmla="*/ 2987628 w 4191062"/>
                <a:gd name="connsiteY35" fmla="*/ 5732783 h 7471425"/>
                <a:gd name="connsiteX36" fmla="*/ 2869560 w 4191062"/>
                <a:gd name="connsiteY36" fmla="*/ 5883319 h 7471425"/>
                <a:gd name="connsiteX37" fmla="*/ 3976629 w 4191062"/>
                <a:gd name="connsiteY37" fmla="*/ 7213732 h 7471425"/>
                <a:gd name="connsiteX38" fmla="*/ 3976629 w 4191062"/>
                <a:gd name="connsiteY38" fmla="*/ 7450494 h 7471425"/>
                <a:gd name="connsiteX39" fmla="*/ 4173645 w 4191062"/>
                <a:gd name="connsiteY39" fmla="*/ 7450494 h 7471425"/>
                <a:gd name="connsiteX40" fmla="*/ 4191062 w 4191062"/>
                <a:gd name="connsiteY40" fmla="*/ 7471425 h 7471425"/>
                <a:gd name="connsiteX41" fmla="*/ 1276412 w 4191062"/>
                <a:gd name="connsiteY41" fmla="*/ 7471425 h 7471425"/>
                <a:gd name="connsiteX42" fmla="*/ 2592469 w 4191062"/>
                <a:gd name="connsiteY42" fmla="*/ 5889864 h 7471425"/>
                <a:gd name="connsiteX43" fmla="*/ 2469384 w 4191062"/>
                <a:gd name="connsiteY43" fmla="*/ 5732932 h 7471425"/>
                <a:gd name="connsiteX44" fmla="*/ 1298376 w 4191062"/>
                <a:gd name="connsiteY44" fmla="*/ 7120585 h 7471425"/>
                <a:gd name="connsiteX45" fmla="*/ 1087761 w 4191062"/>
                <a:gd name="connsiteY45" fmla="*/ 6942852 h 7471425"/>
                <a:gd name="connsiteX46" fmla="*/ 2295680 w 4191062"/>
                <a:gd name="connsiteY46" fmla="*/ 5511459 h 7471425"/>
                <a:gd name="connsiteX47" fmla="*/ 2171436 w 4191062"/>
                <a:gd name="connsiteY47" fmla="*/ 5353049 h 7471425"/>
                <a:gd name="connsiteX48" fmla="*/ 1028662 w 4191062"/>
                <a:gd name="connsiteY48" fmla="*/ 6726023 h 7471425"/>
                <a:gd name="connsiteX49" fmla="*/ 801935 w 4191062"/>
                <a:gd name="connsiteY49" fmla="*/ 6537310 h 7471425"/>
                <a:gd name="connsiteX50" fmla="*/ 1985237 w 4191062"/>
                <a:gd name="connsiteY50" fmla="*/ 5115644 h 7471425"/>
                <a:gd name="connsiteX51" fmla="*/ 1871685 w 4191062"/>
                <a:gd name="connsiteY51" fmla="*/ 4970866 h 7471425"/>
                <a:gd name="connsiteX52" fmla="*/ 775184 w 4191062"/>
                <a:gd name="connsiteY52" fmla="*/ 6286756 h 7471425"/>
                <a:gd name="connsiteX53" fmla="*/ 541090 w 4191062"/>
                <a:gd name="connsiteY53" fmla="*/ 6091691 h 7471425"/>
                <a:gd name="connsiteX54" fmla="*/ 1679370 w 4191062"/>
                <a:gd name="connsiteY54" fmla="*/ 4725664 h 7471425"/>
                <a:gd name="connsiteX55" fmla="*/ 1558890 w 4191062"/>
                <a:gd name="connsiteY55" fmla="*/ 4572053 h 7471425"/>
                <a:gd name="connsiteX56" fmla="*/ 365362 w 4191062"/>
                <a:gd name="connsiteY56" fmla="*/ 5821918 h 7471425"/>
                <a:gd name="connsiteX57" fmla="*/ 0 w 4191062"/>
                <a:gd name="connsiteY57" fmla="*/ 5473023 h 7471425"/>
                <a:gd name="connsiteX58" fmla="*/ 1243886 w 4191062"/>
                <a:gd name="connsiteY58" fmla="*/ 4170421 h 7471425"/>
                <a:gd name="connsiteX59" fmla="*/ 899647 w 4191062"/>
                <a:gd name="connsiteY59" fmla="*/ 3731518 h 7471425"/>
                <a:gd name="connsiteX60" fmla="*/ 1260527 w 4191062"/>
                <a:gd name="connsiteY60" fmla="*/ 3271397 h 7471425"/>
                <a:gd name="connsiteX61" fmla="*/ 79154 w 4191062"/>
                <a:gd name="connsiteY61" fmla="*/ 1850000 h 7471425"/>
                <a:gd name="connsiteX62" fmla="*/ 455350 w 4191062"/>
                <a:gd name="connsiteY62" fmla="*/ 1537328 h 7471425"/>
                <a:gd name="connsiteX63" fmla="*/ 1569345 w 4191062"/>
                <a:gd name="connsiteY63" fmla="*/ 2877653 h 7471425"/>
                <a:gd name="connsiteX64" fmla="*/ 1677693 w 4191062"/>
                <a:gd name="connsiteY64" fmla="*/ 2739510 h 7471425"/>
                <a:gd name="connsiteX65" fmla="*/ 510850 w 4191062"/>
                <a:gd name="connsiteY65" fmla="*/ 1335598 h 7471425"/>
                <a:gd name="connsiteX66" fmla="*/ 723017 w 4191062"/>
                <a:gd name="connsiteY66" fmla="*/ 1159258 h 7471425"/>
                <a:gd name="connsiteX67" fmla="*/ 1851859 w 4191062"/>
                <a:gd name="connsiteY67" fmla="*/ 2517448 h 7471425"/>
                <a:gd name="connsiteX68" fmla="*/ 1975756 w 4191062"/>
                <a:gd name="connsiteY68" fmla="*/ 2359481 h 7471425"/>
                <a:gd name="connsiteX69" fmla="*/ 776423 w 4191062"/>
                <a:gd name="connsiteY69" fmla="*/ 916478 h 7471425"/>
                <a:gd name="connsiteX70" fmla="*/ 998338 w 4191062"/>
                <a:gd name="connsiteY70" fmla="*/ 732036 h 7471425"/>
                <a:gd name="connsiteX71" fmla="*/ 2157924 w 4191062"/>
                <a:gd name="connsiteY71" fmla="*/ 2127216 h 7471425"/>
                <a:gd name="connsiteX72" fmla="*/ 2287963 w 4191062"/>
                <a:gd name="connsiteY72" fmla="*/ 1961416 h 7471425"/>
                <a:gd name="connsiteX73" fmla="*/ 1110885 w 4191062"/>
                <a:gd name="connsiteY73" fmla="*/ 545191 h 7471425"/>
                <a:gd name="connsiteX74" fmla="*/ 1315246 w 4191062"/>
                <a:gd name="connsiteY74" fmla="*/ 375339 h 7471425"/>
                <a:gd name="connsiteX75" fmla="*/ 2455720 w 4191062"/>
                <a:gd name="connsiteY75" fmla="*/ 1747525 h 7471425"/>
                <a:gd name="connsiteX76" fmla="*/ 2584866 w 4191062"/>
                <a:gd name="connsiteY76" fmla="*/ 1582864 h 7471425"/>
                <a:gd name="connsiteX77" fmla="*/ 1267725 w 4191062"/>
                <a:gd name="connsiteY77" fmla="*/ 0 h 7471425"/>
                <a:gd name="connsiteX78" fmla="*/ 2484239 w 4191062"/>
                <a:gd name="connsiteY78" fmla="*/ 433754 h 7471425"/>
                <a:gd name="connsiteX79" fmla="*/ 2288659 w 4191062"/>
                <a:gd name="connsiteY79" fmla="*/ 632877 h 7471425"/>
                <a:gd name="connsiteX80" fmla="*/ 2484239 w 4191062"/>
                <a:gd name="connsiteY80" fmla="*/ 832000 h 7471425"/>
                <a:gd name="connsiteX81" fmla="*/ 2679819 w 4191062"/>
                <a:gd name="connsiteY81" fmla="*/ 632877 h 7471425"/>
                <a:gd name="connsiteX82" fmla="*/ 2484239 w 4191062"/>
                <a:gd name="connsiteY82" fmla="*/ 433754 h 7471425"/>
                <a:gd name="connsiteX83" fmla="*/ 3015358 w 4191062"/>
                <a:gd name="connsiteY83" fmla="*/ 433754 h 7471425"/>
                <a:gd name="connsiteX84" fmla="*/ 2819778 w 4191062"/>
                <a:gd name="connsiteY84" fmla="*/ 632877 h 7471425"/>
                <a:gd name="connsiteX85" fmla="*/ 3015358 w 4191062"/>
                <a:gd name="connsiteY85" fmla="*/ 832000 h 7471425"/>
                <a:gd name="connsiteX86" fmla="*/ 3210938 w 4191062"/>
                <a:gd name="connsiteY86" fmla="*/ 632877 h 7471425"/>
                <a:gd name="connsiteX87" fmla="*/ 3015358 w 4191062"/>
                <a:gd name="connsiteY87" fmla="*/ 433754 h 7471425"/>
                <a:gd name="connsiteX88" fmla="*/ 2379406 w 4191062"/>
                <a:gd name="connsiteY88" fmla="*/ 978450 h 7471425"/>
                <a:gd name="connsiteX89" fmla="*/ 2733737 w 4191062"/>
                <a:gd name="connsiteY89" fmla="*/ 1431839 h 7471425"/>
                <a:gd name="connsiteX90" fmla="*/ 3088067 w 4191062"/>
                <a:gd name="connsiteY90" fmla="*/ 978450 h 7471425"/>
                <a:gd name="connsiteX91" fmla="*/ 2379406 w 4191062"/>
                <a:gd name="connsiteY91" fmla="*/ 978450 h 7471425"/>
                <a:gd name="connsiteX92" fmla="*/ 2733737 w 4191062"/>
                <a:gd name="connsiteY92" fmla="*/ 6086490 h 7471425"/>
                <a:gd name="connsiteX93" fmla="*/ 2379406 w 4191062"/>
                <a:gd name="connsiteY93" fmla="*/ 6539879 h 7471425"/>
                <a:gd name="connsiteX94" fmla="*/ 3088067 w 4191062"/>
                <a:gd name="connsiteY94" fmla="*/ 6539879 h 7471425"/>
                <a:gd name="connsiteX95" fmla="*/ 2733737 w 4191062"/>
                <a:gd name="connsiteY95" fmla="*/ 6086490 h 7471425"/>
                <a:gd name="connsiteX96" fmla="*/ 2484239 w 4191062"/>
                <a:gd name="connsiteY96" fmla="*/ 6635631 h 7471425"/>
                <a:gd name="connsiteX97" fmla="*/ 2288659 w 4191062"/>
                <a:gd name="connsiteY97" fmla="*/ 6834754 h 7471425"/>
                <a:gd name="connsiteX98" fmla="*/ 2484239 w 4191062"/>
                <a:gd name="connsiteY98" fmla="*/ 7033877 h 7471425"/>
                <a:gd name="connsiteX99" fmla="*/ 2679819 w 4191062"/>
                <a:gd name="connsiteY99" fmla="*/ 6834754 h 7471425"/>
                <a:gd name="connsiteX100" fmla="*/ 2484239 w 4191062"/>
                <a:gd name="connsiteY100" fmla="*/ 6635631 h 7471425"/>
                <a:gd name="connsiteX101" fmla="*/ 3015358 w 4191062"/>
                <a:gd name="connsiteY101" fmla="*/ 6635631 h 7471425"/>
                <a:gd name="connsiteX102" fmla="*/ 2819778 w 4191062"/>
                <a:gd name="connsiteY102" fmla="*/ 6834754 h 7471425"/>
                <a:gd name="connsiteX103" fmla="*/ 3015358 w 4191062"/>
                <a:gd name="connsiteY103" fmla="*/ 7033877 h 7471425"/>
                <a:gd name="connsiteX104" fmla="*/ 3210938 w 4191062"/>
                <a:gd name="connsiteY104" fmla="*/ 6834754 h 7471425"/>
                <a:gd name="connsiteX105" fmla="*/ 3015358 w 4191062"/>
                <a:gd name="connsiteY105" fmla="*/ 6635631 h 7471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</a:cxnLst>
              <a:rect l="l" t="t" r="r" b="b"/>
              <a:pathLst>
                <a:path w="4191062" h="7471425">
                  <a:moveTo>
                    <a:pt x="1267725" y="0"/>
                  </a:moveTo>
                  <a:lnTo>
                    <a:pt x="4182375" y="0"/>
                  </a:lnTo>
                  <a:lnTo>
                    <a:pt x="2868732" y="1578661"/>
                  </a:lnTo>
                  <a:lnTo>
                    <a:pt x="3001310" y="1747697"/>
                  </a:lnTo>
                  <a:lnTo>
                    <a:pt x="3976629" y="591936"/>
                  </a:lnTo>
                  <a:lnTo>
                    <a:pt x="3976629" y="1016218"/>
                  </a:lnTo>
                  <a:lnTo>
                    <a:pt x="3173782" y="1967600"/>
                  </a:lnTo>
                  <a:lnTo>
                    <a:pt x="3303553" y="2133057"/>
                  </a:lnTo>
                  <a:lnTo>
                    <a:pt x="3976629" y="1324396"/>
                  </a:lnTo>
                  <a:lnTo>
                    <a:pt x="3976629" y="1805160"/>
                  </a:lnTo>
                  <a:lnTo>
                    <a:pt x="3497688" y="2380579"/>
                  </a:lnTo>
                  <a:lnTo>
                    <a:pt x="3598891" y="2509613"/>
                  </a:lnTo>
                  <a:lnTo>
                    <a:pt x="3976629" y="2056297"/>
                  </a:lnTo>
                  <a:lnTo>
                    <a:pt x="3976629" y="2545640"/>
                  </a:lnTo>
                  <a:lnTo>
                    <a:pt x="3796599" y="2761690"/>
                  </a:lnTo>
                  <a:lnTo>
                    <a:pt x="3950761" y="2958247"/>
                  </a:lnTo>
                  <a:lnTo>
                    <a:pt x="3976629" y="2931158"/>
                  </a:lnTo>
                  <a:lnTo>
                    <a:pt x="3976629" y="3622101"/>
                  </a:lnTo>
                  <a:lnTo>
                    <a:pt x="2708228" y="1925442"/>
                  </a:lnTo>
                  <a:lnTo>
                    <a:pt x="1336628" y="3760145"/>
                  </a:lnTo>
                  <a:lnTo>
                    <a:pt x="2708229" y="5594848"/>
                  </a:lnTo>
                  <a:lnTo>
                    <a:pt x="3976629" y="3898189"/>
                  </a:lnTo>
                  <a:lnTo>
                    <a:pt x="3976629" y="4632513"/>
                  </a:lnTo>
                  <a:lnTo>
                    <a:pt x="3907425" y="4560042"/>
                  </a:lnTo>
                  <a:lnTo>
                    <a:pt x="3766999" y="4739085"/>
                  </a:lnTo>
                  <a:lnTo>
                    <a:pt x="3976629" y="4990658"/>
                  </a:lnTo>
                  <a:lnTo>
                    <a:pt x="3976629" y="5386557"/>
                  </a:lnTo>
                  <a:lnTo>
                    <a:pt x="3607045" y="4943026"/>
                  </a:lnTo>
                  <a:lnTo>
                    <a:pt x="3466996" y="5121588"/>
                  </a:lnTo>
                  <a:lnTo>
                    <a:pt x="3976629" y="5733882"/>
                  </a:lnTo>
                  <a:lnTo>
                    <a:pt x="3976629" y="6130046"/>
                  </a:lnTo>
                  <a:lnTo>
                    <a:pt x="3307023" y="5325555"/>
                  </a:lnTo>
                  <a:lnTo>
                    <a:pt x="3147373" y="5529108"/>
                  </a:lnTo>
                  <a:lnTo>
                    <a:pt x="3976629" y="6511784"/>
                  </a:lnTo>
                  <a:lnTo>
                    <a:pt x="3976629" y="6904758"/>
                  </a:lnTo>
                  <a:lnTo>
                    <a:pt x="2987628" y="5732783"/>
                  </a:lnTo>
                  <a:lnTo>
                    <a:pt x="2869560" y="5883319"/>
                  </a:lnTo>
                  <a:lnTo>
                    <a:pt x="3976629" y="7213732"/>
                  </a:lnTo>
                  <a:lnTo>
                    <a:pt x="3976629" y="7450494"/>
                  </a:lnTo>
                  <a:lnTo>
                    <a:pt x="4173645" y="7450494"/>
                  </a:lnTo>
                  <a:lnTo>
                    <a:pt x="4191062" y="7471425"/>
                  </a:lnTo>
                  <a:lnTo>
                    <a:pt x="1276412" y="7471425"/>
                  </a:lnTo>
                  <a:lnTo>
                    <a:pt x="2592469" y="5889864"/>
                  </a:lnTo>
                  <a:lnTo>
                    <a:pt x="2469384" y="5732932"/>
                  </a:lnTo>
                  <a:lnTo>
                    <a:pt x="1298376" y="7120585"/>
                  </a:lnTo>
                  <a:lnTo>
                    <a:pt x="1087761" y="6942852"/>
                  </a:lnTo>
                  <a:lnTo>
                    <a:pt x="2295680" y="5511459"/>
                  </a:lnTo>
                  <a:lnTo>
                    <a:pt x="2171436" y="5353049"/>
                  </a:lnTo>
                  <a:lnTo>
                    <a:pt x="1028662" y="6726023"/>
                  </a:lnTo>
                  <a:lnTo>
                    <a:pt x="801935" y="6537310"/>
                  </a:lnTo>
                  <a:lnTo>
                    <a:pt x="1985237" y="5115644"/>
                  </a:lnTo>
                  <a:lnTo>
                    <a:pt x="1871685" y="4970866"/>
                  </a:lnTo>
                  <a:lnTo>
                    <a:pt x="775184" y="6286756"/>
                  </a:lnTo>
                  <a:lnTo>
                    <a:pt x="541090" y="6091691"/>
                  </a:lnTo>
                  <a:lnTo>
                    <a:pt x="1679370" y="4725664"/>
                  </a:lnTo>
                  <a:lnTo>
                    <a:pt x="1558890" y="4572053"/>
                  </a:lnTo>
                  <a:lnTo>
                    <a:pt x="365362" y="5821918"/>
                  </a:lnTo>
                  <a:lnTo>
                    <a:pt x="0" y="5473023"/>
                  </a:lnTo>
                  <a:lnTo>
                    <a:pt x="1243886" y="4170421"/>
                  </a:lnTo>
                  <a:lnTo>
                    <a:pt x="899647" y="3731518"/>
                  </a:lnTo>
                  <a:lnTo>
                    <a:pt x="1260527" y="3271397"/>
                  </a:lnTo>
                  <a:lnTo>
                    <a:pt x="79154" y="1850000"/>
                  </a:lnTo>
                  <a:lnTo>
                    <a:pt x="455350" y="1537328"/>
                  </a:lnTo>
                  <a:lnTo>
                    <a:pt x="1569345" y="2877653"/>
                  </a:lnTo>
                  <a:lnTo>
                    <a:pt x="1677693" y="2739510"/>
                  </a:lnTo>
                  <a:lnTo>
                    <a:pt x="510850" y="1335598"/>
                  </a:lnTo>
                  <a:lnTo>
                    <a:pt x="723017" y="1159258"/>
                  </a:lnTo>
                  <a:lnTo>
                    <a:pt x="1851859" y="2517448"/>
                  </a:lnTo>
                  <a:lnTo>
                    <a:pt x="1975756" y="2359481"/>
                  </a:lnTo>
                  <a:lnTo>
                    <a:pt x="776423" y="916478"/>
                  </a:lnTo>
                  <a:lnTo>
                    <a:pt x="998338" y="732036"/>
                  </a:lnTo>
                  <a:lnTo>
                    <a:pt x="2157924" y="2127216"/>
                  </a:lnTo>
                  <a:lnTo>
                    <a:pt x="2287963" y="1961416"/>
                  </a:lnTo>
                  <a:lnTo>
                    <a:pt x="1110885" y="545191"/>
                  </a:lnTo>
                  <a:lnTo>
                    <a:pt x="1315246" y="375339"/>
                  </a:lnTo>
                  <a:lnTo>
                    <a:pt x="2455720" y="1747525"/>
                  </a:lnTo>
                  <a:lnTo>
                    <a:pt x="2584866" y="1582864"/>
                  </a:lnTo>
                  <a:lnTo>
                    <a:pt x="1267725" y="0"/>
                  </a:lnTo>
                  <a:close/>
                  <a:moveTo>
                    <a:pt x="2484239" y="433754"/>
                  </a:moveTo>
                  <a:cubicBezTo>
                    <a:pt x="2376223" y="433754"/>
                    <a:pt x="2288659" y="522904"/>
                    <a:pt x="2288659" y="632877"/>
                  </a:cubicBezTo>
                  <a:cubicBezTo>
                    <a:pt x="2288659" y="742850"/>
                    <a:pt x="2376223" y="832000"/>
                    <a:pt x="2484239" y="832000"/>
                  </a:cubicBezTo>
                  <a:cubicBezTo>
                    <a:pt x="2592255" y="832000"/>
                    <a:pt x="2679819" y="742850"/>
                    <a:pt x="2679819" y="632877"/>
                  </a:cubicBezTo>
                  <a:cubicBezTo>
                    <a:pt x="2679819" y="522904"/>
                    <a:pt x="2592255" y="433754"/>
                    <a:pt x="2484239" y="433754"/>
                  </a:cubicBezTo>
                  <a:close/>
                  <a:moveTo>
                    <a:pt x="3015358" y="433754"/>
                  </a:moveTo>
                  <a:cubicBezTo>
                    <a:pt x="2907342" y="433754"/>
                    <a:pt x="2819778" y="522904"/>
                    <a:pt x="2819778" y="632877"/>
                  </a:cubicBezTo>
                  <a:cubicBezTo>
                    <a:pt x="2819778" y="742850"/>
                    <a:pt x="2907342" y="832000"/>
                    <a:pt x="3015358" y="832000"/>
                  </a:cubicBezTo>
                  <a:cubicBezTo>
                    <a:pt x="3123374" y="832000"/>
                    <a:pt x="3210938" y="742850"/>
                    <a:pt x="3210938" y="632877"/>
                  </a:cubicBezTo>
                  <a:cubicBezTo>
                    <a:pt x="3210938" y="522904"/>
                    <a:pt x="3123374" y="433754"/>
                    <a:pt x="3015358" y="433754"/>
                  </a:cubicBezTo>
                  <a:close/>
                  <a:moveTo>
                    <a:pt x="2379406" y="978450"/>
                  </a:moveTo>
                  <a:lnTo>
                    <a:pt x="2733737" y="1431839"/>
                  </a:lnTo>
                  <a:lnTo>
                    <a:pt x="3088067" y="978450"/>
                  </a:lnTo>
                  <a:lnTo>
                    <a:pt x="2379406" y="978450"/>
                  </a:lnTo>
                  <a:close/>
                  <a:moveTo>
                    <a:pt x="2733737" y="6086490"/>
                  </a:moveTo>
                  <a:lnTo>
                    <a:pt x="2379406" y="6539879"/>
                  </a:lnTo>
                  <a:lnTo>
                    <a:pt x="3088067" y="6539879"/>
                  </a:lnTo>
                  <a:lnTo>
                    <a:pt x="2733737" y="6086490"/>
                  </a:lnTo>
                  <a:close/>
                  <a:moveTo>
                    <a:pt x="2484239" y="6635631"/>
                  </a:moveTo>
                  <a:cubicBezTo>
                    <a:pt x="2376223" y="6635631"/>
                    <a:pt x="2288659" y="6724781"/>
                    <a:pt x="2288659" y="6834754"/>
                  </a:cubicBezTo>
                  <a:cubicBezTo>
                    <a:pt x="2288659" y="6944727"/>
                    <a:pt x="2376223" y="7033877"/>
                    <a:pt x="2484239" y="7033877"/>
                  </a:cubicBezTo>
                  <a:cubicBezTo>
                    <a:pt x="2592255" y="7033877"/>
                    <a:pt x="2679819" y="6944727"/>
                    <a:pt x="2679819" y="6834754"/>
                  </a:cubicBezTo>
                  <a:cubicBezTo>
                    <a:pt x="2679819" y="6724781"/>
                    <a:pt x="2592255" y="6635631"/>
                    <a:pt x="2484239" y="6635631"/>
                  </a:cubicBezTo>
                  <a:close/>
                  <a:moveTo>
                    <a:pt x="3015358" y="6635631"/>
                  </a:moveTo>
                  <a:cubicBezTo>
                    <a:pt x="2907342" y="6635631"/>
                    <a:pt x="2819778" y="6724781"/>
                    <a:pt x="2819778" y="6834754"/>
                  </a:cubicBezTo>
                  <a:cubicBezTo>
                    <a:pt x="2819778" y="6944727"/>
                    <a:pt x="2907342" y="7033877"/>
                    <a:pt x="3015358" y="7033877"/>
                  </a:cubicBezTo>
                  <a:cubicBezTo>
                    <a:pt x="3123374" y="7033877"/>
                    <a:pt x="3210938" y="6944727"/>
                    <a:pt x="3210938" y="6834754"/>
                  </a:cubicBezTo>
                  <a:cubicBezTo>
                    <a:pt x="3210938" y="6724781"/>
                    <a:pt x="3123374" y="6635631"/>
                    <a:pt x="3015358" y="663563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="" xmlns:a16="http://schemas.microsoft.com/office/drawing/2014/main" id="{6D2EB70F-4FA7-49C9-B704-6B35E8DEFEE7}"/>
                </a:ext>
              </a:extLst>
            </p:cNvPr>
            <p:cNvSpPr/>
            <p:nvPr/>
          </p:nvSpPr>
          <p:spPr>
            <a:xfrm flipV="1">
              <a:off x="5845215" y="-124347"/>
              <a:ext cx="509718" cy="324920"/>
            </a:xfrm>
            <a:custGeom>
              <a:avLst/>
              <a:gdLst>
                <a:gd name="connsiteX0" fmla="*/ 0 w 509718"/>
                <a:gd name="connsiteY0" fmla="*/ 324920 h 324920"/>
                <a:gd name="connsiteX1" fmla="*/ 509718 w 509718"/>
                <a:gd name="connsiteY1" fmla="*/ 324920 h 324920"/>
                <a:gd name="connsiteX2" fmla="*/ 509718 w 509718"/>
                <a:gd name="connsiteY2" fmla="*/ 0 h 324920"/>
                <a:gd name="connsiteX3" fmla="*/ 0 w 509718"/>
                <a:gd name="connsiteY3" fmla="*/ 0 h 324920"/>
                <a:gd name="connsiteX4" fmla="*/ 0 w 509718"/>
                <a:gd name="connsiteY4" fmla="*/ 324920 h 324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9718" h="324920">
                  <a:moveTo>
                    <a:pt x="0" y="324920"/>
                  </a:moveTo>
                  <a:lnTo>
                    <a:pt x="509718" y="324920"/>
                  </a:lnTo>
                  <a:lnTo>
                    <a:pt x="509718" y="0"/>
                  </a:lnTo>
                  <a:lnTo>
                    <a:pt x="0" y="0"/>
                  </a:lnTo>
                  <a:lnTo>
                    <a:pt x="0" y="32492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="" xmlns:a16="http://schemas.microsoft.com/office/drawing/2014/main" id="{1E2B9816-3C99-402F-82C4-AA9C5E655D22}"/>
                </a:ext>
              </a:extLst>
            </p:cNvPr>
            <p:cNvSpPr/>
            <p:nvPr/>
          </p:nvSpPr>
          <p:spPr>
            <a:xfrm flipV="1">
              <a:off x="5845215" y="290751"/>
              <a:ext cx="509718" cy="761490"/>
            </a:xfrm>
            <a:custGeom>
              <a:avLst/>
              <a:gdLst>
                <a:gd name="connsiteX0" fmla="*/ 509718 w 509718"/>
                <a:gd name="connsiteY0" fmla="*/ 761490 h 761490"/>
                <a:gd name="connsiteX1" fmla="*/ 509718 w 509718"/>
                <a:gd name="connsiteY1" fmla="*/ 0 h 761490"/>
                <a:gd name="connsiteX2" fmla="*/ 250783 w 509718"/>
                <a:gd name="connsiteY2" fmla="*/ 379228 h 761490"/>
                <a:gd name="connsiteX3" fmla="*/ 0 w 509718"/>
                <a:gd name="connsiteY3" fmla="*/ 11939 h 761490"/>
                <a:gd name="connsiteX4" fmla="*/ 0 w 509718"/>
                <a:gd name="connsiteY4" fmla="*/ 743482 h 761490"/>
                <a:gd name="connsiteX5" fmla="*/ 248711 w 509718"/>
                <a:gd name="connsiteY5" fmla="*/ 379228 h 761490"/>
                <a:gd name="connsiteX6" fmla="*/ 509718 w 509718"/>
                <a:gd name="connsiteY6" fmla="*/ 761490 h 761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09718" h="761490">
                  <a:moveTo>
                    <a:pt x="509718" y="761490"/>
                  </a:moveTo>
                  <a:lnTo>
                    <a:pt x="509718" y="0"/>
                  </a:lnTo>
                  <a:lnTo>
                    <a:pt x="250783" y="379228"/>
                  </a:lnTo>
                  <a:lnTo>
                    <a:pt x="0" y="11939"/>
                  </a:lnTo>
                  <a:lnTo>
                    <a:pt x="0" y="743482"/>
                  </a:lnTo>
                  <a:lnTo>
                    <a:pt x="248711" y="379228"/>
                  </a:lnTo>
                  <a:lnTo>
                    <a:pt x="509718" y="76149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="" xmlns:a16="http://schemas.microsoft.com/office/drawing/2014/main" id="{5C05DED8-6295-45EA-9451-967B706E7D7B}"/>
                </a:ext>
              </a:extLst>
            </p:cNvPr>
            <p:cNvSpPr/>
            <p:nvPr/>
          </p:nvSpPr>
          <p:spPr>
            <a:xfrm flipV="1">
              <a:off x="5845215" y="2520196"/>
              <a:ext cx="509718" cy="761490"/>
            </a:xfrm>
            <a:custGeom>
              <a:avLst/>
              <a:gdLst>
                <a:gd name="connsiteX0" fmla="*/ 509718 w 509718"/>
                <a:gd name="connsiteY0" fmla="*/ 761490 h 761490"/>
                <a:gd name="connsiteX1" fmla="*/ 509718 w 509718"/>
                <a:gd name="connsiteY1" fmla="*/ 0 h 761490"/>
                <a:gd name="connsiteX2" fmla="*/ 250783 w 509718"/>
                <a:gd name="connsiteY2" fmla="*/ 379228 h 761490"/>
                <a:gd name="connsiteX3" fmla="*/ 0 w 509718"/>
                <a:gd name="connsiteY3" fmla="*/ 11939 h 761490"/>
                <a:gd name="connsiteX4" fmla="*/ 0 w 509718"/>
                <a:gd name="connsiteY4" fmla="*/ 743482 h 761490"/>
                <a:gd name="connsiteX5" fmla="*/ 248711 w 509718"/>
                <a:gd name="connsiteY5" fmla="*/ 379228 h 761490"/>
                <a:gd name="connsiteX6" fmla="*/ 509718 w 509718"/>
                <a:gd name="connsiteY6" fmla="*/ 761490 h 761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09718" h="761490">
                  <a:moveTo>
                    <a:pt x="509718" y="761490"/>
                  </a:moveTo>
                  <a:lnTo>
                    <a:pt x="509718" y="0"/>
                  </a:lnTo>
                  <a:lnTo>
                    <a:pt x="250783" y="379228"/>
                  </a:lnTo>
                  <a:lnTo>
                    <a:pt x="0" y="11939"/>
                  </a:lnTo>
                  <a:lnTo>
                    <a:pt x="0" y="743482"/>
                  </a:lnTo>
                  <a:lnTo>
                    <a:pt x="248711" y="379228"/>
                  </a:lnTo>
                  <a:lnTo>
                    <a:pt x="509718" y="76149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="" xmlns:a16="http://schemas.microsoft.com/office/drawing/2014/main" id="{4CA98DBB-5DE5-4E91-AA1A-DDB60F71A337}"/>
                </a:ext>
              </a:extLst>
            </p:cNvPr>
            <p:cNvSpPr/>
            <p:nvPr/>
          </p:nvSpPr>
          <p:spPr>
            <a:xfrm flipV="1">
              <a:off x="5845215" y="4696670"/>
              <a:ext cx="509718" cy="777823"/>
            </a:xfrm>
            <a:custGeom>
              <a:avLst/>
              <a:gdLst>
                <a:gd name="connsiteX0" fmla="*/ 0 w 509718"/>
                <a:gd name="connsiteY0" fmla="*/ 777823 h 777823"/>
                <a:gd name="connsiteX1" fmla="*/ 264511 w 509718"/>
                <a:gd name="connsiteY1" fmla="*/ 390429 h 777823"/>
                <a:gd name="connsiteX2" fmla="*/ 509718 w 509718"/>
                <a:gd name="connsiteY2" fmla="*/ 749551 h 777823"/>
                <a:gd name="connsiteX3" fmla="*/ 509718 w 509718"/>
                <a:gd name="connsiteY3" fmla="*/ 34341 h 777823"/>
                <a:gd name="connsiteX4" fmla="*/ 266583 w 509718"/>
                <a:gd name="connsiteY4" fmla="*/ 390429 h 777823"/>
                <a:gd name="connsiteX5" fmla="*/ 0 w 509718"/>
                <a:gd name="connsiteY5" fmla="*/ 0 h 777823"/>
                <a:gd name="connsiteX6" fmla="*/ 0 w 509718"/>
                <a:gd name="connsiteY6" fmla="*/ 777823 h 777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09718" h="777823">
                  <a:moveTo>
                    <a:pt x="0" y="777823"/>
                  </a:moveTo>
                  <a:lnTo>
                    <a:pt x="264511" y="390429"/>
                  </a:lnTo>
                  <a:lnTo>
                    <a:pt x="509718" y="749551"/>
                  </a:lnTo>
                  <a:lnTo>
                    <a:pt x="509718" y="34341"/>
                  </a:lnTo>
                  <a:lnTo>
                    <a:pt x="266583" y="390429"/>
                  </a:lnTo>
                  <a:lnTo>
                    <a:pt x="0" y="0"/>
                  </a:lnTo>
                  <a:lnTo>
                    <a:pt x="0" y="77782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="" xmlns:a16="http://schemas.microsoft.com/office/drawing/2014/main" id="{E37380F7-7D33-41A8-BD98-BB0C84235D0D}"/>
                </a:ext>
              </a:extLst>
            </p:cNvPr>
            <p:cNvSpPr/>
            <p:nvPr/>
          </p:nvSpPr>
          <p:spPr>
            <a:xfrm>
              <a:off x="5904248" y="1437868"/>
              <a:ext cx="391776" cy="545784"/>
            </a:xfrm>
            <a:custGeom>
              <a:avLst/>
              <a:gdLst>
                <a:gd name="connsiteX0" fmla="*/ 195889 w 391776"/>
                <a:gd name="connsiteY0" fmla="*/ 0 h 545784"/>
                <a:gd name="connsiteX1" fmla="*/ 391776 w 391776"/>
                <a:gd name="connsiteY1" fmla="*/ 272892 h 545784"/>
                <a:gd name="connsiteX2" fmla="*/ 195888 w 391776"/>
                <a:gd name="connsiteY2" fmla="*/ 545784 h 545784"/>
                <a:gd name="connsiteX3" fmla="*/ 0 w 391776"/>
                <a:gd name="connsiteY3" fmla="*/ 272893 h 545784"/>
                <a:gd name="connsiteX4" fmla="*/ 195889 w 391776"/>
                <a:gd name="connsiteY4" fmla="*/ 0 h 545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1776" h="545784">
                  <a:moveTo>
                    <a:pt x="195889" y="0"/>
                  </a:moveTo>
                  <a:lnTo>
                    <a:pt x="391776" y="272892"/>
                  </a:lnTo>
                  <a:lnTo>
                    <a:pt x="195888" y="545784"/>
                  </a:lnTo>
                  <a:lnTo>
                    <a:pt x="0" y="272893"/>
                  </a:lnTo>
                  <a:lnTo>
                    <a:pt x="19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="" xmlns:a16="http://schemas.microsoft.com/office/drawing/2014/main" id="{C7A5F7BD-32F3-435F-9572-9EF61BE3519B}"/>
                </a:ext>
              </a:extLst>
            </p:cNvPr>
            <p:cNvSpPr/>
            <p:nvPr/>
          </p:nvSpPr>
          <p:spPr>
            <a:xfrm>
              <a:off x="5845215" y="1145454"/>
              <a:ext cx="509718" cy="469889"/>
            </a:xfrm>
            <a:custGeom>
              <a:avLst/>
              <a:gdLst>
                <a:gd name="connsiteX0" fmla="*/ 0 w 509718"/>
                <a:gd name="connsiteY0" fmla="*/ 0 h 469889"/>
                <a:gd name="connsiteX1" fmla="*/ 509718 w 509718"/>
                <a:gd name="connsiteY1" fmla="*/ 0 h 469889"/>
                <a:gd name="connsiteX2" fmla="*/ 509718 w 509718"/>
                <a:gd name="connsiteY2" fmla="*/ 469889 h 469889"/>
                <a:gd name="connsiteX3" fmla="*/ 250782 w 509718"/>
                <a:gd name="connsiteY3" fmla="*/ 85724 h 469889"/>
                <a:gd name="connsiteX4" fmla="*/ 0 w 509718"/>
                <a:gd name="connsiteY4" fmla="*/ 457791 h 469889"/>
                <a:gd name="connsiteX5" fmla="*/ 0 w 509718"/>
                <a:gd name="connsiteY5" fmla="*/ 0 h 469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9718" h="469889">
                  <a:moveTo>
                    <a:pt x="0" y="0"/>
                  </a:moveTo>
                  <a:lnTo>
                    <a:pt x="509718" y="0"/>
                  </a:lnTo>
                  <a:lnTo>
                    <a:pt x="509718" y="469889"/>
                  </a:lnTo>
                  <a:lnTo>
                    <a:pt x="250782" y="85724"/>
                  </a:lnTo>
                  <a:lnTo>
                    <a:pt x="0" y="45779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="" xmlns:a16="http://schemas.microsoft.com/office/drawing/2014/main" id="{8DE238B6-6F30-4490-862E-8618CE7B4942}"/>
                </a:ext>
              </a:extLst>
            </p:cNvPr>
            <p:cNvSpPr/>
            <p:nvPr/>
          </p:nvSpPr>
          <p:spPr>
            <a:xfrm>
              <a:off x="5845215" y="1796653"/>
              <a:ext cx="509718" cy="555808"/>
            </a:xfrm>
            <a:custGeom>
              <a:avLst/>
              <a:gdLst>
                <a:gd name="connsiteX0" fmla="*/ 509718 w 509718"/>
                <a:gd name="connsiteY0" fmla="*/ 0 h 555808"/>
                <a:gd name="connsiteX1" fmla="*/ 509718 w 509718"/>
                <a:gd name="connsiteY1" fmla="*/ 555808 h 555808"/>
                <a:gd name="connsiteX2" fmla="*/ 0 w 509718"/>
                <a:gd name="connsiteY2" fmla="*/ 555808 h 555808"/>
                <a:gd name="connsiteX3" fmla="*/ 0 w 509718"/>
                <a:gd name="connsiteY3" fmla="*/ 12097 h 555808"/>
                <a:gd name="connsiteX4" fmla="*/ 250782 w 509718"/>
                <a:gd name="connsiteY4" fmla="*/ 384164 h 555808"/>
                <a:gd name="connsiteX5" fmla="*/ 509718 w 509718"/>
                <a:gd name="connsiteY5" fmla="*/ 0 h 5558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9718" h="555808">
                  <a:moveTo>
                    <a:pt x="509718" y="0"/>
                  </a:moveTo>
                  <a:lnTo>
                    <a:pt x="509718" y="555808"/>
                  </a:lnTo>
                  <a:lnTo>
                    <a:pt x="0" y="555808"/>
                  </a:lnTo>
                  <a:lnTo>
                    <a:pt x="0" y="12097"/>
                  </a:lnTo>
                  <a:lnTo>
                    <a:pt x="250782" y="384164"/>
                  </a:lnTo>
                  <a:lnTo>
                    <a:pt x="509718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="" xmlns:a16="http://schemas.microsoft.com/office/drawing/2014/main" id="{26E748B6-A971-42CE-9FF4-5C86B9D71562}"/>
                </a:ext>
              </a:extLst>
            </p:cNvPr>
            <p:cNvSpPr/>
            <p:nvPr/>
          </p:nvSpPr>
          <p:spPr>
            <a:xfrm>
              <a:off x="5904248" y="3682615"/>
              <a:ext cx="391776" cy="545784"/>
            </a:xfrm>
            <a:custGeom>
              <a:avLst/>
              <a:gdLst>
                <a:gd name="connsiteX0" fmla="*/ 195889 w 391776"/>
                <a:gd name="connsiteY0" fmla="*/ 0 h 545784"/>
                <a:gd name="connsiteX1" fmla="*/ 391776 w 391776"/>
                <a:gd name="connsiteY1" fmla="*/ 272892 h 545784"/>
                <a:gd name="connsiteX2" fmla="*/ 195888 w 391776"/>
                <a:gd name="connsiteY2" fmla="*/ 545784 h 545784"/>
                <a:gd name="connsiteX3" fmla="*/ 0 w 391776"/>
                <a:gd name="connsiteY3" fmla="*/ 272893 h 545784"/>
                <a:gd name="connsiteX4" fmla="*/ 195889 w 391776"/>
                <a:gd name="connsiteY4" fmla="*/ 0 h 545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1776" h="545784">
                  <a:moveTo>
                    <a:pt x="195889" y="0"/>
                  </a:moveTo>
                  <a:lnTo>
                    <a:pt x="391776" y="272892"/>
                  </a:lnTo>
                  <a:lnTo>
                    <a:pt x="195888" y="545784"/>
                  </a:lnTo>
                  <a:lnTo>
                    <a:pt x="0" y="272893"/>
                  </a:lnTo>
                  <a:lnTo>
                    <a:pt x="19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="" xmlns:a16="http://schemas.microsoft.com/office/drawing/2014/main" id="{2FC16E50-807D-46A3-BE69-6FCCD36A2BBD}"/>
                </a:ext>
              </a:extLst>
            </p:cNvPr>
            <p:cNvSpPr/>
            <p:nvPr/>
          </p:nvSpPr>
          <p:spPr>
            <a:xfrm>
              <a:off x="5845215" y="3390201"/>
              <a:ext cx="509718" cy="469889"/>
            </a:xfrm>
            <a:custGeom>
              <a:avLst/>
              <a:gdLst>
                <a:gd name="connsiteX0" fmla="*/ 0 w 509718"/>
                <a:gd name="connsiteY0" fmla="*/ 0 h 469889"/>
                <a:gd name="connsiteX1" fmla="*/ 509718 w 509718"/>
                <a:gd name="connsiteY1" fmla="*/ 0 h 469889"/>
                <a:gd name="connsiteX2" fmla="*/ 509718 w 509718"/>
                <a:gd name="connsiteY2" fmla="*/ 469889 h 469889"/>
                <a:gd name="connsiteX3" fmla="*/ 250782 w 509718"/>
                <a:gd name="connsiteY3" fmla="*/ 85724 h 469889"/>
                <a:gd name="connsiteX4" fmla="*/ 0 w 509718"/>
                <a:gd name="connsiteY4" fmla="*/ 457791 h 469889"/>
                <a:gd name="connsiteX5" fmla="*/ 0 w 509718"/>
                <a:gd name="connsiteY5" fmla="*/ 0 h 469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9718" h="469889">
                  <a:moveTo>
                    <a:pt x="0" y="0"/>
                  </a:moveTo>
                  <a:lnTo>
                    <a:pt x="509718" y="0"/>
                  </a:lnTo>
                  <a:lnTo>
                    <a:pt x="509718" y="469889"/>
                  </a:lnTo>
                  <a:lnTo>
                    <a:pt x="250782" y="85724"/>
                  </a:lnTo>
                  <a:lnTo>
                    <a:pt x="0" y="45779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="" xmlns:a16="http://schemas.microsoft.com/office/drawing/2014/main" id="{471E8C91-E3E5-4DA9-B21B-8C2D6AC032D4}"/>
                </a:ext>
              </a:extLst>
            </p:cNvPr>
            <p:cNvSpPr/>
            <p:nvPr/>
          </p:nvSpPr>
          <p:spPr>
            <a:xfrm>
              <a:off x="5845215" y="4041400"/>
              <a:ext cx="509718" cy="555808"/>
            </a:xfrm>
            <a:custGeom>
              <a:avLst/>
              <a:gdLst>
                <a:gd name="connsiteX0" fmla="*/ 509718 w 509718"/>
                <a:gd name="connsiteY0" fmla="*/ 0 h 555808"/>
                <a:gd name="connsiteX1" fmla="*/ 509718 w 509718"/>
                <a:gd name="connsiteY1" fmla="*/ 555808 h 555808"/>
                <a:gd name="connsiteX2" fmla="*/ 0 w 509718"/>
                <a:gd name="connsiteY2" fmla="*/ 555808 h 555808"/>
                <a:gd name="connsiteX3" fmla="*/ 0 w 509718"/>
                <a:gd name="connsiteY3" fmla="*/ 12097 h 555808"/>
                <a:gd name="connsiteX4" fmla="*/ 250782 w 509718"/>
                <a:gd name="connsiteY4" fmla="*/ 384164 h 555808"/>
                <a:gd name="connsiteX5" fmla="*/ 509718 w 509718"/>
                <a:gd name="connsiteY5" fmla="*/ 0 h 5558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9718" h="555808">
                  <a:moveTo>
                    <a:pt x="509718" y="0"/>
                  </a:moveTo>
                  <a:lnTo>
                    <a:pt x="509718" y="555808"/>
                  </a:lnTo>
                  <a:lnTo>
                    <a:pt x="0" y="555808"/>
                  </a:lnTo>
                  <a:lnTo>
                    <a:pt x="0" y="12097"/>
                  </a:lnTo>
                  <a:lnTo>
                    <a:pt x="250782" y="384164"/>
                  </a:lnTo>
                  <a:lnTo>
                    <a:pt x="509718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="" xmlns:a16="http://schemas.microsoft.com/office/drawing/2014/main" id="{0DB58D8C-6C7D-446B-9E60-E6336DFFDBB8}"/>
                </a:ext>
              </a:extLst>
            </p:cNvPr>
            <p:cNvSpPr/>
            <p:nvPr/>
          </p:nvSpPr>
          <p:spPr>
            <a:xfrm>
              <a:off x="5904248" y="5849805"/>
              <a:ext cx="391776" cy="545784"/>
            </a:xfrm>
            <a:custGeom>
              <a:avLst/>
              <a:gdLst>
                <a:gd name="connsiteX0" fmla="*/ 195889 w 391776"/>
                <a:gd name="connsiteY0" fmla="*/ 0 h 545784"/>
                <a:gd name="connsiteX1" fmla="*/ 391776 w 391776"/>
                <a:gd name="connsiteY1" fmla="*/ 272892 h 545784"/>
                <a:gd name="connsiteX2" fmla="*/ 195888 w 391776"/>
                <a:gd name="connsiteY2" fmla="*/ 545784 h 545784"/>
                <a:gd name="connsiteX3" fmla="*/ 0 w 391776"/>
                <a:gd name="connsiteY3" fmla="*/ 272893 h 545784"/>
                <a:gd name="connsiteX4" fmla="*/ 195889 w 391776"/>
                <a:gd name="connsiteY4" fmla="*/ 0 h 545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1776" h="545784">
                  <a:moveTo>
                    <a:pt x="195889" y="0"/>
                  </a:moveTo>
                  <a:lnTo>
                    <a:pt x="391776" y="272892"/>
                  </a:lnTo>
                  <a:lnTo>
                    <a:pt x="195888" y="545784"/>
                  </a:lnTo>
                  <a:lnTo>
                    <a:pt x="0" y="272893"/>
                  </a:lnTo>
                  <a:lnTo>
                    <a:pt x="19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="" xmlns:a16="http://schemas.microsoft.com/office/drawing/2014/main" id="{7ADB0F05-315A-41DF-B73B-1010667B2C98}"/>
                </a:ext>
              </a:extLst>
            </p:cNvPr>
            <p:cNvSpPr/>
            <p:nvPr/>
          </p:nvSpPr>
          <p:spPr>
            <a:xfrm>
              <a:off x="5845215" y="5557391"/>
              <a:ext cx="509718" cy="469889"/>
            </a:xfrm>
            <a:custGeom>
              <a:avLst/>
              <a:gdLst>
                <a:gd name="connsiteX0" fmla="*/ 0 w 509718"/>
                <a:gd name="connsiteY0" fmla="*/ 0 h 469889"/>
                <a:gd name="connsiteX1" fmla="*/ 509718 w 509718"/>
                <a:gd name="connsiteY1" fmla="*/ 0 h 469889"/>
                <a:gd name="connsiteX2" fmla="*/ 509718 w 509718"/>
                <a:gd name="connsiteY2" fmla="*/ 469889 h 469889"/>
                <a:gd name="connsiteX3" fmla="*/ 250782 w 509718"/>
                <a:gd name="connsiteY3" fmla="*/ 85724 h 469889"/>
                <a:gd name="connsiteX4" fmla="*/ 0 w 509718"/>
                <a:gd name="connsiteY4" fmla="*/ 457791 h 469889"/>
                <a:gd name="connsiteX5" fmla="*/ 0 w 509718"/>
                <a:gd name="connsiteY5" fmla="*/ 0 h 469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9718" h="469889">
                  <a:moveTo>
                    <a:pt x="0" y="0"/>
                  </a:moveTo>
                  <a:lnTo>
                    <a:pt x="509718" y="0"/>
                  </a:lnTo>
                  <a:lnTo>
                    <a:pt x="509718" y="469889"/>
                  </a:lnTo>
                  <a:lnTo>
                    <a:pt x="250782" y="85724"/>
                  </a:lnTo>
                  <a:lnTo>
                    <a:pt x="0" y="45779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="" xmlns:a16="http://schemas.microsoft.com/office/drawing/2014/main" id="{65371B4B-806E-4F07-AF72-CD815EA08820}"/>
                </a:ext>
              </a:extLst>
            </p:cNvPr>
            <p:cNvSpPr/>
            <p:nvPr/>
          </p:nvSpPr>
          <p:spPr>
            <a:xfrm>
              <a:off x="5845215" y="6208590"/>
              <a:ext cx="509718" cy="877509"/>
            </a:xfrm>
            <a:custGeom>
              <a:avLst/>
              <a:gdLst>
                <a:gd name="connsiteX0" fmla="*/ 509718 w 509718"/>
                <a:gd name="connsiteY0" fmla="*/ 0 h 877509"/>
                <a:gd name="connsiteX1" fmla="*/ 509718 w 509718"/>
                <a:gd name="connsiteY1" fmla="*/ 552589 h 877509"/>
                <a:gd name="connsiteX2" fmla="*/ 509718 w 509718"/>
                <a:gd name="connsiteY2" fmla="*/ 555808 h 877509"/>
                <a:gd name="connsiteX3" fmla="*/ 509718 w 509718"/>
                <a:gd name="connsiteY3" fmla="*/ 877509 h 877509"/>
                <a:gd name="connsiteX4" fmla="*/ 0 w 509718"/>
                <a:gd name="connsiteY4" fmla="*/ 877509 h 877509"/>
                <a:gd name="connsiteX5" fmla="*/ 0 w 509718"/>
                <a:gd name="connsiteY5" fmla="*/ 555808 h 877509"/>
                <a:gd name="connsiteX6" fmla="*/ 0 w 509718"/>
                <a:gd name="connsiteY6" fmla="*/ 552589 h 877509"/>
                <a:gd name="connsiteX7" fmla="*/ 0 w 509718"/>
                <a:gd name="connsiteY7" fmla="*/ 12097 h 877509"/>
                <a:gd name="connsiteX8" fmla="*/ 250782 w 509718"/>
                <a:gd name="connsiteY8" fmla="*/ 384164 h 877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09718" h="877509">
                  <a:moveTo>
                    <a:pt x="509718" y="0"/>
                  </a:moveTo>
                  <a:lnTo>
                    <a:pt x="509718" y="552589"/>
                  </a:lnTo>
                  <a:lnTo>
                    <a:pt x="509718" y="555808"/>
                  </a:lnTo>
                  <a:lnTo>
                    <a:pt x="509718" y="877509"/>
                  </a:lnTo>
                  <a:lnTo>
                    <a:pt x="0" y="877509"/>
                  </a:lnTo>
                  <a:lnTo>
                    <a:pt x="0" y="555808"/>
                  </a:lnTo>
                  <a:lnTo>
                    <a:pt x="0" y="552589"/>
                  </a:lnTo>
                  <a:lnTo>
                    <a:pt x="0" y="12097"/>
                  </a:lnTo>
                  <a:lnTo>
                    <a:pt x="250782" y="384164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1F57155D-1E3E-45D5-930B-87E975274E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85160" y="4278865"/>
            <a:ext cx="6944023" cy="1533669"/>
          </a:xfrm>
        </p:spPr>
        <p:txBody>
          <a:bodyPr>
            <a:noAutofit/>
          </a:bodyPr>
          <a:lstStyle/>
          <a:p>
            <a:pPr algn="l"/>
            <a:r>
              <a:rPr lang="en-US" sz="4800" dirty="0">
                <a:solidFill>
                  <a:schemeClr val="tx1">
                    <a:lumMod val="90000"/>
                    <a:lumOff val="10000"/>
                  </a:schemeClr>
                </a:solidFill>
                <a:latin typeface="Bahnschrift SemiBold Condensed" panose="020B0502040204020203" pitchFamily="34" charset="0"/>
              </a:rPr>
              <a:t>SPAC MULTIDISCIPLINARY RESEARCH CONGRESS</a:t>
            </a:r>
          </a:p>
        </p:txBody>
      </p:sp>
      <p:pic>
        <p:nvPicPr>
          <p:cNvPr id="86" name="Picture 85">
            <a:extLst>
              <a:ext uri="{FF2B5EF4-FFF2-40B4-BE49-F238E27FC236}">
                <a16:creationId xmlns="" xmlns:a16="http://schemas.microsoft.com/office/drawing/2014/main" id="{BD9F3FEE-0C95-4906-AD9E-A58FE3B8BE3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8212" y="414514"/>
            <a:ext cx="1141638" cy="1009708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B549A1B0-09C7-450C-8EF0-628B0BCFD23F}"/>
              </a:ext>
            </a:extLst>
          </p:cNvPr>
          <p:cNvGrpSpPr/>
          <p:nvPr/>
        </p:nvGrpSpPr>
        <p:grpSpPr>
          <a:xfrm>
            <a:off x="3269543" y="5896462"/>
            <a:ext cx="6166522" cy="411996"/>
            <a:chOff x="3550518" y="5074179"/>
            <a:chExt cx="6166522" cy="411996"/>
          </a:xfrm>
        </p:grpSpPr>
        <p:sp>
          <p:nvSpPr>
            <p:cNvPr id="5" name="Subtitle 2">
              <a:extLst>
                <a:ext uri="{FF2B5EF4-FFF2-40B4-BE49-F238E27FC236}">
                  <a16:creationId xmlns="" xmlns:a16="http://schemas.microsoft.com/office/drawing/2014/main" id="{4C0F3482-4E93-4250-A4BA-D826E0135B28}"/>
                </a:ext>
              </a:extLst>
            </p:cNvPr>
            <p:cNvSpPr txBox="1">
              <a:spLocks/>
            </p:cNvSpPr>
            <p:nvPr/>
          </p:nvSpPr>
          <p:spPr>
            <a:xfrm>
              <a:off x="3550518" y="5074179"/>
              <a:ext cx="1595640" cy="411996"/>
            </a:xfrm>
            <a:prstGeom prst="rect">
              <a:avLst/>
            </a:prstGeom>
            <a:solidFill>
              <a:srgbClr val="EBBD15"/>
            </a:solidFill>
            <a:ln>
              <a:noFill/>
            </a:ln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100" dirty="0">
                  <a:solidFill>
                    <a:srgbClr val="EBE5E5"/>
                  </a:solidFill>
                  <a:latin typeface="Britannic Bold" panose="020B0903060703020204" pitchFamily="34" charset="0"/>
                </a:rPr>
                <a:t>ENLIGHTEN.</a:t>
              </a:r>
            </a:p>
          </p:txBody>
        </p:sp>
        <p:sp>
          <p:nvSpPr>
            <p:cNvPr id="87" name="Subtitle 2">
              <a:extLst>
                <a:ext uri="{FF2B5EF4-FFF2-40B4-BE49-F238E27FC236}">
                  <a16:creationId xmlns="" xmlns:a16="http://schemas.microsoft.com/office/drawing/2014/main" id="{2452E56F-BD2F-4927-ABDB-55B30323704E}"/>
                </a:ext>
              </a:extLst>
            </p:cNvPr>
            <p:cNvSpPr txBox="1">
              <a:spLocks/>
            </p:cNvSpPr>
            <p:nvPr/>
          </p:nvSpPr>
          <p:spPr>
            <a:xfrm>
              <a:off x="5146159" y="5074179"/>
              <a:ext cx="1640347" cy="411996"/>
            </a:xfrm>
            <a:prstGeom prst="rect">
              <a:avLst/>
            </a:prstGeom>
            <a:solidFill>
              <a:srgbClr val="C00000"/>
            </a:solidFill>
          </p:spPr>
          <p:txBody>
            <a:bodyPr vert="horz" lIns="91440" tIns="45720" rIns="91440" bIns="45720" rtlCol="0">
              <a:normAutofit lnSpcReduction="10000"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rgbClr val="EBE5E5"/>
                  </a:solidFill>
                  <a:latin typeface="Britannic Bold" panose="020B0903060703020204" pitchFamily="34" charset="0"/>
                </a:rPr>
                <a:t>EMPOWER.</a:t>
              </a:r>
            </a:p>
          </p:txBody>
        </p:sp>
        <p:sp>
          <p:nvSpPr>
            <p:cNvPr id="88" name="Subtitle 2">
              <a:extLst>
                <a:ext uri="{FF2B5EF4-FFF2-40B4-BE49-F238E27FC236}">
                  <a16:creationId xmlns="" xmlns:a16="http://schemas.microsoft.com/office/drawing/2014/main" id="{E240DB76-1B5F-403B-999B-3EFE8DB6FB4C}"/>
                </a:ext>
              </a:extLst>
            </p:cNvPr>
            <p:cNvSpPr txBox="1">
              <a:spLocks/>
            </p:cNvSpPr>
            <p:nvPr/>
          </p:nvSpPr>
          <p:spPr>
            <a:xfrm>
              <a:off x="6786506" y="5074179"/>
              <a:ext cx="1384805" cy="411996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txBody>
            <a:bodyPr vert="horz" lIns="91440" tIns="45720" rIns="91440" bIns="45720" rtlCol="0">
              <a:normAutofit lnSpcReduction="10000"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rgbClr val="EBE5E5"/>
                  </a:solidFill>
                  <a:latin typeface="Britannic Bold" panose="020B0903060703020204" pitchFamily="34" charset="0"/>
                </a:rPr>
                <a:t>ENGAGE:</a:t>
              </a:r>
            </a:p>
          </p:txBody>
        </p:sp>
        <p:sp>
          <p:nvSpPr>
            <p:cNvPr id="89" name="Subtitle 2">
              <a:extLst>
                <a:ext uri="{FF2B5EF4-FFF2-40B4-BE49-F238E27FC236}">
                  <a16:creationId xmlns="" xmlns:a16="http://schemas.microsoft.com/office/drawing/2014/main" id="{E5D3294A-901F-4879-8E56-71F9784103AD}"/>
                </a:ext>
              </a:extLst>
            </p:cNvPr>
            <p:cNvSpPr txBox="1">
              <a:spLocks/>
            </p:cNvSpPr>
            <p:nvPr/>
          </p:nvSpPr>
          <p:spPr>
            <a:xfrm>
              <a:off x="8174752" y="5074179"/>
              <a:ext cx="1542288" cy="411996"/>
            </a:xfrm>
            <a:prstGeom prst="rect">
              <a:avLst/>
            </a:prstGeom>
            <a:solidFill>
              <a:schemeClr val="bg1">
                <a:lumMod val="10000"/>
              </a:schemeClr>
            </a:solidFill>
          </p:spPr>
          <p:txBody>
            <a:bodyPr vert="horz" lIns="91440" tIns="45720" rIns="91440" bIns="45720" rtlCol="0">
              <a:normAutofit lnSpcReduction="10000"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rgbClr val="EBE5E5"/>
                  </a:solidFill>
                  <a:latin typeface="Britannic Bold" panose="020B0903060703020204" pitchFamily="34" charset="0"/>
                </a:rPr>
                <a:t>I WILL GO</a:t>
              </a: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23791D4D-4C6B-4DEC-9484-690B75F370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53" y="-2551684"/>
            <a:ext cx="1500507" cy="12605240"/>
          </a:xfrm>
          <a:prstGeom prst="rect">
            <a:avLst/>
          </a:prstGeom>
        </p:spPr>
      </p:pic>
      <p:sp>
        <p:nvSpPr>
          <p:cNvPr id="283" name="Title 1">
            <a:extLst>
              <a:ext uri="{FF2B5EF4-FFF2-40B4-BE49-F238E27FC236}">
                <a16:creationId xmlns="" xmlns:a16="http://schemas.microsoft.com/office/drawing/2014/main" id="{3204595B-A730-4016-B4D7-E59EEE9888CB}"/>
              </a:ext>
            </a:extLst>
          </p:cNvPr>
          <p:cNvSpPr txBox="1">
            <a:spLocks/>
          </p:cNvSpPr>
          <p:nvPr/>
        </p:nvSpPr>
        <p:spPr>
          <a:xfrm>
            <a:off x="2879158" y="4358863"/>
            <a:ext cx="940359" cy="7878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dirty="0">
                <a:solidFill>
                  <a:schemeClr val="tx1">
                    <a:lumMod val="90000"/>
                    <a:lumOff val="10000"/>
                  </a:schemeClr>
                </a:solidFill>
                <a:latin typeface="Bahnschrift SemiBold Condensed" panose="020B0502040204020203" pitchFamily="34" charset="0"/>
              </a:rPr>
              <a:t>3</a:t>
            </a:r>
            <a:r>
              <a:rPr lang="en-US" sz="4400" baseline="30000" dirty="0">
                <a:solidFill>
                  <a:schemeClr val="tx1">
                    <a:lumMod val="90000"/>
                    <a:lumOff val="10000"/>
                  </a:schemeClr>
                </a:solidFill>
                <a:latin typeface="Bahnschrift SemiBold Condensed" panose="020B0502040204020203" pitchFamily="34" charset="0"/>
              </a:rPr>
              <a:t>RD</a:t>
            </a:r>
            <a:endParaRPr lang="en-US" sz="4800" dirty="0">
              <a:solidFill>
                <a:schemeClr val="tx1">
                  <a:lumMod val="90000"/>
                  <a:lumOff val="1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grpSp>
        <p:nvGrpSpPr>
          <p:cNvPr id="285" name="Group 284">
            <a:extLst>
              <a:ext uri="{FF2B5EF4-FFF2-40B4-BE49-F238E27FC236}">
                <a16:creationId xmlns="" xmlns:a16="http://schemas.microsoft.com/office/drawing/2014/main" id="{98D52B38-C04D-4971-8D2B-4C30A4D9C833}"/>
              </a:ext>
            </a:extLst>
          </p:cNvPr>
          <p:cNvGrpSpPr/>
          <p:nvPr/>
        </p:nvGrpSpPr>
        <p:grpSpPr>
          <a:xfrm>
            <a:off x="2826619" y="1234831"/>
            <a:ext cx="6460417" cy="3503502"/>
            <a:chOff x="3302592" y="1739643"/>
            <a:chExt cx="2776142" cy="1580904"/>
          </a:xfrm>
        </p:grpSpPr>
        <p:sp>
          <p:nvSpPr>
            <p:cNvPr id="286" name="Title 1">
              <a:extLst>
                <a:ext uri="{FF2B5EF4-FFF2-40B4-BE49-F238E27FC236}">
                  <a16:creationId xmlns="" xmlns:a16="http://schemas.microsoft.com/office/drawing/2014/main" id="{621A841B-59D4-43F0-8359-EDBEA1426413}"/>
                </a:ext>
              </a:extLst>
            </p:cNvPr>
            <p:cNvSpPr txBox="1">
              <a:spLocks/>
            </p:cNvSpPr>
            <p:nvPr/>
          </p:nvSpPr>
          <p:spPr>
            <a:xfrm>
              <a:off x="3302592" y="1773298"/>
              <a:ext cx="620798" cy="904693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138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endParaRPr lang="en-US" sz="8800" dirty="0">
                <a:solidFill>
                  <a:schemeClr val="tx1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7" name="Title 1">
              <a:extLst>
                <a:ext uri="{FF2B5EF4-FFF2-40B4-BE49-F238E27FC236}">
                  <a16:creationId xmlns="" xmlns:a16="http://schemas.microsoft.com/office/drawing/2014/main" id="{6B477015-520E-42EC-A8C3-94F08BCA0569}"/>
                </a:ext>
              </a:extLst>
            </p:cNvPr>
            <p:cNvSpPr txBox="1">
              <a:spLocks/>
            </p:cNvSpPr>
            <p:nvPr/>
          </p:nvSpPr>
          <p:spPr>
            <a:xfrm>
              <a:off x="3749697" y="1739643"/>
              <a:ext cx="620798" cy="904693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16600" b="1" dirty="0">
                  <a:solidFill>
                    <a:srgbClr val="FFD700"/>
                  </a:solidFill>
                  <a:latin typeface="Times New Roman" panose="02020603050405020304" pitchFamily="18" charset="0"/>
                  <a:ea typeface="FZYaoTi" panose="02010601030101010101" pitchFamily="2" charset="-122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88" name="Title 1">
              <a:extLst>
                <a:ext uri="{FF2B5EF4-FFF2-40B4-BE49-F238E27FC236}">
                  <a16:creationId xmlns="" xmlns:a16="http://schemas.microsoft.com/office/drawing/2014/main" id="{C320EB06-20F1-4B29-93DC-102D56C5F456}"/>
                </a:ext>
              </a:extLst>
            </p:cNvPr>
            <p:cNvSpPr txBox="1">
              <a:spLocks/>
            </p:cNvSpPr>
            <p:nvPr/>
          </p:nvSpPr>
          <p:spPr>
            <a:xfrm>
              <a:off x="4156614" y="1773045"/>
              <a:ext cx="620798" cy="904693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138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289" name="Title 1">
              <a:extLst>
                <a:ext uri="{FF2B5EF4-FFF2-40B4-BE49-F238E27FC236}">
                  <a16:creationId xmlns="" xmlns:a16="http://schemas.microsoft.com/office/drawing/2014/main" id="{D1E679C7-2EA5-4EBE-BF66-C9D054EAFE28}"/>
                </a:ext>
              </a:extLst>
            </p:cNvPr>
            <p:cNvSpPr txBox="1">
              <a:spLocks/>
            </p:cNvSpPr>
            <p:nvPr/>
          </p:nvSpPr>
          <p:spPr>
            <a:xfrm>
              <a:off x="4583663" y="1771855"/>
              <a:ext cx="620798" cy="904693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138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290" name="Title 1">
              <a:extLst>
                <a:ext uri="{FF2B5EF4-FFF2-40B4-BE49-F238E27FC236}">
                  <a16:creationId xmlns="" xmlns:a16="http://schemas.microsoft.com/office/drawing/2014/main" id="{795F509A-BE88-4F8A-B49E-64F36AB5592E}"/>
                </a:ext>
              </a:extLst>
            </p:cNvPr>
            <p:cNvSpPr txBox="1">
              <a:spLocks/>
            </p:cNvSpPr>
            <p:nvPr/>
          </p:nvSpPr>
          <p:spPr>
            <a:xfrm>
              <a:off x="4840683" y="1770665"/>
              <a:ext cx="620798" cy="904693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13800" dirty="0">
                  <a:solidFill>
                    <a:schemeClr val="bg1">
                      <a:lumMod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</a:p>
          </p:txBody>
        </p:sp>
        <p:sp>
          <p:nvSpPr>
            <p:cNvPr id="291" name="Title 1">
              <a:extLst>
                <a:ext uri="{FF2B5EF4-FFF2-40B4-BE49-F238E27FC236}">
                  <a16:creationId xmlns="" xmlns:a16="http://schemas.microsoft.com/office/drawing/2014/main" id="{57D2B73B-C3F8-4E2C-93D7-7012EFC6B0A3}"/>
                </a:ext>
              </a:extLst>
            </p:cNvPr>
            <p:cNvSpPr txBox="1">
              <a:spLocks/>
            </p:cNvSpPr>
            <p:nvPr/>
          </p:nvSpPr>
          <p:spPr>
            <a:xfrm>
              <a:off x="5457936" y="1773840"/>
              <a:ext cx="620798" cy="904693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138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</a:p>
          </p:txBody>
        </p:sp>
        <p:sp>
          <p:nvSpPr>
            <p:cNvPr id="292" name="Title 1">
              <a:extLst>
                <a:ext uri="{FF2B5EF4-FFF2-40B4-BE49-F238E27FC236}">
                  <a16:creationId xmlns="" xmlns:a16="http://schemas.microsoft.com/office/drawing/2014/main" id="{BF0E89B5-2203-42D2-8668-749AE1D41122}"/>
                </a:ext>
              </a:extLst>
            </p:cNvPr>
            <p:cNvSpPr txBox="1">
              <a:spLocks/>
            </p:cNvSpPr>
            <p:nvPr/>
          </p:nvSpPr>
          <p:spPr>
            <a:xfrm>
              <a:off x="3302592" y="2408649"/>
              <a:ext cx="620798" cy="904693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13800" dirty="0">
                  <a:solidFill>
                    <a:schemeClr val="accent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293" name="Title 1">
              <a:extLst>
                <a:ext uri="{FF2B5EF4-FFF2-40B4-BE49-F238E27FC236}">
                  <a16:creationId xmlns="" xmlns:a16="http://schemas.microsoft.com/office/drawing/2014/main" id="{4DD84197-4072-4505-A5F5-2777F4ADEECD}"/>
                </a:ext>
              </a:extLst>
            </p:cNvPr>
            <p:cNvSpPr txBox="1">
              <a:spLocks/>
            </p:cNvSpPr>
            <p:nvPr/>
          </p:nvSpPr>
          <p:spPr>
            <a:xfrm>
              <a:off x="3788456" y="2391448"/>
              <a:ext cx="620798" cy="904693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16600" b="1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Times New Roman" panose="02020603050405020304" pitchFamily="18" charset="0"/>
                  <a:ea typeface="FZYaoTi" panose="02010601030101010101" pitchFamily="2" charset="-122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94" name="Title 1">
              <a:extLst>
                <a:ext uri="{FF2B5EF4-FFF2-40B4-BE49-F238E27FC236}">
                  <a16:creationId xmlns="" xmlns:a16="http://schemas.microsoft.com/office/drawing/2014/main" id="{38C2EBBB-7929-401D-9722-7A2757F9FE46}"/>
                </a:ext>
              </a:extLst>
            </p:cNvPr>
            <p:cNvSpPr txBox="1">
              <a:spLocks/>
            </p:cNvSpPr>
            <p:nvPr/>
          </p:nvSpPr>
          <p:spPr>
            <a:xfrm>
              <a:off x="4160702" y="2415854"/>
              <a:ext cx="620798" cy="904693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13800" dirty="0">
                  <a:solidFill>
                    <a:schemeClr val="bg1">
                      <a:lumMod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</a:p>
          </p:txBody>
        </p:sp>
        <p:sp>
          <p:nvSpPr>
            <p:cNvPr id="295" name="Title 1">
              <a:extLst>
                <a:ext uri="{FF2B5EF4-FFF2-40B4-BE49-F238E27FC236}">
                  <a16:creationId xmlns="" xmlns:a16="http://schemas.microsoft.com/office/drawing/2014/main" id="{B88BDBE7-3CAA-456C-9F0C-709B9B12321C}"/>
                </a:ext>
              </a:extLst>
            </p:cNvPr>
            <p:cNvSpPr txBox="1">
              <a:spLocks/>
            </p:cNvSpPr>
            <p:nvPr/>
          </p:nvSpPr>
          <p:spPr>
            <a:xfrm>
              <a:off x="4680615" y="2387010"/>
              <a:ext cx="620798" cy="904693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166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FZYaoTi" panose="02010601030101010101" pitchFamily="2" charset="-122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96" name="Title 1">
              <a:extLst>
                <a:ext uri="{FF2B5EF4-FFF2-40B4-BE49-F238E27FC236}">
                  <a16:creationId xmlns="" xmlns:a16="http://schemas.microsoft.com/office/drawing/2014/main" id="{7462B409-015A-483D-8514-FF2F203F2887}"/>
                </a:ext>
              </a:extLst>
            </p:cNvPr>
            <p:cNvSpPr txBox="1">
              <a:spLocks/>
            </p:cNvSpPr>
            <p:nvPr/>
          </p:nvSpPr>
          <p:spPr>
            <a:xfrm>
              <a:off x="5101706" y="2406386"/>
              <a:ext cx="620798" cy="904693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1380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297" name="Title 1">
              <a:extLst>
                <a:ext uri="{FF2B5EF4-FFF2-40B4-BE49-F238E27FC236}">
                  <a16:creationId xmlns="" xmlns:a16="http://schemas.microsoft.com/office/drawing/2014/main" id="{F97E03A8-FC17-49F2-95C9-5D642327F40C}"/>
                </a:ext>
              </a:extLst>
            </p:cNvPr>
            <p:cNvSpPr txBox="1">
              <a:spLocks/>
            </p:cNvSpPr>
            <p:nvPr/>
          </p:nvSpPr>
          <p:spPr>
            <a:xfrm>
              <a:off x="5583667" y="2533366"/>
              <a:ext cx="495067" cy="628648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4800" b="1" dirty="0">
                  <a:solidFill>
                    <a:schemeClr val="bg1">
                      <a:lumMod val="2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20</a:t>
              </a:r>
            </a:p>
            <a:p>
              <a:pPr algn="l"/>
              <a:r>
                <a:rPr lang="en-US" sz="4800" b="1" dirty="0">
                  <a:solidFill>
                    <a:schemeClr val="accent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25</a:t>
              </a:r>
            </a:p>
          </p:txBody>
        </p:sp>
      </p:grpSp>
      <p:sp>
        <p:nvSpPr>
          <p:cNvPr id="298" name="Title 1">
            <a:extLst>
              <a:ext uri="{FF2B5EF4-FFF2-40B4-BE49-F238E27FC236}">
                <a16:creationId xmlns="" xmlns:a16="http://schemas.microsoft.com/office/drawing/2014/main" id="{F03185B5-E087-4497-B5A3-210A9A949F9D}"/>
              </a:ext>
            </a:extLst>
          </p:cNvPr>
          <p:cNvSpPr txBox="1">
            <a:spLocks/>
          </p:cNvSpPr>
          <p:nvPr/>
        </p:nvSpPr>
        <p:spPr>
          <a:xfrm>
            <a:off x="2187236" y="5918126"/>
            <a:ext cx="1278766" cy="41199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solidFill>
                  <a:schemeClr val="tx1">
                    <a:lumMod val="90000"/>
                    <a:lumOff val="10000"/>
                  </a:schemeClr>
                </a:solidFill>
                <a:latin typeface="Bahnschrift SemiBold Condensed" panose="020B0502040204020203" pitchFamily="34" charset="0"/>
              </a:rPr>
              <a:t>THEME:</a:t>
            </a:r>
          </a:p>
        </p:txBody>
      </p:sp>
    </p:spTree>
    <p:extLst>
      <p:ext uri="{BB962C8B-B14F-4D97-AF65-F5344CB8AC3E}">
        <p14:creationId xmlns:p14="http://schemas.microsoft.com/office/powerpoint/2010/main" val="4013725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96000" y="510547"/>
            <a:ext cx="7519989" cy="5836905"/>
          </a:xfrm>
          <a:custGeom>
            <a:avLst/>
            <a:gdLst/>
            <a:ahLst/>
            <a:cxnLst/>
            <a:rect l="l" t="t" r="r" b="b"/>
            <a:pathLst>
              <a:path w="11279983" h="8755358">
                <a:moveTo>
                  <a:pt x="0" y="0"/>
                </a:moveTo>
                <a:lnTo>
                  <a:pt x="11279984" y="0"/>
                </a:lnTo>
                <a:lnTo>
                  <a:pt x="11279984" y="8755358"/>
                </a:lnTo>
                <a:lnTo>
                  <a:pt x="0" y="87553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 t="-11" b="-11"/>
            </a:stretch>
          </a:blipFill>
        </p:spPr>
      </p:sp>
      <p:grpSp>
        <p:nvGrpSpPr>
          <p:cNvPr id="3" name="Group 3"/>
          <p:cNvGrpSpPr/>
          <p:nvPr/>
        </p:nvGrpSpPr>
        <p:grpSpPr>
          <a:xfrm rot="-5400000">
            <a:off x="3819494" y="-4780589"/>
            <a:ext cx="1880171" cy="9519157"/>
            <a:chOff x="0" y="0"/>
            <a:chExt cx="3760343" cy="1903831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0343" cy="19038315"/>
            </a:xfrm>
            <a:custGeom>
              <a:avLst/>
              <a:gdLst/>
              <a:ahLst/>
              <a:cxnLst/>
              <a:rect l="l" t="t" r="r" b="b"/>
              <a:pathLst>
                <a:path w="3760343" h="19038315">
                  <a:moveTo>
                    <a:pt x="0" y="0"/>
                  </a:moveTo>
                  <a:lnTo>
                    <a:pt x="3760343" y="0"/>
                  </a:lnTo>
                  <a:lnTo>
                    <a:pt x="3760343" y="15230602"/>
                  </a:lnTo>
                  <a:lnTo>
                    <a:pt x="1880235" y="19038315"/>
                  </a:lnTo>
                  <a:lnTo>
                    <a:pt x="0" y="15230602"/>
                  </a:lnTo>
                  <a:close/>
                </a:path>
              </a:pathLst>
            </a:custGeom>
            <a:solidFill>
              <a:srgbClr val="002D7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5" name="Group 5"/>
          <p:cNvGrpSpPr/>
          <p:nvPr/>
        </p:nvGrpSpPr>
        <p:grpSpPr>
          <a:xfrm>
            <a:off x="5250264" y="36715"/>
            <a:ext cx="887349" cy="784797"/>
            <a:chOff x="0" y="0"/>
            <a:chExt cx="1774698" cy="156959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74698" cy="1569593"/>
            </a:xfrm>
            <a:custGeom>
              <a:avLst/>
              <a:gdLst/>
              <a:ahLst/>
              <a:cxnLst/>
              <a:rect l="l" t="t" r="r" b="b"/>
              <a:pathLst>
                <a:path w="1774698" h="1569593">
                  <a:moveTo>
                    <a:pt x="0" y="0"/>
                  </a:moveTo>
                  <a:lnTo>
                    <a:pt x="1774698" y="0"/>
                  </a:lnTo>
                  <a:lnTo>
                    <a:pt x="1774698" y="1569593"/>
                  </a:lnTo>
                  <a:lnTo>
                    <a:pt x="0" y="15695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0" b="-10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6231928" y="-10604"/>
            <a:ext cx="955548" cy="931672"/>
            <a:chOff x="0" y="0"/>
            <a:chExt cx="1911096" cy="186334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911096" cy="1863344"/>
            </a:xfrm>
            <a:custGeom>
              <a:avLst/>
              <a:gdLst/>
              <a:ahLst/>
              <a:cxnLst/>
              <a:rect l="l" t="t" r="r" b="b"/>
              <a:pathLst>
                <a:path w="1911096" h="1863344">
                  <a:moveTo>
                    <a:pt x="0" y="0"/>
                  </a:moveTo>
                  <a:lnTo>
                    <a:pt x="1911096" y="0"/>
                  </a:lnTo>
                  <a:lnTo>
                    <a:pt x="1911096" y="1863344"/>
                  </a:lnTo>
                  <a:lnTo>
                    <a:pt x="0" y="1863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15" b="-115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98977" y="391284"/>
            <a:ext cx="1035539" cy="768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lang="en-US" sz="6875" b="1" spc="-17">
                <a:solidFill>
                  <a:srgbClr val="FFE766"/>
                </a:solidFill>
                <a:latin typeface="DG Ghareeb Bold"/>
                <a:ea typeface="DG Ghareeb Bold"/>
                <a:cs typeface="DG Ghareeb Bold"/>
                <a:sym typeface="DG Ghareeb Bold"/>
              </a:rPr>
              <a:t>3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25147" y="289351"/>
            <a:ext cx="769306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28"/>
              </a:lnSpc>
            </a:pPr>
            <a:r>
              <a:rPr lang="en-US" sz="1600" b="1">
                <a:solidFill>
                  <a:srgbClr val="EBE5E5"/>
                </a:solidFill>
                <a:latin typeface="Arimo Bold"/>
                <a:ea typeface="Arimo Bold"/>
                <a:cs typeface="Arimo Bold"/>
                <a:sym typeface="Arimo Bold"/>
              </a:rPr>
              <a:t>rd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2530375" y="98220"/>
            <a:ext cx="6480197" cy="718005"/>
            <a:chOff x="0" y="0"/>
            <a:chExt cx="12960394" cy="143601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960394" cy="1436011"/>
            </a:xfrm>
            <a:custGeom>
              <a:avLst/>
              <a:gdLst/>
              <a:ahLst/>
              <a:cxnLst/>
              <a:rect l="l" t="t" r="r" b="b"/>
              <a:pathLst>
                <a:path w="12960394" h="1436011">
                  <a:moveTo>
                    <a:pt x="0" y="0"/>
                  </a:moveTo>
                  <a:lnTo>
                    <a:pt x="12960394" y="0"/>
                  </a:lnTo>
                  <a:lnTo>
                    <a:pt x="12960394" y="1436011"/>
                  </a:lnTo>
                  <a:lnTo>
                    <a:pt x="0" y="143601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9525"/>
              <a:ext cx="12960394" cy="1426486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>
                <a:lnSpc>
                  <a:spcPts val="1944"/>
                </a:lnSpc>
              </a:pPr>
              <a:r>
                <a:rPr lang="en-US" b="1">
                  <a:solidFill>
                    <a:srgbClr val="EBE5E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MULTIDISCIPLINARY </a:t>
              </a:r>
            </a:p>
            <a:p>
              <a:pPr>
                <a:lnSpc>
                  <a:spcPts val="1944"/>
                </a:lnSpc>
              </a:pPr>
              <a:r>
                <a:rPr lang="en-US" b="1">
                  <a:solidFill>
                    <a:srgbClr val="EBE5E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RESEARCH CONGRESS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15604" y="-64882"/>
            <a:ext cx="1653171" cy="906587"/>
            <a:chOff x="0" y="0"/>
            <a:chExt cx="3306342" cy="181317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306342" cy="1813173"/>
            </a:xfrm>
            <a:custGeom>
              <a:avLst/>
              <a:gdLst/>
              <a:ahLst/>
              <a:cxnLst/>
              <a:rect l="l" t="t" r="r" b="b"/>
              <a:pathLst>
                <a:path w="3306342" h="1813173">
                  <a:moveTo>
                    <a:pt x="0" y="0"/>
                  </a:moveTo>
                  <a:lnTo>
                    <a:pt x="3306342" y="0"/>
                  </a:lnTo>
                  <a:lnTo>
                    <a:pt x="3306342" y="1813173"/>
                  </a:lnTo>
                  <a:lnTo>
                    <a:pt x="0" y="18131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47625"/>
              <a:ext cx="3306342" cy="1765548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>
                <a:lnSpc>
                  <a:spcPts val="4320"/>
                </a:lnSpc>
              </a:pPr>
              <a:r>
                <a:rPr lang="en-US" sz="4000" b="1">
                  <a:solidFill>
                    <a:srgbClr val="EBE5E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SPAC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493514" y="1710057"/>
            <a:ext cx="11204972" cy="2975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01"/>
              </a:lnSpc>
            </a:pPr>
            <a:r>
              <a:rPr lang="en-US" sz="4834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Regional Enrollment Forecasting and Volatility Classification: A Machine Learning Approach for Adaptive Educational Resource Planning in the Philippines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93514" y="4962528"/>
            <a:ext cx="11204972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3"/>
              </a:lnSpc>
            </a:pPr>
            <a:r>
              <a:rPr lang="en-US" sz="2466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Nice O. Bulio &amp; Mc Sergel G. Cardaño</a:t>
            </a:r>
          </a:p>
        </p:txBody>
      </p:sp>
      <p:grpSp>
        <p:nvGrpSpPr>
          <p:cNvPr id="19" name="Group 19"/>
          <p:cNvGrpSpPr/>
          <p:nvPr/>
        </p:nvGrpSpPr>
        <p:grpSpPr>
          <a:xfrm rot="5400000">
            <a:off x="8579010" y="2124467"/>
            <a:ext cx="1880235" cy="9519159"/>
            <a:chOff x="0" y="0"/>
            <a:chExt cx="3760470" cy="1903831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760470" cy="19038317"/>
            </a:xfrm>
            <a:custGeom>
              <a:avLst/>
              <a:gdLst/>
              <a:ahLst/>
              <a:cxnLst/>
              <a:rect l="l" t="t" r="r" b="b"/>
              <a:pathLst>
                <a:path w="3760470" h="19038317">
                  <a:moveTo>
                    <a:pt x="3760343" y="0"/>
                  </a:moveTo>
                  <a:lnTo>
                    <a:pt x="0" y="0"/>
                  </a:lnTo>
                  <a:lnTo>
                    <a:pt x="0" y="15230602"/>
                  </a:lnTo>
                  <a:lnTo>
                    <a:pt x="1880235" y="19038317"/>
                  </a:lnTo>
                  <a:lnTo>
                    <a:pt x="3760470" y="15230602"/>
                  </a:lnTo>
                  <a:close/>
                </a:path>
              </a:pathLst>
            </a:custGeom>
            <a:solidFill>
              <a:srgbClr val="002D7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1" name="TextBox 21"/>
          <p:cNvSpPr txBox="1"/>
          <p:nvPr/>
        </p:nvSpPr>
        <p:spPr>
          <a:xfrm>
            <a:off x="5397140" y="1239268"/>
            <a:ext cx="1397721" cy="5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8"/>
              </a:lnSpc>
            </a:pPr>
            <a:r>
              <a:rPr lang="en-US" sz="3600" b="1" u="sng">
                <a:solidFill>
                  <a:srgbClr val="001B4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797523" y="5722826"/>
            <a:ext cx="1527239" cy="396621"/>
            <a:chOff x="0" y="0"/>
            <a:chExt cx="3054477" cy="79324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054477" cy="793242"/>
            </a:xfrm>
            <a:custGeom>
              <a:avLst/>
              <a:gdLst/>
              <a:ahLst/>
              <a:cxnLst/>
              <a:rect l="l" t="t" r="r" b="b"/>
              <a:pathLst>
                <a:path w="3054477" h="793242">
                  <a:moveTo>
                    <a:pt x="0" y="0"/>
                  </a:moveTo>
                  <a:lnTo>
                    <a:pt x="3054477" y="0"/>
                  </a:lnTo>
                  <a:lnTo>
                    <a:pt x="3054477" y="793242"/>
                  </a:lnTo>
                  <a:lnTo>
                    <a:pt x="0" y="793242"/>
                  </a:lnTo>
                  <a:close/>
                </a:path>
              </a:pathLst>
            </a:custGeom>
            <a:solidFill>
              <a:srgbClr val="EBBD1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4" name="TextBox 24"/>
          <p:cNvSpPr txBox="1"/>
          <p:nvPr/>
        </p:nvSpPr>
        <p:spPr>
          <a:xfrm>
            <a:off x="820101" y="5712067"/>
            <a:ext cx="1482067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</a:pPr>
            <a:r>
              <a:rPr lang="en-US" b="1">
                <a:solidFill>
                  <a:srgbClr val="EBE5E5"/>
                </a:solidFill>
                <a:latin typeface="Britannic Bold"/>
                <a:ea typeface="Britannic Bold"/>
                <a:cs typeface="Britannic Bold"/>
                <a:sym typeface="Britannic Bold"/>
              </a:rPr>
              <a:t>ENLIGHTEN.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2324747" y="5722826"/>
            <a:ext cx="1570037" cy="396621"/>
            <a:chOff x="0" y="0"/>
            <a:chExt cx="3140075" cy="79324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140075" cy="793242"/>
            </a:xfrm>
            <a:custGeom>
              <a:avLst/>
              <a:gdLst/>
              <a:ahLst/>
              <a:cxnLst/>
              <a:rect l="l" t="t" r="r" b="b"/>
              <a:pathLst>
                <a:path w="3140075" h="793242">
                  <a:moveTo>
                    <a:pt x="0" y="0"/>
                  </a:moveTo>
                  <a:lnTo>
                    <a:pt x="3140075" y="0"/>
                  </a:lnTo>
                  <a:lnTo>
                    <a:pt x="3140075" y="793242"/>
                  </a:lnTo>
                  <a:lnTo>
                    <a:pt x="0" y="793242"/>
                  </a:lnTo>
                  <a:close/>
                </a:path>
              </a:pathLst>
            </a:custGeom>
            <a:solidFill>
              <a:srgbClr val="C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7" name="TextBox 27"/>
          <p:cNvSpPr txBox="1"/>
          <p:nvPr/>
        </p:nvSpPr>
        <p:spPr>
          <a:xfrm>
            <a:off x="2347326" y="5712067"/>
            <a:ext cx="1524857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2000" b="1">
                <a:solidFill>
                  <a:srgbClr val="EBE5E5"/>
                </a:solidFill>
                <a:latin typeface="Britannic Bold"/>
                <a:ea typeface="Britannic Bold"/>
                <a:cs typeface="Britannic Bold"/>
                <a:sym typeface="Britannic Bold"/>
              </a:rPr>
              <a:t>EMPOWER.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999319" y="6119684"/>
            <a:ext cx="1325435" cy="396621"/>
            <a:chOff x="0" y="0"/>
            <a:chExt cx="2650871" cy="79324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650871" cy="793242"/>
            </a:xfrm>
            <a:custGeom>
              <a:avLst/>
              <a:gdLst/>
              <a:ahLst/>
              <a:cxnLst/>
              <a:rect l="l" t="t" r="r" b="b"/>
              <a:pathLst>
                <a:path w="2650871" h="793242">
                  <a:moveTo>
                    <a:pt x="0" y="0"/>
                  </a:moveTo>
                  <a:lnTo>
                    <a:pt x="2650871" y="0"/>
                  </a:lnTo>
                  <a:lnTo>
                    <a:pt x="2650871" y="793242"/>
                  </a:lnTo>
                  <a:lnTo>
                    <a:pt x="0" y="793242"/>
                  </a:lnTo>
                  <a:close/>
                </a:path>
              </a:pathLst>
            </a:custGeom>
            <a:solidFill>
              <a:srgbClr val="0047B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30" name="TextBox 30"/>
          <p:cNvSpPr txBox="1"/>
          <p:nvPr/>
        </p:nvSpPr>
        <p:spPr>
          <a:xfrm>
            <a:off x="1021896" y="6108925"/>
            <a:ext cx="1280272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7"/>
              </a:lnSpc>
            </a:pPr>
            <a:r>
              <a:rPr lang="en-US" sz="2219" b="1">
                <a:solidFill>
                  <a:srgbClr val="EBE5E5"/>
                </a:solidFill>
                <a:latin typeface="Britannic Bold"/>
                <a:ea typeface="Britannic Bold"/>
                <a:cs typeface="Britannic Bold"/>
                <a:sym typeface="Britannic Bold"/>
              </a:rPr>
              <a:t>ENGAGE: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2324746" y="6118915"/>
            <a:ext cx="1476185" cy="396621"/>
            <a:chOff x="0" y="0"/>
            <a:chExt cx="2952370" cy="793242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952369" cy="793242"/>
            </a:xfrm>
            <a:custGeom>
              <a:avLst/>
              <a:gdLst/>
              <a:ahLst/>
              <a:cxnLst/>
              <a:rect l="l" t="t" r="r" b="b"/>
              <a:pathLst>
                <a:path w="2952369" h="793242">
                  <a:moveTo>
                    <a:pt x="0" y="0"/>
                  </a:moveTo>
                  <a:lnTo>
                    <a:pt x="2952369" y="0"/>
                  </a:lnTo>
                  <a:lnTo>
                    <a:pt x="2952369" y="793242"/>
                  </a:lnTo>
                  <a:lnTo>
                    <a:pt x="0" y="793242"/>
                  </a:lnTo>
                  <a:close/>
                </a:path>
              </a:pathLst>
            </a:custGeom>
            <a:solidFill>
              <a:srgbClr val="19191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33" name="TextBox 33"/>
          <p:cNvSpPr txBox="1"/>
          <p:nvPr/>
        </p:nvSpPr>
        <p:spPr>
          <a:xfrm>
            <a:off x="2347324" y="6108156"/>
            <a:ext cx="1431003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2000" b="1">
                <a:solidFill>
                  <a:srgbClr val="EBE5E5"/>
                </a:solidFill>
                <a:latin typeface="Britannic Bold"/>
                <a:ea typeface="Britannic Bold"/>
                <a:cs typeface="Britannic Bold"/>
                <a:sym typeface="Britannic Bold"/>
              </a:rPr>
              <a:t>I WILL GO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-81256" y="5668139"/>
            <a:ext cx="1215772" cy="1333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69"/>
              </a:lnSpc>
            </a:pPr>
            <a:r>
              <a:rPr lang="en-US" sz="9600">
                <a:solidFill>
                  <a:srgbClr val="DFC991"/>
                </a:solidFill>
                <a:latin typeface="Arimo"/>
                <a:ea typeface="Arimo"/>
                <a:cs typeface="Arimo"/>
                <a:sym typeface="Arimo"/>
              </a:rPr>
              <a:t>“</a:t>
            </a:r>
          </a:p>
        </p:txBody>
      </p:sp>
      <p:sp>
        <p:nvSpPr>
          <p:cNvPr id="35" name="TextBox 35"/>
          <p:cNvSpPr txBox="1"/>
          <p:nvPr/>
        </p:nvSpPr>
        <p:spPr>
          <a:xfrm rot="-10800000">
            <a:off x="3602487" y="5007429"/>
            <a:ext cx="1215772" cy="1333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69"/>
              </a:lnSpc>
            </a:pPr>
            <a:r>
              <a:rPr lang="en-US" sz="9600">
                <a:solidFill>
                  <a:srgbClr val="DFC991"/>
                </a:solidFill>
                <a:latin typeface="Arimo"/>
                <a:ea typeface="Arimo"/>
                <a:cs typeface="Arimo"/>
                <a:sym typeface="Arimo"/>
              </a:rPr>
              <a:t>“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606116" y="6248524"/>
            <a:ext cx="5375784" cy="5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8"/>
              </a:lnSpc>
            </a:pPr>
            <a:r>
              <a:rPr lang="en-US" sz="3600" b="1">
                <a:solidFill>
                  <a:srgbClr val="EBE5E5"/>
                </a:solidFill>
                <a:latin typeface="Arimo Bold"/>
                <a:ea typeface="Arimo Bold"/>
                <a:cs typeface="Arimo Bold"/>
                <a:sym typeface="Arimo Bold"/>
              </a:rPr>
              <a:t>KALIMUHAGAN 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96000" y="510547"/>
            <a:ext cx="7519989" cy="5836905"/>
          </a:xfrm>
          <a:custGeom>
            <a:avLst/>
            <a:gdLst/>
            <a:ahLst/>
            <a:cxnLst/>
            <a:rect l="l" t="t" r="r" b="b"/>
            <a:pathLst>
              <a:path w="11279983" h="8755358">
                <a:moveTo>
                  <a:pt x="0" y="0"/>
                </a:moveTo>
                <a:lnTo>
                  <a:pt x="11279984" y="0"/>
                </a:lnTo>
                <a:lnTo>
                  <a:pt x="11279984" y="8755358"/>
                </a:lnTo>
                <a:lnTo>
                  <a:pt x="0" y="87553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 t="-11" b="-11"/>
            </a:stretch>
          </a:blipFill>
        </p:spPr>
      </p:sp>
      <p:grpSp>
        <p:nvGrpSpPr>
          <p:cNvPr id="3" name="Group 3"/>
          <p:cNvGrpSpPr/>
          <p:nvPr/>
        </p:nvGrpSpPr>
        <p:grpSpPr>
          <a:xfrm rot="-5400000">
            <a:off x="3819494" y="-4780589"/>
            <a:ext cx="1880171" cy="9519157"/>
            <a:chOff x="0" y="0"/>
            <a:chExt cx="3760343" cy="1903831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0343" cy="19038315"/>
            </a:xfrm>
            <a:custGeom>
              <a:avLst/>
              <a:gdLst/>
              <a:ahLst/>
              <a:cxnLst/>
              <a:rect l="l" t="t" r="r" b="b"/>
              <a:pathLst>
                <a:path w="3760343" h="19038315">
                  <a:moveTo>
                    <a:pt x="0" y="0"/>
                  </a:moveTo>
                  <a:lnTo>
                    <a:pt x="3760343" y="0"/>
                  </a:lnTo>
                  <a:lnTo>
                    <a:pt x="3760343" y="15230602"/>
                  </a:lnTo>
                  <a:lnTo>
                    <a:pt x="1880235" y="19038315"/>
                  </a:lnTo>
                  <a:lnTo>
                    <a:pt x="0" y="15230602"/>
                  </a:lnTo>
                  <a:close/>
                </a:path>
              </a:pathLst>
            </a:custGeom>
            <a:solidFill>
              <a:srgbClr val="002D7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5" name="Group 5"/>
          <p:cNvGrpSpPr/>
          <p:nvPr/>
        </p:nvGrpSpPr>
        <p:grpSpPr>
          <a:xfrm>
            <a:off x="5250264" y="36715"/>
            <a:ext cx="887349" cy="784797"/>
            <a:chOff x="0" y="0"/>
            <a:chExt cx="1774698" cy="156959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74698" cy="1569593"/>
            </a:xfrm>
            <a:custGeom>
              <a:avLst/>
              <a:gdLst/>
              <a:ahLst/>
              <a:cxnLst/>
              <a:rect l="l" t="t" r="r" b="b"/>
              <a:pathLst>
                <a:path w="1774698" h="1569593">
                  <a:moveTo>
                    <a:pt x="0" y="0"/>
                  </a:moveTo>
                  <a:lnTo>
                    <a:pt x="1774698" y="0"/>
                  </a:lnTo>
                  <a:lnTo>
                    <a:pt x="1774698" y="1569593"/>
                  </a:lnTo>
                  <a:lnTo>
                    <a:pt x="0" y="15695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0" b="-10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6231928" y="-10604"/>
            <a:ext cx="955548" cy="931672"/>
            <a:chOff x="0" y="0"/>
            <a:chExt cx="1911096" cy="186334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911096" cy="1863344"/>
            </a:xfrm>
            <a:custGeom>
              <a:avLst/>
              <a:gdLst/>
              <a:ahLst/>
              <a:cxnLst/>
              <a:rect l="l" t="t" r="r" b="b"/>
              <a:pathLst>
                <a:path w="1911096" h="1863344">
                  <a:moveTo>
                    <a:pt x="0" y="0"/>
                  </a:moveTo>
                  <a:lnTo>
                    <a:pt x="1911096" y="0"/>
                  </a:lnTo>
                  <a:lnTo>
                    <a:pt x="1911096" y="1863344"/>
                  </a:lnTo>
                  <a:lnTo>
                    <a:pt x="0" y="1863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15" b="-115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98977" y="391284"/>
            <a:ext cx="1035539" cy="768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lang="en-US" sz="6875" b="1" spc="-17">
                <a:solidFill>
                  <a:srgbClr val="FFE766"/>
                </a:solidFill>
                <a:latin typeface="DG Ghareeb Bold"/>
                <a:ea typeface="DG Ghareeb Bold"/>
                <a:cs typeface="DG Ghareeb Bold"/>
                <a:sym typeface="DG Ghareeb Bold"/>
              </a:rPr>
              <a:t>3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25147" y="289351"/>
            <a:ext cx="769306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28"/>
              </a:lnSpc>
            </a:pPr>
            <a:r>
              <a:rPr lang="en-US" sz="1600" b="1">
                <a:solidFill>
                  <a:srgbClr val="EBE5E5"/>
                </a:solidFill>
                <a:latin typeface="Arimo Bold"/>
                <a:ea typeface="Arimo Bold"/>
                <a:cs typeface="Arimo Bold"/>
                <a:sym typeface="Arimo Bold"/>
              </a:rPr>
              <a:t>rd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2530375" y="98220"/>
            <a:ext cx="6480197" cy="718005"/>
            <a:chOff x="0" y="0"/>
            <a:chExt cx="12960394" cy="143601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960394" cy="1436011"/>
            </a:xfrm>
            <a:custGeom>
              <a:avLst/>
              <a:gdLst/>
              <a:ahLst/>
              <a:cxnLst/>
              <a:rect l="l" t="t" r="r" b="b"/>
              <a:pathLst>
                <a:path w="12960394" h="1436011">
                  <a:moveTo>
                    <a:pt x="0" y="0"/>
                  </a:moveTo>
                  <a:lnTo>
                    <a:pt x="12960394" y="0"/>
                  </a:lnTo>
                  <a:lnTo>
                    <a:pt x="12960394" y="1436011"/>
                  </a:lnTo>
                  <a:lnTo>
                    <a:pt x="0" y="143601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9525"/>
              <a:ext cx="12960394" cy="1426486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>
                <a:lnSpc>
                  <a:spcPts val="1944"/>
                </a:lnSpc>
              </a:pPr>
              <a:r>
                <a:rPr lang="en-US" b="1">
                  <a:solidFill>
                    <a:srgbClr val="EBE5E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MULTIDISCIPLINARY </a:t>
              </a:r>
            </a:p>
            <a:p>
              <a:pPr>
                <a:lnSpc>
                  <a:spcPts val="1944"/>
                </a:lnSpc>
              </a:pPr>
              <a:r>
                <a:rPr lang="en-US" b="1">
                  <a:solidFill>
                    <a:srgbClr val="EBE5E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RESEARCH CONGRESS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15604" y="-64882"/>
            <a:ext cx="1653171" cy="906587"/>
            <a:chOff x="0" y="0"/>
            <a:chExt cx="3306342" cy="181317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306342" cy="1813173"/>
            </a:xfrm>
            <a:custGeom>
              <a:avLst/>
              <a:gdLst/>
              <a:ahLst/>
              <a:cxnLst/>
              <a:rect l="l" t="t" r="r" b="b"/>
              <a:pathLst>
                <a:path w="3306342" h="1813173">
                  <a:moveTo>
                    <a:pt x="0" y="0"/>
                  </a:moveTo>
                  <a:lnTo>
                    <a:pt x="3306342" y="0"/>
                  </a:lnTo>
                  <a:lnTo>
                    <a:pt x="3306342" y="1813173"/>
                  </a:lnTo>
                  <a:lnTo>
                    <a:pt x="0" y="18131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47625"/>
              <a:ext cx="3306342" cy="1765548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>
                <a:lnSpc>
                  <a:spcPts val="4320"/>
                </a:lnSpc>
              </a:pPr>
              <a:r>
                <a:rPr lang="en-US" sz="4000" b="1">
                  <a:solidFill>
                    <a:srgbClr val="EBE5E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SPAC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379520" y="1785180"/>
            <a:ext cx="5852409" cy="3462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6"/>
              </a:lnSpc>
            </a:pPr>
            <a:r>
              <a:rPr lang="en-US" sz="3755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Philippine basic education system faces critical enrollment volatility that threatens resource allocation efficiency and educational equity across regions.</a:t>
            </a:r>
          </a:p>
        </p:txBody>
      </p:sp>
      <p:sp>
        <p:nvSpPr>
          <p:cNvPr id="18" name="Freeform 18"/>
          <p:cNvSpPr/>
          <p:nvPr/>
        </p:nvSpPr>
        <p:spPr>
          <a:xfrm>
            <a:off x="8868294" y="370155"/>
            <a:ext cx="2611623" cy="2611623"/>
          </a:xfrm>
          <a:custGeom>
            <a:avLst/>
            <a:gdLst/>
            <a:ahLst/>
            <a:cxnLst/>
            <a:rect l="l" t="t" r="r" b="b"/>
            <a:pathLst>
              <a:path w="3917434" h="3917435">
                <a:moveTo>
                  <a:pt x="0" y="0"/>
                </a:moveTo>
                <a:lnTo>
                  <a:pt x="3917435" y="0"/>
                </a:lnTo>
                <a:lnTo>
                  <a:pt x="3917435" y="3917435"/>
                </a:lnTo>
                <a:lnTo>
                  <a:pt x="0" y="391743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6096000" y="3120145"/>
            <a:ext cx="2636640" cy="2636640"/>
          </a:xfrm>
          <a:custGeom>
            <a:avLst/>
            <a:gdLst/>
            <a:ahLst/>
            <a:cxnLst/>
            <a:rect l="l" t="t" r="r" b="b"/>
            <a:pathLst>
              <a:path w="3954960" h="3954960">
                <a:moveTo>
                  <a:pt x="0" y="0"/>
                </a:moveTo>
                <a:lnTo>
                  <a:pt x="3954960" y="0"/>
                </a:lnTo>
                <a:lnTo>
                  <a:pt x="3954960" y="3954960"/>
                </a:lnTo>
                <a:lnTo>
                  <a:pt x="0" y="395496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8868294" y="3118880"/>
            <a:ext cx="2637906" cy="2637906"/>
          </a:xfrm>
          <a:custGeom>
            <a:avLst/>
            <a:gdLst/>
            <a:ahLst/>
            <a:cxnLst/>
            <a:rect l="l" t="t" r="r" b="b"/>
            <a:pathLst>
              <a:path w="3956859" h="3956859">
                <a:moveTo>
                  <a:pt x="0" y="0"/>
                </a:moveTo>
                <a:lnTo>
                  <a:pt x="3956859" y="0"/>
                </a:lnTo>
                <a:lnTo>
                  <a:pt x="3956859" y="3956859"/>
                </a:lnTo>
                <a:lnTo>
                  <a:pt x="0" y="395685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 flipV="1">
            <a:off x="9358067" y="799426"/>
            <a:ext cx="589823" cy="437207"/>
          </a:xfrm>
          <a:custGeom>
            <a:avLst/>
            <a:gdLst/>
            <a:ahLst/>
            <a:cxnLst/>
            <a:rect l="l" t="t" r="r" b="b"/>
            <a:pathLst>
              <a:path w="884735" h="655810">
                <a:moveTo>
                  <a:pt x="0" y="655811"/>
                </a:moveTo>
                <a:lnTo>
                  <a:pt x="884735" y="655811"/>
                </a:lnTo>
                <a:lnTo>
                  <a:pt x="884735" y="0"/>
                </a:lnTo>
                <a:lnTo>
                  <a:pt x="0" y="0"/>
                </a:lnTo>
                <a:lnTo>
                  <a:pt x="0" y="655811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="" xmlns:asvg="http://schemas.microsoft.com/office/drawing/2016/SVG/main" r:embed="rId14"/>
                </a:ext>
              </a:extLst>
            </a:blip>
            <a:stretch>
              <a:fillRect t="-46" b="-46"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6645023" y="3537780"/>
            <a:ext cx="535387" cy="439687"/>
          </a:xfrm>
          <a:custGeom>
            <a:avLst/>
            <a:gdLst/>
            <a:ahLst/>
            <a:cxnLst/>
            <a:rect l="l" t="t" r="r" b="b"/>
            <a:pathLst>
              <a:path w="803081" h="659530">
                <a:moveTo>
                  <a:pt x="0" y="0"/>
                </a:moveTo>
                <a:lnTo>
                  <a:pt x="803081" y="0"/>
                </a:lnTo>
                <a:lnTo>
                  <a:pt x="803081" y="659530"/>
                </a:lnTo>
                <a:lnTo>
                  <a:pt x="0" y="65953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="" xmlns:asvg="http://schemas.microsoft.com/office/drawing/2016/SVG/main" r:embed="rId16"/>
                </a:ext>
              </a:extLst>
            </a:blip>
            <a:stretch>
              <a:fillRect t="-138" b="-138"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9468470" y="3581915"/>
            <a:ext cx="633687" cy="518471"/>
          </a:xfrm>
          <a:custGeom>
            <a:avLst/>
            <a:gdLst/>
            <a:ahLst/>
            <a:cxnLst/>
            <a:rect l="l" t="t" r="r" b="b"/>
            <a:pathLst>
              <a:path w="950530" h="777706">
                <a:moveTo>
                  <a:pt x="0" y="0"/>
                </a:moveTo>
                <a:lnTo>
                  <a:pt x="950531" y="0"/>
                </a:lnTo>
                <a:lnTo>
                  <a:pt x="950531" y="777706"/>
                </a:lnTo>
                <a:lnTo>
                  <a:pt x="0" y="77770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="" xmlns:asvg="http://schemas.microsoft.com/office/drawing/2016/SVG/main" r:embed="rId18"/>
                </a:ext>
              </a:extLst>
            </a:blip>
            <a:stretch>
              <a:fillRect l="-388" r="-388"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9484741" y="491498"/>
            <a:ext cx="1357232" cy="242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99"/>
              </a:lnSpc>
            </a:pPr>
            <a:r>
              <a:rPr lang="en-US" sz="1666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2010-2021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935551" y="835484"/>
            <a:ext cx="1357232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15"/>
              </a:lnSpc>
            </a:pPr>
            <a:r>
              <a:rPr lang="en-US" sz="2262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±250,000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069191" y="1321714"/>
            <a:ext cx="2250415" cy="884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9"/>
              </a:lnSpc>
            </a:pPr>
            <a:r>
              <a:rPr lang="en-US" sz="1941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Annual enrollment fluctuation in volatile regions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334242" y="2369465"/>
            <a:ext cx="1877712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5"/>
              </a:lnSpc>
            </a:pPr>
            <a:r>
              <a:rPr lang="en-US" sz="1345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Analysis of DepEd data </a:t>
            </a:r>
          </a:p>
          <a:p>
            <a:pPr algn="ctr">
              <a:lnSpc>
                <a:spcPts val="1615"/>
              </a:lnSpc>
            </a:pPr>
            <a:r>
              <a:rPr lang="en-US" sz="1345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(2010-2021)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493711" y="3205176"/>
            <a:ext cx="1910052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9"/>
              </a:lnSpc>
            </a:pPr>
            <a:r>
              <a:rPr lang="en-US" sz="1525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NCR, CALABARZON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152673" y="3589796"/>
            <a:ext cx="1373708" cy="326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5"/>
              </a:lnSpc>
            </a:pPr>
            <a:r>
              <a:rPr lang="en-US" sz="2219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18-22%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187952" y="4122126"/>
            <a:ext cx="2414636" cy="981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5"/>
              </a:lnSpc>
            </a:pPr>
            <a:r>
              <a:rPr lang="en-US" sz="2162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Coefficient of Variation in high-volatility regions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419176" y="5289456"/>
            <a:ext cx="1910052" cy="397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1"/>
              </a:lnSpc>
            </a:pPr>
            <a:r>
              <a:rPr lang="en-US" sz="1293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3× higher than stable regions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468469" y="3192476"/>
            <a:ext cx="1373504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1"/>
              </a:lnSpc>
            </a:pPr>
            <a:r>
              <a:rPr lang="en-US" sz="1684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Ground Reality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919279" y="3662376"/>
            <a:ext cx="1373504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4"/>
              </a:lnSpc>
            </a:pPr>
            <a:r>
              <a:rPr lang="en-US" sz="2287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+250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069191" y="4141746"/>
            <a:ext cx="2300975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5"/>
              </a:lnSpc>
            </a:pPr>
            <a:r>
              <a:rPr lang="en-US" sz="2029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Surprise enrollees in a single Davao school (2021)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334242" y="5291096"/>
            <a:ext cx="1900684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31"/>
              </a:lnSpc>
            </a:pPr>
            <a:r>
              <a:rPr lang="en-US" sz="1359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Master Teacher III testimony (2025)</a:t>
            </a:r>
          </a:p>
        </p:txBody>
      </p:sp>
      <p:grpSp>
        <p:nvGrpSpPr>
          <p:cNvPr id="36" name="Group 36"/>
          <p:cNvGrpSpPr/>
          <p:nvPr/>
        </p:nvGrpSpPr>
        <p:grpSpPr>
          <a:xfrm rot="5400000">
            <a:off x="8528351" y="2322712"/>
            <a:ext cx="1880235" cy="9519159"/>
            <a:chOff x="0" y="0"/>
            <a:chExt cx="3760470" cy="19038317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3760470" cy="19038317"/>
            </a:xfrm>
            <a:custGeom>
              <a:avLst/>
              <a:gdLst/>
              <a:ahLst/>
              <a:cxnLst/>
              <a:rect l="l" t="t" r="r" b="b"/>
              <a:pathLst>
                <a:path w="3760470" h="19038317">
                  <a:moveTo>
                    <a:pt x="3760343" y="0"/>
                  </a:moveTo>
                  <a:lnTo>
                    <a:pt x="0" y="0"/>
                  </a:lnTo>
                  <a:lnTo>
                    <a:pt x="0" y="15230602"/>
                  </a:lnTo>
                  <a:lnTo>
                    <a:pt x="1880235" y="19038317"/>
                  </a:lnTo>
                  <a:lnTo>
                    <a:pt x="3760470" y="15230602"/>
                  </a:lnTo>
                  <a:close/>
                </a:path>
              </a:pathLst>
            </a:custGeom>
            <a:solidFill>
              <a:srgbClr val="002D7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38" name="TextBox 38"/>
          <p:cNvSpPr txBox="1"/>
          <p:nvPr/>
        </p:nvSpPr>
        <p:spPr>
          <a:xfrm>
            <a:off x="801778" y="1105062"/>
            <a:ext cx="6351263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3000" b="1">
                <a:solidFill>
                  <a:srgbClr val="002D7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Introduction/ Background of the Study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797523" y="5722826"/>
            <a:ext cx="1527239" cy="396621"/>
            <a:chOff x="0" y="0"/>
            <a:chExt cx="3054477" cy="793242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3054477" cy="793242"/>
            </a:xfrm>
            <a:custGeom>
              <a:avLst/>
              <a:gdLst/>
              <a:ahLst/>
              <a:cxnLst/>
              <a:rect l="l" t="t" r="r" b="b"/>
              <a:pathLst>
                <a:path w="3054477" h="793242">
                  <a:moveTo>
                    <a:pt x="0" y="0"/>
                  </a:moveTo>
                  <a:lnTo>
                    <a:pt x="3054477" y="0"/>
                  </a:lnTo>
                  <a:lnTo>
                    <a:pt x="3054477" y="793242"/>
                  </a:lnTo>
                  <a:lnTo>
                    <a:pt x="0" y="793242"/>
                  </a:lnTo>
                  <a:close/>
                </a:path>
              </a:pathLst>
            </a:custGeom>
            <a:solidFill>
              <a:srgbClr val="EBBD1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41" name="TextBox 41"/>
          <p:cNvSpPr txBox="1"/>
          <p:nvPr/>
        </p:nvSpPr>
        <p:spPr>
          <a:xfrm>
            <a:off x="820101" y="5712067"/>
            <a:ext cx="1482067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</a:pPr>
            <a:r>
              <a:rPr lang="en-US" b="1">
                <a:solidFill>
                  <a:srgbClr val="EBE5E5"/>
                </a:solidFill>
                <a:latin typeface="Britannic Bold"/>
                <a:ea typeface="Britannic Bold"/>
                <a:cs typeface="Britannic Bold"/>
                <a:sym typeface="Britannic Bold"/>
              </a:rPr>
              <a:t>ENLIGHTEN.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2324747" y="5722826"/>
            <a:ext cx="1570037" cy="396621"/>
            <a:chOff x="0" y="0"/>
            <a:chExt cx="3140075" cy="793242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3140075" cy="793242"/>
            </a:xfrm>
            <a:custGeom>
              <a:avLst/>
              <a:gdLst/>
              <a:ahLst/>
              <a:cxnLst/>
              <a:rect l="l" t="t" r="r" b="b"/>
              <a:pathLst>
                <a:path w="3140075" h="793242">
                  <a:moveTo>
                    <a:pt x="0" y="0"/>
                  </a:moveTo>
                  <a:lnTo>
                    <a:pt x="3140075" y="0"/>
                  </a:lnTo>
                  <a:lnTo>
                    <a:pt x="3140075" y="793242"/>
                  </a:lnTo>
                  <a:lnTo>
                    <a:pt x="0" y="793242"/>
                  </a:lnTo>
                  <a:close/>
                </a:path>
              </a:pathLst>
            </a:custGeom>
            <a:solidFill>
              <a:srgbClr val="C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44" name="TextBox 44"/>
          <p:cNvSpPr txBox="1"/>
          <p:nvPr/>
        </p:nvSpPr>
        <p:spPr>
          <a:xfrm>
            <a:off x="2347326" y="5712067"/>
            <a:ext cx="1524857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2000" b="1">
                <a:solidFill>
                  <a:srgbClr val="EBE5E5"/>
                </a:solidFill>
                <a:latin typeface="Britannic Bold"/>
                <a:ea typeface="Britannic Bold"/>
                <a:cs typeface="Britannic Bold"/>
                <a:sym typeface="Britannic Bold"/>
              </a:rPr>
              <a:t>EMPOWER.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999319" y="6119684"/>
            <a:ext cx="1325435" cy="396621"/>
            <a:chOff x="0" y="0"/>
            <a:chExt cx="2650871" cy="793242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2650871" cy="793242"/>
            </a:xfrm>
            <a:custGeom>
              <a:avLst/>
              <a:gdLst/>
              <a:ahLst/>
              <a:cxnLst/>
              <a:rect l="l" t="t" r="r" b="b"/>
              <a:pathLst>
                <a:path w="2650871" h="793242">
                  <a:moveTo>
                    <a:pt x="0" y="0"/>
                  </a:moveTo>
                  <a:lnTo>
                    <a:pt x="2650871" y="0"/>
                  </a:lnTo>
                  <a:lnTo>
                    <a:pt x="2650871" y="793242"/>
                  </a:lnTo>
                  <a:lnTo>
                    <a:pt x="0" y="793242"/>
                  </a:lnTo>
                  <a:close/>
                </a:path>
              </a:pathLst>
            </a:custGeom>
            <a:solidFill>
              <a:srgbClr val="0047B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47" name="TextBox 47"/>
          <p:cNvSpPr txBox="1"/>
          <p:nvPr/>
        </p:nvSpPr>
        <p:spPr>
          <a:xfrm>
            <a:off x="1021896" y="6108925"/>
            <a:ext cx="1280272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7"/>
              </a:lnSpc>
            </a:pPr>
            <a:r>
              <a:rPr lang="en-US" sz="2219" b="1">
                <a:solidFill>
                  <a:srgbClr val="EBE5E5"/>
                </a:solidFill>
                <a:latin typeface="Britannic Bold"/>
                <a:ea typeface="Britannic Bold"/>
                <a:cs typeface="Britannic Bold"/>
                <a:sym typeface="Britannic Bold"/>
              </a:rPr>
              <a:t>ENGAGE:</a:t>
            </a:r>
          </a:p>
        </p:txBody>
      </p:sp>
      <p:grpSp>
        <p:nvGrpSpPr>
          <p:cNvPr id="48" name="Group 48"/>
          <p:cNvGrpSpPr/>
          <p:nvPr/>
        </p:nvGrpSpPr>
        <p:grpSpPr>
          <a:xfrm>
            <a:off x="2324746" y="6118915"/>
            <a:ext cx="1476185" cy="396621"/>
            <a:chOff x="0" y="0"/>
            <a:chExt cx="2952370" cy="793242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2952369" cy="793242"/>
            </a:xfrm>
            <a:custGeom>
              <a:avLst/>
              <a:gdLst/>
              <a:ahLst/>
              <a:cxnLst/>
              <a:rect l="l" t="t" r="r" b="b"/>
              <a:pathLst>
                <a:path w="2952369" h="793242">
                  <a:moveTo>
                    <a:pt x="0" y="0"/>
                  </a:moveTo>
                  <a:lnTo>
                    <a:pt x="2952369" y="0"/>
                  </a:lnTo>
                  <a:lnTo>
                    <a:pt x="2952369" y="793242"/>
                  </a:lnTo>
                  <a:lnTo>
                    <a:pt x="0" y="793242"/>
                  </a:lnTo>
                  <a:close/>
                </a:path>
              </a:pathLst>
            </a:custGeom>
            <a:solidFill>
              <a:srgbClr val="19191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50" name="TextBox 50"/>
          <p:cNvSpPr txBox="1"/>
          <p:nvPr/>
        </p:nvSpPr>
        <p:spPr>
          <a:xfrm>
            <a:off x="2347324" y="6108156"/>
            <a:ext cx="1431003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2000" b="1">
                <a:solidFill>
                  <a:srgbClr val="EBE5E5"/>
                </a:solidFill>
                <a:latin typeface="Britannic Bold"/>
                <a:ea typeface="Britannic Bold"/>
                <a:cs typeface="Britannic Bold"/>
                <a:sym typeface="Britannic Bold"/>
              </a:rPr>
              <a:t>I WILL GO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59937" y="5824793"/>
            <a:ext cx="1215772" cy="1333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69"/>
              </a:lnSpc>
            </a:pPr>
            <a:r>
              <a:rPr lang="en-US" sz="9600">
                <a:solidFill>
                  <a:srgbClr val="DFC991"/>
                </a:solidFill>
                <a:latin typeface="Arimo"/>
                <a:ea typeface="Arimo"/>
                <a:cs typeface="Arimo"/>
                <a:sym typeface="Arimo"/>
              </a:rPr>
              <a:t>“</a:t>
            </a:r>
          </a:p>
        </p:txBody>
      </p:sp>
      <p:sp>
        <p:nvSpPr>
          <p:cNvPr id="52" name="TextBox 52"/>
          <p:cNvSpPr txBox="1"/>
          <p:nvPr/>
        </p:nvSpPr>
        <p:spPr>
          <a:xfrm rot="-10800000">
            <a:off x="3293313" y="5658350"/>
            <a:ext cx="1215772" cy="1333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69"/>
              </a:lnSpc>
            </a:pPr>
            <a:r>
              <a:rPr lang="en-US" sz="9600">
                <a:solidFill>
                  <a:srgbClr val="DFC991"/>
                </a:solidFill>
                <a:latin typeface="Arimo"/>
                <a:ea typeface="Arimo"/>
                <a:cs typeface="Arimo"/>
                <a:sym typeface="Arimo"/>
              </a:rPr>
              <a:t>“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606116" y="6248524"/>
            <a:ext cx="5375784" cy="5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8"/>
              </a:lnSpc>
            </a:pPr>
            <a:r>
              <a:rPr lang="en-US" sz="3600" b="1">
                <a:solidFill>
                  <a:srgbClr val="EBE5E5"/>
                </a:solidFill>
                <a:latin typeface="Arimo Bold"/>
                <a:ea typeface="Arimo Bold"/>
                <a:cs typeface="Arimo Bold"/>
                <a:sym typeface="Arimo Bold"/>
              </a:rPr>
              <a:t>KALIMUHAGAN 2025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4559863" y="5877436"/>
            <a:ext cx="7513385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29"/>
              </a:lnSpc>
            </a:pPr>
            <a:r>
              <a:rPr lang="en-US" sz="1191" i="1">
                <a:solidFill>
                  <a:srgbClr val="0047B3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Source: Department of Education (2010–2021); Congressional Policy &amp; Budget Research Department (2024); PSA (2023).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3819494" y="-4780589"/>
            <a:ext cx="1880171" cy="9519157"/>
            <a:chOff x="0" y="0"/>
            <a:chExt cx="3760343" cy="190383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60343" cy="19038315"/>
            </a:xfrm>
            <a:custGeom>
              <a:avLst/>
              <a:gdLst/>
              <a:ahLst/>
              <a:cxnLst/>
              <a:rect l="l" t="t" r="r" b="b"/>
              <a:pathLst>
                <a:path w="3760343" h="19038315">
                  <a:moveTo>
                    <a:pt x="0" y="0"/>
                  </a:moveTo>
                  <a:lnTo>
                    <a:pt x="3760343" y="0"/>
                  </a:lnTo>
                  <a:lnTo>
                    <a:pt x="3760343" y="15230602"/>
                  </a:lnTo>
                  <a:lnTo>
                    <a:pt x="1880235" y="19038315"/>
                  </a:lnTo>
                  <a:lnTo>
                    <a:pt x="0" y="15230602"/>
                  </a:lnTo>
                  <a:close/>
                </a:path>
              </a:pathLst>
            </a:custGeom>
            <a:solidFill>
              <a:srgbClr val="002D7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4" name="Freeform 4"/>
          <p:cNvSpPr/>
          <p:nvPr/>
        </p:nvSpPr>
        <p:spPr>
          <a:xfrm>
            <a:off x="6096000" y="510547"/>
            <a:ext cx="7519989" cy="5836905"/>
          </a:xfrm>
          <a:custGeom>
            <a:avLst/>
            <a:gdLst/>
            <a:ahLst/>
            <a:cxnLst/>
            <a:rect l="l" t="t" r="r" b="b"/>
            <a:pathLst>
              <a:path w="11279983" h="8755358">
                <a:moveTo>
                  <a:pt x="0" y="0"/>
                </a:moveTo>
                <a:lnTo>
                  <a:pt x="11279984" y="0"/>
                </a:lnTo>
                <a:lnTo>
                  <a:pt x="11279984" y="8755358"/>
                </a:lnTo>
                <a:lnTo>
                  <a:pt x="0" y="87553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 t="-11" b="-11"/>
            </a:stretch>
          </a:blipFill>
        </p:spPr>
      </p:sp>
      <p:grpSp>
        <p:nvGrpSpPr>
          <p:cNvPr id="5" name="Group 5"/>
          <p:cNvGrpSpPr/>
          <p:nvPr/>
        </p:nvGrpSpPr>
        <p:grpSpPr>
          <a:xfrm rot="5400000">
            <a:off x="8579010" y="2124467"/>
            <a:ext cx="1880235" cy="9519159"/>
            <a:chOff x="0" y="0"/>
            <a:chExt cx="3760470" cy="1903831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760470" cy="19038317"/>
            </a:xfrm>
            <a:custGeom>
              <a:avLst/>
              <a:gdLst/>
              <a:ahLst/>
              <a:cxnLst/>
              <a:rect l="l" t="t" r="r" b="b"/>
              <a:pathLst>
                <a:path w="3760470" h="19038317">
                  <a:moveTo>
                    <a:pt x="3760343" y="0"/>
                  </a:moveTo>
                  <a:lnTo>
                    <a:pt x="0" y="0"/>
                  </a:lnTo>
                  <a:lnTo>
                    <a:pt x="0" y="15230602"/>
                  </a:lnTo>
                  <a:lnTo>
                    <a:pt x="1880235" y="19038317"/>
                  </a:lnTo>
                  <a:lnTo>
                    <a:pt x="3760470" y="15230602"/>
                  </a:lnTo>
                  <a:close/>
                </a:path>
              </a:pathLst>
            </a:custGeom>
            <a:solidFill>
              <a:srgbClr val="002D7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250264" y="36715"/>
            <a:ext cx="887349" cy="784797"/>
            <a:chOff x="0" y="0"/>
            <a:chExt cx="1774698" cy="156959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74698" cy="1569593"/>
            </a:xfrm>
            <a:custGeom>
              <a:avLst/>
              <a:gdLst/>
              <a:ahLst/>
              <a:cxnLst/>
              <a:rect l="l" t="t" r="r" b="b"/>
              <a:pathLst>
                <a:path w="1774698" h="1569593">
                  <a:moveTo>
                    <a:pt x="0" y="0"/>
                  </a:moveTo>
                  <a:lnTo>
                    <a:pt x="1774698" y="0"/>
                  </a:lnTo>
                  <a:lnTo>
                    <a:pt x="1774698" y="1569593"/>
                  </a:lnTo>
                  <a:lnTo>
                    <a:pt x="0" y="15695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0" b="-10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6231928" y="-10604"/>
            <a:ext cx="955548" cy="931672"/>
            <a:chOff x="0" y="0"/>
            <a:chExt cx="1911096" cy="186334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11096" cy="1863344"/>
            </a:xfrm>
            <a:custGeom>
              <a:avLst/>
              <a:gdLst/>
              <a:ahLst/>
              <a:cxnLst/>
              <a:rect l="l" t="t" r="r" b="b"/>
              <a:pathLst>
                <a:path w="1911096" h="1863344">
                  <a:moveTo>
                    <a:pt x="0" y="0"/>
                  </a:moveTo>
                  <a:lnTo>
                    <a:pt x="1911096" y="0"/>
                  </a:lnTo>
                  <a:lnTo>
                    <a:pt x="1911096" y="1863344"/>
                  </a:lnTo>
                  <a:lnTo>
                    <a:pt x="0" y="1863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15" b="-115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98977" y="391284"/>
            <a:ext cx="1035539" cy="768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lang="en-US" sz="6875" b="1" spc="-17">
                <a:solidFill>
                  <a:srgbClr val="FFE766"/>
                </a:solidFill>
                <a:latin typeface="DG Ghareeb Bold"/>
                <a:ea typeface="DG Ghareeb Bold"/>
                <a:cs typeface="DG Ghareeb Bold"/>
                <a:sym typeface="DG Ghareeb Bold"/>
              </a:rPr>
              <a:t>3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25147" y="289351"/>
            <a:ext cx="769306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28"/>
              </a:lnSpc>
            </a:pPr>
            <a:r>
              <a:rPr lang="en-US" sz="1600" b="1">
                <a:solidFill>
                  <a:srgbClr val="EBE5E5"/>
                </a:solidFill>
                <a:latin typeface="Arimo Bold"/>
                <a:ea typeface="Arimo Bold"/>
                <a:cs typeface="Arimo Bold"/>
                <a:sym typeface="Arimo Bold"/>
              </a:rPr>
              <a:t>rd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2530375" y="98220"/>
            <a:ext cx="6480197" cy="718005"/>
            <a:chOff x="0" y="0"/>
            <a:chExt cx="12960394" cy="143601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960394" cy="1436011"/>
            </a:xfrm>
            <a:custGeom>
              <a:avLst/>
              <a:gdLst/>
              <a:ahLst/>
              <a:cxnLst/>
              <a:rect l="l" t="t" r="r" b="b"/>
              <a:pathLst>
                <a:path w="12960394" h="1436011">
                  <a:moveTo>
                    <a:pt x="0" y="0"/>
                  </a:moveTo>
                  <a:lnTo>
                    <a:pt x="12960394" y="0"/>
                  </a:lnTo>
                  <a:lnTo>
                    <a:pt x="12960394" y="1436011"/>
                  </a:lnTo>
                  <a:lnTo>
                    <a:pt x="0" y="143601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9525"/>
              <a:ext cx="12960394" cy="1426486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>
                <a:lnSpc>
                  <a:spcPts val="1944"/>
                </a:lnSpc>
              </a:pPr>
              <a:r>
                <a:rPr lang="en-US" b="1">
                  <a:solidFill>
                    <a:srgbClr val="EBE5E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MULTIDISCIPLINARY </a:t>
              </a:r>
            </a:p>
            <a:p>
              <a:pPr>
                <a:lnSpc>
                  <a:spcPts val="1944"/>
                </a:lnSpc>
              </a:pPr>
              <a:r>
                <a:rPr lang="en-US" b="1">
                  <a:solidFill>
                    <a:srgbClr val="EBE5E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RESEARCH CONGRESS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15604" y="-64882"/>
            <a:ext cx="1653171" cy="906587"/>
            <a:chOff x="0" y="0"/>
            <a:chExt cx="3306342" cy="181317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306342" cy="1813173"/>
            </a:xfrm>
            <a:custGeom>
              <a:avLst/>
              <a:gdLst/>
              <a:ahLst/>
              <a:cxnLst/>
              <a:rect l="l" t="t" r="r" b="b"/>
              <a:pathLst>
                <a:path w="3306342" h="1813173">
                  <a:moveTo>
                    <a:pt x="0" y="0"/>
                  </a:moveTo>
                  <a:lnTo>
                    <a:pt x="3306342" y="0"/>
                  </a:lnTo>
                  <a:lnTo>
                    <a:pt x="3306342" y="1813173"/>
                  </a:lnTo>
                  <a:lnTo>
                    <a:pt x="0" y="18131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47625"/>
              <a:ext cx="3306342" cy="1765548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>
                <a:lnSpc>
                  <a:spcPts val="4320"/>
                </a:lnSpc>
              </a:pPr>
              <a:r>
                <a:rPr lang="en-US" sz="4000" b="1">
                  <a:solidFill>
                    <a:srgbClr val="EBE5E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SPAC</a:t>
              </a:r>
            </a:p>
          </p:txBody>
        </p:sp>
      </p:grpSp>
      <p:sp>
        <p:nvSpPr>
          <p:cNvPr id="19" name="Freeform 19"/>
          <p:cNvSpPr/>
          <p:nvPr/>
        </p:nvSpPr>
        <p:spPr>
          <a:xfrm rot="5400000">
            <a:off x="6251541" y="2234975"/>
            <a:ext cx="1986086" cy="114200"/>
          </a:xfrm>
          <a:custGeom>
            <a:avLst/>
            <a:gdLst/>
            <a:ahLst/>
            <a:cxnLst/>
            <a:rect l="l" t="t" r="r" b="b"/>
            <a:pathLst>
              <a:path w="2979129" h="171300">
                <a:moveTo>
                  <a:pt x="0" y="0"/>
                </a:moveTo>
                <a:lnTo>
                  <a:pt x="2979129" y="0"/>
                </a:lnTo>
                <a:lnTo>
                  <a:pt x="2979129" y="171300"/>
                </a:lnTo>
                <a:lnTo>
                  <a:pt x="0" y="1713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 l="-152" r="-152"/>
            </a:stretch>
          </a:blipFill>
        </p:spPr>
      </p:sp>
      <p:sp>
        <p:nvSpPr>
          <p:cNvPr id="20" name="Freeform 20"/>
          <p:cNvSpPr/>
          <p:nvPr/>
        </p:nvSpPr>
        <p:spPr>
          <a:xfrm rot="5400000">
            <a:off x="8737277" y="2234975"/>
            <a:ext cx="1986086" cy="114200"/>
          </a:xfrm>
          <a:custGeom>
            <a:avLst/>
            <a:gdLst/>
            <a:ahLst/>
            <a:cxnLst/>
            <a:rect l="l" t="t" r="r" b="b"/>
            <a:pathLst>
              <a:path w="2979129" h="171300">
                <a:moveTo>
                  <a:pt x="0" y="0"/>
                </a:moveTo>
                <a:lnTo>
                  <a:pt x="2979129" y="0"/>
                </a:lnTo>
                <a:lnTo>
                  <a:pt x="2979129" y="171300"/>
                </a:lnTo>
                <a:lnTo>
                  <a:pt x="0" y="1713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 l="-152" r="-152"/>
            </a:stretch>
          </a:blipFill>
        </p:spPr>
      </p:sp>
      <p:sp>
        <p:nvSpPr>
          <p:cNvPr id="21" name="Freeform 21"/>
          <p:cNvSpPr/>
          <p:nvPr/>
        </p:nvSpPr>
        <p:spPr>
          <a:xfrm rot="5400000">
            <a:off x="7567608" y="4519511"/>
            <a:ext cx="1986086" cy="114200"/>
          </a:xfrm>
          <a:custGeom>
            <a:avLst/>
            <a:gdLst/>
            <a:ahLst/>
            <a:cxnLst/>
            <a:rect l="l" t="t" r="r" b="b"/>
            <a:pathLst>
              <a:path w="2979129" h="171300">
                <a:moveTo>
                  <a:pt x="0" y="0"/>
                </a:moveTo>
                <a:lnTo>
                  <a:pt x="2979129" y="0"/>
                </a:lnTo>
                <a:lnTo>
                  <a:pt x="2979129" y="171300"/>
                </a:lnTo>
                <a:lnTo>
                  <a:pt x="0" y="1713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 l="-152" r="-152"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526630" y="3148173"/>
            <a:ext cx="4876800" cy="48768"/>
          </a:xfrm>
          <a:custGeom>
            <a:avLst/>
            <a:gdLst/>
            <a:ahLst/>
            <a:cxnLst/>
            <a:rect l="l" t="t" r="r" b="b"/>
            <a:pathLst>
              <a:path w="7315200" h="73152">
                <a:moveTo>
                  <a:pt x="0" y="0"/>
                </a:moveTo>
                <a:lnTo>
                  <a:pt x="7315200" y="0"/>
                </a:lnTo>
                <a:lnTo>
                  <a:pt x="7315200" y="73152"/>
                </a:lnTo>
                <a:lnTo>
                  <a:pt x="0" y="7315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63000"/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 t="-8593" b="-8593"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525147" y="1427324"/>
            <a:ext cx="6414687" cy="3372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160"/>
              </a:lnSpc>
            </a:pPr>
            <a:r>
              <a:rPr lang="en-US" sz="3466" b="1">
                <a:solidFill>
                  <a:srgbClr val="001B4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DepEd lacks a data-driven system to predict regional enrollment and classify regional volatility.</a:t>
            </a:r>
          </a:p>
          <a:p>
            <a:pPr>
              <a:lnSpc>
                <a:spcPts val="1680"/>
              </a:lnSpc>
            </a:pPr>
            <a:endParaRPr lang="en-US" sz="3466" b="1">
              <a:solidFill>
                <a:srgbClr val="001B44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>
              <a:lnSpc>
                <a:spcPts val="3039"/>
              </a:lnSpc>
            </a:pPr>
            <a:r>
              <a:rPr lang="en-US" sz="2533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 planning treats all 17 regions uniformly despite vastly different enrollment patterns, resulting in resource misallocation and reactive crisis management.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348770" y="997301"/>
            <a:ext cx="3624461" cy="384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24"/>
              </a:lnSpc>
            </a:pPr>
            <a:r>
              <a:rPr lang="en-US" sz="2800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Statement of the Problem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418798" y="1316199"/>
            <a:ext cx="2118991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89"/>
              </a:lnSpc>
            </a:pPr>
            <a:r>
              <a:rPr lang="en-US" sz="1991" dirty="0">
                <a:solidFill>
                  <a:srgbClr val="002D7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Reactive planning: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400136" y="1729369"/>
            <a:ext cx="2171484" cy="1282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5"/>
              </a:lnSpc>
            </a:pPr>
            <a:r>
              <a:rPr lang="en-US" sz="1695">
                <a:solidFill>
                  <a:srgbClr val="002D7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Schools report enrollment 30 days after opening; emergency hiring takes 2-3 months </a:t>
            </a:r>
          </a:p>
          <a:p>
            <a:pPr algn="ctr">
              <a:lnSpc>
                <a:spcPts val="2035"/>
              </a:lnSpc>
            </a:pPr>
            <a:r>
              <a:rPr lang="en-US" sz="1695">
                <a:solidFill>
                  <a:srgbClr val="002D7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DepEd (2024)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890917" y="1316199"/>
            <a:ext cx="1910052" cy="290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9"/>
              </a:lnSpc>
            </a:pPr>
            <a:r>
              <a:rPr lang="en-US" sz="1991">
                <a:solidFill>
                  <a:srgbClr val="002D7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Misallocation: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885872" y="1735720"/>
            <a:ext cx="1945541" cy="1282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5"/>
              </a:lnSpc>
            </a:pPr>
            <a:r>
              <a:rPr lang="en-US" sz="1695">
                <a:solidFill>
                  <a:srgbClr val="002D7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Volatile regions under-resourced; stable regions over-resourced</a:t>
            </a:r>
          </a:p>
          <a:p>
            <a:pPr algn="ctr">
              <a:lnSpc>
                <a:spcPts val="2035"/>
              </a:lnSpc>
            </a:pPr>
            <a:r>
              <a:rPr lang="en-US" sz="1695">
                <a:solidFill>
                  <a:srgbClr val="002D7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-World Bank (2018)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864591" y="3647070"/>
            <a:ext cx="2268903" cy="290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9"/>
              </a:lnSpc>
            </a:pPr>
            <a:r>
              <a:rPr lang="en-US" sz="1991">
                <a:solidFill>
                  <a:srgbClr val="002D7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Educational inequity: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926001" y="4119122"/>
            <a:ext cx="2171484" cy="1025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5"/>
              </a:lnSpc>
            </a:pPr>
            <a:r>
              <a:rPr lang="en-US" sz="1695">
                <a:solidFill>
                  <a:srgbClr val="002D7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Overcrowding (60 students/room), delayed instruction, quality gaps -PIDS (2023)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775294" y="585855"/>
            <a:ext cx="1910052" cy="362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59"/>
              </a:lnSpc>
            </a:pPr>
            <a:r>
              <a:rPr lang="en-US" sz="2466">
                <a:solidFill>
                  <a:srgbClr val="002D7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Consequence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53659" y="4957364"/>
            <a:ext cx="2742987" cy="3751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5"/>
              </a:lnSpc>
            </a:pPr>
            <a:r>
              <a:rPr lang="en-US" sz="2562">
                <a:solidFill>
                  <a:srgbClr val="002D7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Potential solution: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411864" y="4839888"/>
            <a:ext cx="5598709" cy="648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95"/>
              </a:lnSpc>
            </a:pPr>
            <a:r>
              <a:rPr lang="en-US" sz="216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Dual-method framework: </a:t>
            </a:r>
          </a:p>
          <a:p>
            <a:pPr algn="just">
              <a:lnSpc>
                <a:spcPts val="2595"/>
              </a:lnSpc>
            </a:pPr>
            <a:r>
              <a:rPr lang="en-US" sz="2162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Forecast enrollment + Classify volatility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606116" y="6248524"/>
            <a:ext cx="5375784" cy="5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8"/>
              </a:lnSpc>
            </a:pPr>
            <a:r>
              <a:rPr lang="en-US" sz="3600" b="1">
                <a:solidFill>
                  <a:srgbClr val="EBE5E5"/>
                </a:solidFill>
                <a:latin typeface="Arimo Bold"/>
                <a:ea typeface="Arimo Bold"/>
                <a:cs typeface="Arimo Bold"/>
                <a:sym typeface="Arimo Bold"/>
              </a:rPr>
              <a:t>KALIMUHAGAN 2025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797523" y="5722826"/>
            <a:ext cx="1527239" cy="396621"/>
            <a:chOff x="0" y="0"/>
            <a:chExt cx="3054477" cy="79324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3054477" cy="793242"/>
            </a:xfrm>
            <a:custGeom>
              <a:avLst/>
              <a:gdLst/>
              <a:ahLst/>
              <a:cxnLst/>
              <a:rect l="l" t="t" r="r" b="b"/>
              <a:pathLst>
                <a:path w="3054477" h="793242">
                  <a:moveTo>
                    <a:pt x="0" y="0"/>
                  </a:moveTo>
                  <a:lnTo>
                    <a:pt x="3054477" y="0"/>
                  </a:lnTo>
                  <a:lnTo>
                    <a:pt x="3054477" y="793242"/>
                  </a:lnTo>
                  <a:lnTo>
                    <a:pt x="0" y="793242"/>
                  </a:lnTo>
                  <a:close/>
                </a:path>
              </a:pathLst>
            </a:custGeom>
            <a:solidFill>
              <a:srgbClr val="EBBD1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37" name="TextBox 37"/>
          <p:cNvSpPr txBox="1"/>
          <p:nvPr/>
        </p:nvSpPr>
        <p:spPr>
          <a:xfrm>
            <a:off x="820101" y="5712067"/>
            <a:ext cx="1482067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</a:pPr>
            <a:r>
              <a:rPr lang="en-US" b="1">
                <a:solidFill>
                  <a:srgbClr val="EBE5E5"/>
                </a:solidFill>
                <a:latin typeface="Britannic Bold"/>
                <a:ea typeface="Britannic Bold"/>
                <a:cs typeface="Britannic Bold"/>
                <a:sym typeface="Britannic Bold"/>
              </a:rPr>
              <a:t>ENLIGHTEN.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2324747" y="5722826"/>
            <a:ext cx="1570037" cy="396621"/>
            <a:chOff x="0" y="0"/>
            <a:chExt cx="3140075" cy="793242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3140075" cy="793242"/>
            </a:xfrm>
            <a:custGeom>
              <a:avLst/>
              <a:gdLst/>
              <a:ahLst/>
              <a:cxnLst/>
              <a:rect l="l" t="t" r="r" b="b"/>
              <a:pathLst>
                <a:path w="3140075" h="793242">
                  <a:moveTo>
                    <a:pt x="0" y="0"/>
                  </a:moveTo>
                  <a:lnTo>
                    <a:pt x="3140075" y="0"/>
                  </a:lnTo>
                  <a:lnTo>
                    <a:pt x="3140075" y="793242"/>
                  </a:lnTo>
                  <a:lnTo>
                    <a:pt x="0" y="793242"/>
                  </a:lnTo>
                  <a:close/>
                </a:path>
              </a:pathLst>
            </a:custGeom>
            <a:solidFill>
              <a:srgbClr val="C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40" name="TextBox 40"/>
          <p:cNvSpPr txBox="1"/>
          <p:nvPr/>
        </p:nvSpPr>
        <p:spPr>
          <a:xfrm>
            <a:off x="2347326" y="5712067"/>
            <a:ext cx="1524857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2000" b="1">
                <a:solidFill>
                  <a:srgbClr val="EBE5E5"/>
                </a:solidFill>
                <a:latin typeface="Britannic Bold"/>
                <a:ea typeface="Britannic Bold"/>
                <a:cs typeface="Britannic Bold"/>
                <a:sym typeface="Britannic Bold"/>
              </a:rPr>
              <a:t>EMPOWER.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999319" y="6119684"/>
            <a:ext cx="1325435" cy="396621"/>
            <a:chOff x="0" y="0"/>
            <a:chExt cx="2650871" cy="793242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2650871" cy="793242"/>
            </a:xfrm>
            <a:custGeom>
              <a:avLst/>
              <a:gdLst/>
              <a:ahLst/>
              <a:cxnLst/>
              <a:rect l="l" t="t" r="r" b="b"/>
              <a:pathLst>
                <a:path w="2650871" h="793242">
                  <a:moveTo>
                    <a:pt x="0" y="0"/>
                  </a:moveTo>
                  <a:lnTo>
                    <a:pt x="2650871" y="0"/>
                  </a:lnTo>
                  <a:lnTo>
                    <a:pt x="2650871" y="793242"/>
                  </a:lnTo>
                  <a:lnTo>
                    <a:pt x="0" y="793242"/>
                  </a:lnTo>
                  <a:close/>
                </a:path>
              </a:pathLst>
            </a:custGeom>
            <a:solidFill>
              <a:srgbClr val="0047B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43" name="TextBox 43"/>
          <p:cNvSpPr txBox="1"/>
          <p:nvPr/>
        </p:nvSpPr>
        <p:spPr>
          <a:xfrm>
            <a:off x="1021896" y="6108925"/>
            <a:ext cx="1280272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7"/>
              </a:lnSpc>
            </a:pPr>
            <a:r>
              <a:rPr lang="en-US" sz="2219" b="1">
                <a:solidFill>
                  <a:srgbClr val="EBE5E5"/>
                </a:solidFill>
                <a:latin typeface="Britannic Bold"/>
                <a:ea typeface="Britannic Bold"/>
                <a:cs typeface="Britannic Bold"/>
                <a:sym typeface="Britannic Bold"/>
              </a:rPr>
              <a:t>ENGAGE: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2324746" y="6118915"/>
            <a:ext cx="1476185" cy="396621"/>
            <a:chOff x="0" y="0"/>
            <a:chExt cx="2952370" cy="79324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2952369" cy="793242"/>
            </a:xfrm>
            <a:custGeom>
              <a:avLst/>
              <a:gdLst/>
              <a:ahLst/>
              <a:cxnLst/>
              <a:rect l="l" t="t" r="r" b="b"/>
              <a:pathLst>
                <a:path w="2952369" h="793242">
                  <a:moveTo>
                    <a:pt x="0" y="0"/>
                  </a:moveTo>
                  <a:lnTo>
                    <a:pt x="2952369" y="0"/>
                  </a:lnTo>
                  <a:lnTo>
                    <a:pt x="2952369" y="793242"/>
                  </a:lnTo>
                  <a:lnTo>
                    <a:pt x="0" y="793242"/>
                  </a:lnTo>
                  <a:close/>
                </a:path>
              </a:pathLst>
            </a:custGeom>
            <a:solidFill>
              <a:srgbClr val="19191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46" name="TextBox 46"/>
          <p:cNvSpPr txBox="1"/>
          <p:nvPr/>
        </p:nvSpPr>
        <p:spPr>
          <a:xfrm>
            <a:off x="2347324" y="6108156"/>
            <a:ext cx="1431003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2000" b="1">
                <a:solidFill>
                  <a:srgbClr val="EBE5E5"/>
                </a:solidFill>
                <a:latin typeface="Britannic Bold"/>
                <a:ea typeface="Britannic Bold"/>
                <a:cs typeface="Britannic Bold"/>
                <a:sym typeface="Britannic Bold"/>
              </a:rPr>
              <a:t>I WILL GO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59937" y="5824793"/>
            <a:ext cx="1215772" cy="1333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69"/>
              </a:lnSpc>
            </a:pPr>
            <a:r>
              <a:rPr lang="en-US" sz="9600">
                <a:solidFill>
                  <a:srgbClr val="DFC991"/>
                </a:solidFill>
                <a:latin typeface="Arimo"/>
                <a:ea typeface="Arimo"/>
                <a:cs typeface="Arimo"/>
                <a:sym typeface="Arimo"/>
              </a:rPr>
              <a:t>“</a:t>
            </a:r>
          </a:p>
        </p:txBody>
      </p:sp>
      <p:sp>
        <p:nvSpPr>
          <p:cNvPr id="48" name="TextBox 48"/>
          <p:cNvSpPr txBox="1"/>
          <p:nvPr/>
        </p:nvSpPr>
        <p:spPr>
          <a:xfrm rot="-10800000">
            <a:off x="3293313" y="5658350"/>
            <a:ext cx="1215772" cy="1333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69"/>
              </a:lnSpc>
            </a:pPr>
            <a:r>
              <a:rPr lang="en-US" sz="9600">
                <a:solidFill>
                  <a:srgbClr val="DFC991"/>
                </a:solidFill>
                <a:latin typeface="Arimo"/>
                <a:ea typeface="Arimo"/>
                <a:cs typeface="Arimo"/>
                <a:sym typeface="Arimo"/>
              </a:rPr>
              <a:t>“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172425" y="5658349"/>
            <a:ext cx="5001084" cy="2180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747"/>
              </a:lnSpc>
            </a:pPr>
            <a:r>
              <a:rPr lang="en-US" sz="1457" i="1" dirty="0">
                <a:solidFill>
                  <a:srgbClr val="002D7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Source: DepEd (2024); PIDS (2023); World Bank (2018).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96000" y="510547"/>
            <a:ext cx="7519989" cy="5836905"/>
          </a:xfrm>
          <a:custGeom>
            <a:avLst/>
            <a:gdLst/>
            <a:ahLst/>
            <a:cxnLst/>
            <a:rect l="l" t="t" r="r" b="b"/>
            <a:pathLst>
              <a:path w="11279983" h="8755358">
                <a:moveTo>
                  <a:pt x="0" y="0"/>
                </a:moveTo>
                <a:lnTo>
                  <a:pt x="11279984" y="0"/>
                </a:lnTo>
                <a:lnTo>
                  <a:pt x="11279984" y="8755358"/>
                </a:lnTo>
                <a:lnTo>
                  <a:pt x="0" y="87553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 t="-11" b="-11"/>
            </a:stretch>
          </a:blipFill>
        </p:spPr>
      </p:sp>
      <p:grpSp>
        <p:nvGrpSpPr>
          <p:cNvPr id="3" name="Group 3"/>
          <p:cNvGrpSpPr/>
          <p:nvPr/>
        </p:nvGrpSpPr>
        <p:grpSpPr>
          <a:xfrm rot="-5400000">
            <a:off x="3819494" y="-4780589"/>
            <a:ext cx="1880171" cy="9519157"/>
            <a:chOff x="0" y="0"/>
            <a:chExt cx="3760343" cy="1903831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0343" cy="19038315"/>
            </a:xfrm>
            <a:custGeom>
              <a:avLst/>
              <a:gdLst/>
              <a:ahLst/>
              <a:cxnLst/>
              <a:rect l="l" t="t" r="r" b="b"/>
              <a:pathLst>
                <a:path w="3760343" h="19038315">
                  <a:moveTo>
                    <a:pt x="0" y="0"/>
                  </a:moveTo>
                  <a:lnTo>
                    <a:pt x="3760343" y="0"/>
                  </a:lnTo>
                  <a:lnTo>
                    <a:pt x="3760343" y="15230602"/>
                  </a:lnTo>
                  <a:lnTo>
                    <a:pt x="1880235" y="19038315"/>
                  </a:lnTo>
                  <a:lnTo>
                    <a:pt x="0" y="15230602"/>
                  </a:lnTo>
                  <a:close/>
                </a:path>
              </a:pathLst>
            </a:custGeom>
            <a:solidFill>
              <a:srgbClr val="002D7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5" name="Group 5"/>
          <p:cNvGrpSpPr/>
          <p:nvPr/>
        </p:nvGrpSpPr>
        <p:grpSpPr>
          <a:xfrm rot="5400000">
            <a:off x="8579010" y="2124467"/>
            <a:ext cx="1880235" cy="9519159"/>
            <a:chOff x="0" y="0"/>
            <a:chExt cx="3760470" cy="1903831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760470" cy="19038317"/>
            </a:xfrm>
            <a:custGeom>
              <a:avLst/>
              <a:gdLst/>
              <a:ahLst/>
              <a:cxnLst/>
              <a:rect l="l" t="t" r="r" b="b"/>
              <a:pathLst>
                <a:path w="3760470" h="19038317">
                  <a:moveTo>
                    <a:pt x="3760343" y="0"/>
                  </a:moveTo>
                  <a:lnTo>
                    <a:pt x="0" y="0"/>
                  </a:lnTo>
                  <a:lnTo>
                    <a:pt x="0" y="15230602"/>
                  </a:lnTo>
                  <a:lnTo>
                    <a:pt x="1880235" y="19038317"/>
                  </a:lnTo>
                  <a:lnTo>
                    <a:pt x="3760470" y="15230602"/>
                  </a:lnTo>
                  <a:close/>
                </a:path>
              </a:pathLst>
            </a:custGeom>
            <a:solidFill>
              <a:srgbClr val="002D7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250264" y="36715"/>
            <a:ext cx="887349" cy="784797"/>
            <a:chOff x="0" y="0"/>
            <a:chExt cx="1774698" cy="156959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74698" cy="1569593"/>
            </a:xfrm>
            <a:custGeom>
              <a:avLst/>
              <a:gdLst/>
              <a:ahLst/>
              <a:cxnLst/>
              <a:rect l="l" t="t" r="r" b="b"/>
              <a:pathLst>
                <a:path w="1774698" h="1569593">
                  <a:moveTo>
                    <a:pt x="0" y="0"/>
                  </a:moveTo>
                  <a:lnTo>
                    <a:pt x="1774698" y="0"/>
                  </a:lnTo>
                  <a:lnTo>
                    <a:pt x="1774698" y="1569593"/>
                  </a:lnTo>
                  <a:lnTo>
                    <a:pt x="0" y="15695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0" b="-10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6231928" y="-10604"/>
            <a:ext cx="955548" cy="931672"/>
            <a:chOff x="0" y="0"/>
            <a:chExt cx="1911096" cy="186334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11096" cy="1863344"/>
            </a:xfrm>
            <a:custGeom>
              <a:avLst/>
              <a:gdLst/>
              <a:ahLst/>
              <a:cxnLst/>
              <a:rect l="l" t="t" r="r" b="b"/>
              <a:pathLst>
                <a:path w="1911096" h="1863344">
                  <a:moveTo>
                    <a:pt x="0" y="0"/>
                  </a:moveTo>
                  <a:lnTo>
                    <a:pt x="1911096" y="0"/>
                  </a:lnTo>
                  <a:lnTo>
                    <a:pt x="1911096" y="1863344"/>
                  </a:lnTo>
                  <a:lnTo>
                    <a:pt x="0" y="1863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15" b="-115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98977" y="391284"/>
            <a:ext cx="1035539" cy="768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lang="en-US" sz="6875" b="1" spc="-17">
                <a:solidFill>
                  <a:srgbClr val="FFE766"/>
                </a:solidFill>
                <a:latin typeface="DG Ghareeb Bold"/>
                <a:ea typeface="DG Ghareeb Bold"/>
                <a:cs typeface="DG Ghareeb Bold"/>
                <a:sym typeface="DG Ghareeb Bold"/>
              </a:rPr>
              <a:t>3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25147" y="289351"/>
            <a:ext cx="769306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28"/>
              </a:lnSpc>
            </a:pPr>
            <a:r>
              <a:rPr lang="en-US" sz="1600" b="1">
                <a:solidFill>
                  <a:srgbClr val="EBE5E5"/>
                </a:solidFill>
                <a:latin typeface="Arimo Bold"/>
                <a:ea typeface="Arimo Bold"/>
                <a:cs typeface="Arimo Bold"/>
                <a:sym typeface="Arimo Bold"/>
              </a:rPr>
              <a:t>rd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2530375" y="98220"/>
            <a:ext cx="6480197" cy="718005"/>
            <a:chOff x="0" y="0"/>
            <a:chExt cx="12960394" cy="143601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960394" cy="1436011"/>
            </a:xfrm>
            <a:custGeom>
              <a:avLst/>
              <a:gdLst/>
              <a:ahLst/>
              <a:cxnLst/>
              <a:rect l="l" t="t" r="r" b="b"/>
              <a:pathLst>
                <a:path w="12960394" h="1436011">
                  <a:moveTo>
                    <a:pt x="0" y="0"/>
                  </a:moveTo>
                  <a:lnTo>
                    <a:pt x="12960394" y="0"/>
                  </a:lnTo>
                  <a:lnTo>
                    <a:pt x="12960394" y="1436011"/>
                  </a:lnTo>
                  <a:lnTo>
                    <a:pt x="0" y="143601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9525"/>
              <a:ext cx="12960394" cy="1426486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>
                <a:lnSpc>
                  <a:spcPts val="1944"/>
                </a:lnSpc>
              </a:pPr>
              <a:r>
                <a:rPr lang="en-US" b="1">
                  <a:solidFill>
                    <a:srgbClr val="EBE5E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MULTIDISCIPLINARY </a:t>
              </a:r>
            </a:p>
            <a:p>
              <a:pPr>
                <a:lnSpc>
                  <a:spcPts val="1944"/>
                </a:lnSpc>
              </a:pPr>
              <a:r>
                <a:rPr lang="en-US" b="1">
                  <a:solidFill>
                    <a:srgbClr val="EBE5E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RESEARCH CONGRESS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15604" y="-64882"/>
            <a:ext cx="1653171" cy="906587"/>
            <a:chOff x="0" y="0"/>
            <a:chExt cx="3306342" cy="181317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306342" cy="1813173"/>
            </a:xfrm>
            <a:custGeom>
              <a:avLst/>
              <a:gdLst/>
              <a:ahLst/>
              <a:cxnLst/>
              <a:rect l="l" t="t" r="r" b="b"/>
              <a:pathLst>
                <a:path w="3306342" h="1813173">
                  <a:moveTo>
                    <a:pt x="0" y="0"/>
                  </a:moveTo>
                  <a:lnTo>
                    <a:pt x="3306342" y="0"/>
                  </a:lnTo>
                  <a:lnTo>
                    <a:pt x="3306342" y="1813173"/>
                  </a:lnTo>
                  <a:lnTo>
                    <a:pt x="0" y="18131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47625"/>
              <a:ext cx="3306342" cy="1765548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>
                <a:lnSpc>
                  <a:spcPts val="4320"/>
                </a:lnSpc>
              </a:pPr>
              <a:r>
                <a:rPr lang="en-US" sz="4000" b="1">
                  <a:solidFill>
                    <a:srgbClr val="EBE5E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SPAC</a:t>
              </a:r>
            </a:p>
          </p:txBody>
        </p:sp>
      </p:grpSp>
      <p:sp>
        <p:nvSpPr>
          <p:cNvPr id="19" name="Freeform 19"/>
          <p:cNvSpPr/>
          <p:nvPr/>
        </p:nvSpPr>
        <p:spPr>
          <a:xfrm>
            <a:off x="-190670" y="1183315"/>
            <a:ext cx="9709808" cy="1327445"/>
          </a:xfrm>
          <a:custGeom>
            <a:avLst/>
            <a:gdLst/>
            <a:ahLst/>
            <a:cxnLst/>
            <a:rect l="l" t="t" r="r" b="b"/>
            <a:pathLst>
              <a:path w="14564712" h="1991167">
                <a:moveTo>
                  <a:pt x="0" y="0"/>
                </a:moveTo>
                <a:lnTo>
                  <a:pt x="14564711" y="0"/>
                </a:lnTo>
                <a:lnTo>
                  <a:pt x="14564711" y="1991167"/>
                </a:lnTo>
                <a:lnTo>
                  <a:pt x="0" y="199116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340729" y="991037"/>
            <a:ext cx="626643" cy="437616"/>
            <a:chOff x="0" y="0"/>
            <a:chExt cx="1253286" cy="87523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253236" cy="875284"/>
            </a:xfrm>
            <a:custGeom>
              <a:avLst/>
              <a:gdLst/>
              <a:ahLst/>
              <a:cxnLst/>
              <a:rect l="l" t="t" r="r" b="b"/>
              <a:pathLst>
                <a:path w="1253236" h="875284">
                  <a:moveTo>
                    <a:pt x="317500" y="0"/>
                  </a:moveTo>
                  <a:lnTo>
                    <a:pt x="935736" y="0"/>
                  </a:lnTo>
                  <a:cubicBezTo>
                    <a:pt x="1111123" y="0"/>
                    <a:pt x="1253236" y="142113"/>
                    <a:pt x="1253236" y="317500"/>
                  </a:cubicBezTo>
                  <a:lnTo>
                    <a:pt x="1253236" y="557784"/>
                  </a:lnTo>
                  <a:cubicBezTo>
                    <a:pt x="1253236" y="733171"/>
                    <a:pt x="1111123" y="875284"/>
                    <a:pt x="935736" y="875284"/>
                  </a:cubicBezTo>
                  <a:lnTo>
                    <a:pt x="317500" y="875284"/>
                  </a:lnTo>
                  <a:cubicBezTo>
                    <a:pt x="142113" y="875284"/>
                    <a:pt x="0" y="733171"/>
                    <a:pt x="0" y="557784"/>
                  </a:cubicBezTo>
                  <a:lnTo>
                    <a:pt x="0" y="317500"/>
                  </a:lnTo>
                  <a:cubicBezTo>
                    <a:pt x="0" y="142113"/>
                    <a:pt x="142113" y="0"/>
                    <a:pt x="317500" y="0"/>
                  </a:cubicBezTo>
                  <a:close/>
                </a:path>
              </a:pathLst>
            </a:custGeom>
            <a:solidFill>
              <a:srgbClr val="2F74C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340729" y="962838"/>
            <a:ext cx="626643" cy="465815"/>
            <a:chOff x="0" y="0"/>
            <a:chExt cx="1253286" cy="93163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253286" cy="931630"/>
            </a:xfrm>
            <a:custGeom>
              <a:avLst/>
              <a:gdLst/>
              <a:ahLst/>
              <a:cxnLst/>
              <a:rect l="l" t="t" r="r" b="b"/>
              <a:pathLst>
                <a:path w="1253286" h="931630">
                  <a:moveTo>
                    <a:pt x="0" y="0"/>
                  </a:moveTo>
                  <a:lnTo>
                    <a:pt x="1253286" y="0"/>
                  </a:lnTo>
                  <a:lnTo>
                    <a:pt x="1253286" y="931630"/>
                  </a:lnTo>
                  <a:lnTo>
                    <a:pt x="0" y="9316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28575"/>
              <a:ext cx="1253286" cy="9602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35"/>
                </a:lnSpc>
              </a:pPr>
              <a:r>
                <a:rPr lang="en-US" sz="1945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RQ1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294313" y="1574770"/>
            <a:ext cx="7911903" cy="743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79"/>
              </a:lnSpc>
            </a:pPr>
            <a:r>
              <a:rPr lang="en-US" sz="2666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Which machine learning model best predicts regional K–12 enrollment in the Philippines?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134516" y="991037"/>
            <a:ext cx="1822813" cy="437616"/>
            <a:chOff x="0" y="0"/>
            <a:chExt cx="3645626" cy="87523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645662" cy="875284"/>
            </a:xfrm>
            <a:custGeom>
              <a:avLst/>
              <a:gdLst/>
              <a:ahLst/>
              <a:cxnLst/>
              <a:rect l="l" t="t" r="r" b="b"/>
              <a:pathLst>
                <a:path w="3645662" h="875284">
                  <a:moveTo>
                    <a:pt x="109093" y="0"/>
                  </a:moveTo>
                  <a:lnTo>
                    <a:pt x="3536442" y="0"/>
                  </a:lnTo>
                  <a:cubicBezTo>
                    <a:pt x="3565398" y="0"/>
                    <a:pt x="3593211" y="11557"/>
                    <a:pt x="3613658" y="32004"/>
                  </a:cubicBezTo>
                  <a:cubicBezTo>
                    <a:pt x="3634105" y="52451"/>
                    <a:pt x="3645662" y="80264"/>
                    <a:pt x="3645662" y="109220"/>
                  </a:cubicBezTo>
                  <a:lnTo>
                    <a:pt x="3645662" y="766064"/>
                  </a:lnTo>
                  <a:cubicBezTo>
                    <a:pt x="3645662" y="795020"/>
                    <a:pt x="3634105" y="822833"/>
                    <a:pt x="3613658" y="843280"/>
                  </a:cubicBezTo>
                  <a:cubicBezTo>
                    <a:pt x="3593211" y="863727"/>
                    <a:pt x="3565398" y="875284"/>
                    <a:pt x="3536442" y="875284"/>
                  </a:cubicBezTo>
                  <a:lnTo>
                    <a:pt x="109093" y="875284"/>
                  </a:lnTo>
                  <a:cubicBezTo>
                    <a:pt x="80137" y="875284"/>
                    <a:pt x="52324" y="863727"/>
                    <a:pt x="31877" y="843280"/>
                  </a:cubicBezTo>
                  <a:cubicBezTo>
                    <a:pt x="11430" y="822833"/>
                    <a:pt x="0" y="795020"/>
                    <a:pt x="0" y="766064"/>
                  </a:cubicBezTo>
                  <a:lnTo>
                    <a:pt x="0" y="109093"/>
                  </a:lnTo>
                  <a:cubicBezTo>
                    <a:pt x="0" y="80137"/>
                    <a:pt x="11557" y="52451"/>
                    <a:pt x="32004" y="32004"/>
                  </a:cubicBezTo>
                  <a:cubicBezTo>
                    <a:pt x="52451" y="11557"/>
                    <a:pt x="80137" y="0"/>
                    <a:pt x="109093" y="0"/>
                  </a:cubicBezTo>
                  <a:close/>
                </a:path>
              </a:pathLst>
            </a:custGeom>
            <a:solidFill>
              <a:srgbClr val="194E8B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1134516" y="962838"/>
            <a:ext cx="1822813" cy="465815"/>
            <a:chOff x="0" y="0"/>
            <a:chExt cx="3645626" cy="93163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645626" cy="931630"/>
            </a:xfrm>
            <a:custGeom>
              <a:avLst/>
              <a:gdLst/>
              <a:ahLst/>
              <a:cxnLst/>
              <a:rect l="l" t="t" r="r" b="b"/>
              <a:pathLst>
                <a:path w="3645626" h="931630">
                  <a:moveTo>
                    <a:pt x="0" y="0"/>
                  </a:moveTo>
                  <a:lnTo>
                    <a:pt x="3645626" y="0"/>
                  </a:lnTo>
                  <a:lnTo>
                    <a:pt x="3645626" y="931630"/>
                  </a:lnTo>
                  <a:lnTo>
                    <a:pt x="0" y="9316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0" y="-28575"/>
              <a:ext cx="3645626" cy="9602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35"/>
                </a:lnSpc>
              </a:pPr>
              <a:r>
                <a:rPr lang="en-US" sz="1945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PREDICTION</a:t>
              </a:r>
            </a:p>
          </p:txBody>
        </p:sp>
      </p:grpSp>
      <p:sp>
        <p:nvSpPr>
          <p:cNvPr id="31" name="Freeform 31"/>
          <p:cNvSpPr/>
          <p:nvPr/>
        </p:nvSpPr>
        <p:spPr>
          <a:xfrm>
            <a:off x="-275141" y="2753836"/>
            <a:ext cx="8031197" cy="1338371"/>
          </a:xfrm>
          <a:custGeom>
            <a:avLst/>
            <a:gdLst/>
            <a:ahLst/>
            <a:cxnLst/>
            <a:rect l="l" t="t" r="r" b="b"/>
            <a:pathLst>
              <a:path w="12046795" h="2007556">
                <a:moveTo>
                  <a:pt x="0" y="0"/>
                </a:moveTo>
                <a:lnTo>
                  <a:pt x="12046795" y="0"/>
                </a:lnTo>
                <a:lnTo>
                  <a:pt x="12046795" y="2007556"/>
                </a:lnTo>
                <a:lnTo>
                  <a:pt x="0" y="200755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32" name="Group 32"/>
          <p:cNvGrpSpPr/>
          <p:nvPr/>
        </p:nvGrpSpPr>
        <p:grpSpPr>
          <a:xfrm>
            <a:off x="304491" y="2561559"/>
            <a:ext cx="626643" cy="437616"/>
            <a:chOff x="0" y="0"/>
            <a:chExt cx="1253286" cy="87523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253236" cy="875284"/>
            </a:xfrm>
            <a:custGeom>
              <a:avLst/>
              <a:gdLst/>
              <a:ahLst/>
              <a:cxnLst/>
              <a:rect l="l" t="t" r="r" b="b"/>
              <a:pathLst>
                <a:path w="1253236" h="875284">
                  <a:moveTo>
                    <a:pt x="317500" y="0"/>
                  </a:moveTo>
                  <a:lnTo>
                    <a:pt x="935736" y="0"/>
                  </a:lnTo>
                  <a:cubicBezTo>
                    <a:pt x="1111123" y="0"/>
                    <a:pt x="1253236" y="142113"/>
                    <a:pt x="1253236" y="317500"/>
                  </a:cubicBezTo>
                  <a:lnTo>
                    <a:pt x="1253236" y="557784"/>
                  </a:lnTo>
                  <a:cubicBezTo>
                    <a:pt x="1253236" y="733171"/>
                    <a:pt x="1111123" y="875284"/>
                    <a:pt x="935736" y="875284"/>
                  </a:cubicBezTo>
                  <a:lnTo>
                    <a:pt x="317500" y="875284"/>
                  </a:lnTo>
                  <a:cubicBezTo>
                    <a:pt x="142113" y="875284"/>
                    <a:pt x="0" y="733171"/>
                    <a:pt x="0" y="557784"/>
                  </a:cubicBezTo>
                  <a:lnTo>
                    <a:pt x="0" y="317500"/>
                  </a:lnTo>
                  <a:cubicBezTo>
                    <a:pt x="0" y="142113"/>
                    <a:pt x="142113" y="0"/>
                    <a:pt x="317500" y="0"/>
                  </a:cubicBezTo>
                  <a:close/>
                </a:path>
              </a:pathLst>
            </a:custGeom>
            <a:solidFill>
              <a:srgbClr val="2F74C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304491" y="2533360"/>
            <a:ext cx="626643" cy="465815"/>
            <a:chOff x="0" y="0"/>
            <a:chExt cx="1253286" cy="93163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253286" cy="931630"/>
            </a:xfrm>
            <a:custGeom>
              <a:avLst/>
              <a:gdLst/>
              <a:ahLst/>
              <a:cxnLst/>
              <a:rect l="l" t="t" r="r" b="b"/>
              <a:pathLst>
                <a:path w="1253286" h="931630">
                  <a:moveTo>
                    <a:pt x="0" y="0"/>
                  </a:moveTo>
                  <a:lnTo>
                    <a:pt x="1253286" y="0"/>
                  </a:lnTo>
                  <a:lnTo>
                    <a:pt x="1253286" y="931630"/>
                  </a:lnTo>
                  <a:lnTo>
                    <a:pt x="0" y="9316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0" y="-28575"/>
              <a:ext cx="1253286" cy="9602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35"/>
                </a:lnSpc>
              </a:pPr>
              <a:r>
                <a:rPr lang="en-US" sz="1945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RQ2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294312" y="3145226"/>
            <a:ext cx="6037905" cy="743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79"/>
              </a:lnSpc>
            </a:pPr>
            <a:r>
              <a:rPr lang="en-US" sz="2666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Which regions are stable or volatile in enrollment patterns?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1102766" y="2561559"/>
            <a:ext cx="2341153" cy="437616"/>
            <a:chOff x="0" y="0"/>
            <a:chExt cx="4682306" cy="875232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4682236" cy="875157"/>
            </a:xfrm>
            <a:custGeom>
              <a:avLst/>
              <a:gdLst/>
              <a:ahLst/>
              <a:cxnLst/>
              <a:rect l="l" t="t" r="r" b="b"/>
              <a:pathLst>
                <a:path w="4682236" h="875157">
                  <a:moveTo>
                    <a:pt x="84963" y="0"/>
                  </a:moveTo>
                  <a:lnTo>
                    <a:pt x="4597273" y="0"/>
                  </a:lnTo>
                  <a:cubicBezTo>
                    <a:pt x="4644263" y="0"/>
                    <a:pt x="4682236" y="38100"/>
                    <a:pt x="4682236" y="84963"/>
                  </a:cubicBezTo>
                  <a:lnTo>
                    <a:pt x="4682236" y="790194"/>
                  </a:lnTo>
                  <a:cubicBezTo>
                    <a:pt x="4682236" y="837184"/>
                    <a:pt x="4644136" y="875157"/>
                    <a:pt x="4597273" y="875157"/>
                  </a:cubicBezTo>
                  <a:lnTo>
                    <a:pt x="84963" y="875157"/>
                  </a:lnTo>
                  <a:cubicBezTo>
                    <a:pt x="38100" y="875284"/>
                    <a:pt x="0" y="837184"/>
                    <a:pt x="0" y="790194"/>
                  </a:cubicBezTo>
                  <a:lnTo>
                    <a:pt x="0" y="84963"/>
                  </a:lnTo>
                  <a:cubicBezTo>
                    <a:pt x="0" y="38100"/>
                    <a:pt x="38100" y="0"/>
                    <a:pt x="84963" y="0"/>
                  </a:cubicBezTo>
                  <a:close/>
                </a:path>
              </a:pathLst>
            </a:custGeom>
            <a:solidFill>
              <a:srgbClr val="194E8B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1102766" y="2533360"/>
            <a:ext cx="2341153" cy="465815"/>
            <a:chOff x="0" y="0"/>
            <a:chExt cx="4682306" cy="93163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4682306" cy="931630"/>
            </a:xfrm>
            <a:custGeom>
              <a:avLst/>
              <a:gdLst/>
              <a:ahLst/>
              <a:cxnLst/>
              <a:rect l="l" t="t" r="r" b="b"/>
              <a:pathLst>
                <a:path w="4682306" h="931630">
                  <a:moveTo>
                    <a:pt x="0" y="0"/>
                  </a:moveTo>
                  <a:lnTo>
                    <a:pt x="4682306" y="0"/>
                  </a:lnTo>
                  <a:lnTo>
                    <a:pt x="4682306" y="931630"/>
                  </a:lnTo>
                  <a:lnTo>
                    <a:pt x="0" y="9316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0" y="-28575"/>
              <a:ext cx="4682306" cy="9602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35"/>
                </a:lnSpc>
              </a:pPr>
              <a:r>
                <a:rPr lang="en-US" sz="1945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CLASSIFICATION</a:t>
              </a:r>
            </a:p>
          </p:txBody>
        </p:sp>
      </p:grpSp>
      <p:sp>
        <p:nvSpPr>
          <p:cNvPr id="43" name="Freeform 43"/>
          <p:cNvSpPr/>
          <p:nvPr/>
        </p:nvSpPr>
        <p:spPr>
          <a:xfrm>
            <a:off x="-131396" y="4373385"/>
            <a:ext cx="9864400" cy="1315779"/>
          </a:xfrm>
          <a:custGeom>
            <a:avLst/>
            <a:gdLst/>
            <a:ahLst/>
            <a:cxnLst/>
            <a:rect l="l" t="t" r="r" b="b"/>
            <a:pathLst>
              <a:path w="14796600" h="1973669">
                <a:moveTo>
                  <a:pt x="0" y="0"/>
                </a:moveTo>
                <a:lnTo>
                  <a:pt x="14796599" y="0"/>
                </a:lnTo>
                <a:lnTo>
                  <a:pt x="14796599" y="1973668"/>
                </a:lnTo>
                <a:lnTo>
                  <a:pt x="0" y="197366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/>
          <p:cNvGrpSpPr/>
          <p:nvPr/>
        </p:nvGrpSpPr>
        <p:grpSpPr>
          <a:xfrm>
            <a:off x="372479" y="4181107"/>
            <a:ext cx="626643" cy="437616"/>
            <a:chOff x="0" y="0"/>
            <a:chExt cx="1253286" cy="87523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253236" cy="875284"/>
            </a:xfrm>
            <a:custGeom>
              <a:avLst/>
              <a:gdLst/>
              <a:ahLst/>
              <a:cxnLst/>
              <a:rect l="l" t="t" r="r" b="b"/>
              <a:pathLst>
                <a:path w="1253236" h="875284">
                  <a:moveTo>
                    <a:pt x="317500" y="0"/>
                  </a:moveTo>
                  <a:lnTo>
                    <a:pt x="935736" y="0"/>
                  </a:lnTo>
                  <a:cubicBezTo>
                    <a:pt x="1111123" y="0"/>
                    <a:pt x="1253236" y="142113"/>
                    <a:pt x="1253236" y="317500"/>
                  </a:cubicBezTo>
                  <a:lnTo>
                    <a:pt x="1253236" y="557784"/>
                  </a:lnTo>
                  <a:cubicBezTo>
                    <a:pt x="1253236" y="733171"/>
                    <a:pt x="1111123" y="875284"/>
                    <a:pt x="935736" y="875284"/>
                  </a:cubicBezTo>
                  <a:lnTo>
                    <a:pt x="317500" y="875284"/>
                  </a:lnTo>
                  <a:cubicBezTo>
                    <a:pt x="142113" y="875284"/>
                    <a:pt x="0" y="733171"/>
                    <a:pt x="0" y="557784"/>
                  </a:cubicBezTo>
                  <a:lnTo>
                    <a:pt x="0" y="317500"/>
                  </a:lnTo>
                  <a:cubicBezTo>
                    <a:pt x="0" y="142113"/>
                    <a:pt x="142113" y="0"/>
                    <a:pt x="317500" y="0"/>
                  </a:cubicBezTo>
                  <a:close/>
                </a:path>
              </a:pathLst>
            </a:custGeom>
            <a:solidFill>
              <a:srgbClr val="2F74C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6" name="Group 46"/>
          <p:cNvGrpSpPr/>
          <p:nvPr/>
        </p:nvGrpSpPr>
        <p:grpSpPr>
          <a:xfrm>
            <a:off x="372479" y="4152908"/>
            <a:ext cx="626643" cy="465815"/>
            <a:chOff x="0" y="0"/>
            <a:chExt cx="1253286" cy="93163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253286" cy="931630"/>
            </a:xfrm>
            <a:custGeom>
              <a:avLst/>
              <a:gdLst/>
              <a:ahLst/>
              <a:cxnLst/>
              <a:rect l="l" t="t" r="r" b="b"/>
              <a:pathLst>
                <a:path w="1253286" h="931630">
                  <a:moveTo>
                    <a:pt x="0" y="0"/>
                  </a:moveTo>
                  <a:lnTo>
                    <a:pt x="1253286" y="0"/>
                  </a:lnTo>
                  <a:lnTo>
                    <a:pt x="1253286" y="931630"/>
                  </a:lnTo>
                  <a:lnTo>
                    <a:pt x="0" y="9316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8" name="TextBox 48"/>
            <p:cNvSpPr txBox="1"/>
            <p:nvPr/>
          </p:nvSpPr>
          <p:spPr>
            <a:xfrm>
              <a:off x="0" y="-28575"/>
              <a:ext cx="1253286" cy="9602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35"/>
                </a:lnSpc>
              </a:pPr>
              <a:r>
                <a:rPr lang="en-US" sz="1945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RQ3</a:t>
              </a:r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1294313" y="4758424"/>
            <a:ext cx="7911903" cy="743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79"/>
              </a:lnSpc>
            </a:pPr>
            <a:r>
              <a:rPr lang="en-US" sz="2666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How can enrollment predictions and volatility classifications improve resource distribution?</a:t>
            </a:r>
          </a:p>
        </p:txBody>
      </p:sp>
      <p:grpSp>
        <p:nvGrpSpPr>
          <p:cNvPr id="50" name="Group 50"/>
          <p:cNvGrpSpPr/>
          <p:nvPr/>
        </p:nvGrpSpPr>
        <p:grpSpPr>
          <a:xfrm>
            <a:off x="1134516" y="4181107"/>
            <a:ext cx="2048756" cy="437616"/>
            <a:chOff x="0" y="0"/>
            <a:chExt cx="4097512" cy="875232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4097528" cy="875284"/>
            </a:xfrm>
            <a:custGeom>
              <a:avLst/>
              <a:gdLst/>
              <a:ahLst/>
              <a:cxnLst/>
              <a:rect l="l" t="t" r="r" b="b"/>
              <a:pathLst>
                <a:path w="4097528" h="875284">
                  <a:moveTo>
                    <a:pt x="97155" y="0"/>
                  </a:moveTo>
                  <a:lnTo>
                    <a:pt x="4000373" y="0"/>
                  </a:lnTo>
                  <a:cubicBezTo>
                    <a:pt x="4026154" y="0"/>
                    <a:pt x="4050792" y="10287"/>
                    <a:pt x="4069080" y="28448"/>
                  </a:cubicBezTo>
                  <a:cubicBezTo>
                    <a:pt x="4087368" y="46609"/>
                    <a:pt x="4097528" y="71374"/>
                    <a:pt x="4097528" y="97155"/>
                  </a:cubicBezTo>
                  <a:lnTo>
                    <a:pt x="4097528" y="778129"/>
                  </a:lnTo>
                  <a:cubicBezTo>
                    <a:pt x="4097528" y="803910"/>
                    <a:pt x="4087241" y="828548"/>
                    <a:pt x="4069080" y="846836"/>
                  </a:cubicBezTo>
                  <a:cubicBezTo>
                    <a:pt x="4050919" y="865124"/>
                    <a:pt x="4026154" y="875284"/>
                    <a:pt x="4000373" y="875284"/>
                  </a:cubicBezTo>
                  <a:lnTo>
                    <a:pt x="97155" y="875284"/>
                  </a:lnTo>
                  <a:cubicBezTo>
                    <a:pt x="71374" y="875284"/>
                    <a:pt x="46736" y="864997"/>
                    <a:pt x="28448" y="846836"/>
                  </a:cubicBezTo>
                  <a:cubicBezTo>
                    <a:pt x="10160" y="828675"/>
                    <a:pt x="0" y="803910"/>
                    <a:pt x="0" y="778129"/>
                  </a:cubicBezTo>
                  <a:lnTo>
                    <a:pt x="0" y="97155"/>
                  </a:lnTo>
                  <a:cubicBezTo>
                    <a:pt x="0" y="71374"/>
                    <a:pt x="10287" y="46609"/>
                    <a:pt x="28448" y="28448"/>
                  </a:cubicBezTo>
                  <a:cubicBezTo>
                    <a:pt x="46609" y="10287"/>
                    <a:pt x="71374" y="0"/>
                    <a:pt x="97155" y="0"/>
                  </a:cubicBezTo>
                  <a:close/>
                </a:path>
              </a:pathLst>
            </a:custGeom>
            <a:solidFill>
              <a:srgbClr val="194E8B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1134516" y="4152908"/>
            <a:ext cx="2048756" cy="465815"/>
            <a:chOff x="0" y="0"/>
            <a:chExt cx="4097512" cy="93163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4097512" cy="931630"/>
            </a:xfrm>
            <a:custGeom>
              <a:avLst/>
              <a:gdLst/>
              <a:ahLst/>
              <a:cxnLst/>
              <a:rect l="l" t="t" r="r" b="b"/>
              <a:pathLst>
                <a:path w="4097512" h="931630">
                  <a:moveTo>
                    <a:pt x="0" y="0"/>
                  </a:moveTo>
                  <a:lnTo>
                    <a:pt x="4097512" y="0"/>
                  </a:lnTo>
                  <a:lnTo>
                    <a:pt x="4097512" y="931630"/>
                  </a:lnTo>
                  <a:lnTo>
                    <a:pt x="0" y="9316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4" name="TextBox 54"/>
            <p:cNvSpPr txBox="1"/>
            <p:nvPr/>
          </p:nvSpPr>
          <p:spPr>
            <a:xfrm>
              <a:off x="0" y="-28575"/>
              <a:ext cx="4097512" cy="9602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35"/>
                </a:lnSpc>
              </a:pPr>
              <a:r>
                <a:rPr lang="en-US" sz="1945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APPLICATION</a:t>
              </a:r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6606116" y="6248524"/>
            <a:ext cx="5375784" cy="5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8"/>
              </a:lnSpc>
            </a:pPr>
            <a:r>
              <a:rPr lang="en-US" sz="3600" b="1">
                <a:solidFill>
                  <a:srgbClr val="EBE5E5"/>
                </a:solidFill>
                <a:latin typeface="Arimo Bold"/>
                <a:ea typeface="Arimo Bold"/>
                <a:cs typeface="Arimo Bold"/>
                <a:sym typeface="Arimo Bold"/>
              </a:rPr>
              <a:t>KALIMUHAGAN 2025</a:t>
            </a:r>
          </a:p>
        </p:txBody>
      </p:sp>
      <p:grpSp>
        <p:nvGrpSpPr>
          <p:cNvPr id="56" name="Group 56"/>
          <p:cNvGrpSpPr/>
          <p:nvPr/>
        </p:nvGrpSpPr>
        <p:grpSpPr>
          <a:xfrm>
            <a:off x="797523" y="5722826"/>
            <a:ext cx="1527239" cy="396621"/>
            <a:chOff x="0" y="0"/>
            <a:chExt cx="3054477" cy="793242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3054477" cy="793242"/>
            </a:xfrm>
            <a:custGeom>
              <a:avLst/>
              <a:gdLst/>
              <a:ahLst/>
              <a:cxnLst/>
              <a:rect l="l" t="t" r="r" b="b"/>
              <a:pathLst>
                <a:path w="3054477" h="793242">
                  <a:moveTo>
                    <a:pt x="0" y="0"/>
                  </a:moveTo>
                  <a:lnTo>
                    <a:pt x="3054477" y="0"/>
                  </a:lnTo>
                  <a:lnTo>
                    <a:pt x="3054477" y="793242"/>
                  </a:lnTo>
                  <a:lnTo>
                    <a:pt x="0" y="793242"/>
                  </a:lnTo>
                  <a:close/>
                </a:path>
              </a:pathLst>
            </a:custGeom>
            <a:solidFill>
              <a:srgbClr val="EBBD1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58" name="TextBox 58"/>
          <p:cNvSpPr txBox="1"/>
          <p:nvPr/>
        </p:nvSpPr>
        <p:spPr>
          <a:xfrm>
            <a:off x="820101" y="5712067"/>
            <a:ext cx="1482067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</a:pPr>
            <a:r>
              <a:rPr lang="en-US" b="1">
                <a:solidFill>
                  <a:srgbClr val="EBE5E5"/>
                </a:solidFill>
                <a:latin typeface="Britannic Bold"/>
                <a:ea typeface="Britannic Bold"/>
                <a:cs typeface="Britannic Bold"/>
                <a:sym typeface="Britannic Bold"/>
              </a:rPr>
              <a:t>ENLIGHTEN.</a:t>
            </a:r>
          </a:p>
        </p:txBody>
      </p:sp>
      <p:grpSp>
        <p:nvGrpSpPr>
          <p:cNvPr id="59" name="Group 59"/>
          <p:cNvGrpSpPr/>
          <p:nvPr/>
        </p:nvGrpSpPr>
        <p:grpSpPr>
          <a:xfrm>
            <a:off x="2324747" y="5722826"/>
            <a:ext cx="1570037" cy="396621"/>
            <a:chOff x="0" y="0"/>
            <a:chExt cx="3140075" cy="793242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3140075" cy="793242"/>
            </a:xfrm>
            <a:custGeom>
              <a:avLst/>
              <a:gdLst/>
              <a:ahLst/>
              <a:cxnLst/>
              <a:rect l="l" t="t" r="r" b="b"/>
              <a:pathLst>
                <a:path w="3140075" h="793242">
                  <a:moveTo>
                    <a:pt x="0" y="0"/>
                  </a:moveTo>
                  <a:lnTo>
                    <a:pt x="3140075" y="0"/>
                  </a:lnTo>
                  <a:lnTo>
                    <a:pt x="3140075" y="793242"/>
                  </a:lnTo>
                  <a:lnTo>
                    <a:pt x="0" y="793242"/>
                  </a:lnTo>
                  <a:close/>
                </a:path>
              </a:pathLst>
            </a:custGeom>
            <a:solidFill>
              <a:srgbClr val="C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1" name="TextBox 61"/>
          <p:cNvSpPr txBox="1"/>
          <p:nvPr/>
        </p:nvSpPr>
        <p:spPr>
          <a:xfrm>
            <a:off x="2347326" y="5712067"/>
            <a:ext cx="1524857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2000" b="1">
                <a:solidFill>
                  <a:srgbClr val="EBE5E5"/>
                </a:solidFill>
                <a:latin typeface="Britannic Bold"/>
                <a:ea typeface="Britannic Bold"/>
                <a:cs typeface="Britannic Bold"/>
                <a:sym typeface="Britannic Bold"/>
              </a:rPr>
              <a:t>EMPOWER.</a:t>
            </a:r>
          </a:p>
        </p:txBody>
      </p:sp>
      <p:grpSp>
        <p:nvGrpSpPr>
          <p:cNvPr id="62" name="Group 62"/>
          <p:cNvGrpSpPr/>
          <p:nvPr/>
        </p:nvGrpSpPr>
        <p:grpSpPr>
          <a:xfrm>
            <a:off x="999319" y="6119684"/>
            <a:ext cx="1325435" cy="396621"/>
            <a:chOff x="0" y="0"/>
            <a:chExt cx="2650871" cy="793242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2650871" cy="793242"/>
            </a:xfrm>
            <a:custGeom>
              <a:avLst/>
              <a:gdLst/>
              <a:ahLst/>
              <a:cxnLst/>
              <a:rect l="l" t="t" r="r" b="b"/>
              <a:pathLst>
                <a:path w="2650871" h="793242">
                  <a:moveTo>
                    <a:pt x="0" y="0"/>
                  </a:moveTo>
                  <a:lnTo>
                    <a:pt x="2650871" y="0"/>
                  </a:lnTo>
                  <a:lnTo>
                    <a:pt x="2650871" y="793242"/>
                  </a:lnTo>
                  <a:lnTo>
                    <a:pt x="0" y="793242"/>
                  </a:lnTo>
                  <a:close/>
                </a:path>
              </a:pathLst>
            </a:custGeom>
            <a:solidFill>
              <a:srgbClr val="0047B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4" name="TextBox 64"/>
          <p:cNvSpPr txBox="1"/>
          <p:nvPr/>
        </p:nvSpPr>
        <p:spPr>
          <a:xfrm>
            <a:off x="1021896" y="6108925"/>
            <a:ext cx="1280272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7"/>
              </a:lnSpc>
            </a:pPr>
            <a:r>
              <a:rPr lang="en-US" sz="2219" b="1">
                <a:solidFill>
                  <a:srgbClr val="EBE5E5"/>
                </a:solidFill>
                <a:latin typeface="Britannic Bold"/>
                <a:ea typeface="Britannic Bold"/>
                <a:cs typeface="Britannic Bold"/>
                <a:sym typeface="Britannic Bold"/>
              </a:rPr>
              <a:t>ENGAGE:</a:t>
            </a:r>
          </a:p>
        </p:txBody>
      </p:sp>
      <p:grpSp>
        <p:nvGrpSpPr>
          <p:cNvPr id="65" name="Group 65"/>
          <p:cNvGrpSpPr/>
          <p:nvPr/>
        </p:nvGrpSpPr>
        <p:grpSpPr>
          <a:xfrm>
            <a:off x="2324746" y="6118915"/>
            <a:ext cx="1476185" cy="396621"/>
            <a:chOff x="0" y="0"/>
            <a:chExt cx="2952370" cy="793242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2952369" cy="793242"/>
            </a:xfrm>
            <a:custGeom>
              <a:avLst/>
              <a:gdLst/>
              <a:ahLst/>
              <a:cxnLst/>
              <a:rect l="l" t="t" r="r" b="b"/>
              <a:pathLst>
                <a:path w="2952369" h="793242">
                  <a:moveTo>
                    <a:pt x="0" y="0"/>
                  </a:moveTo>
                  <a:lnTo>
                    <a:pt x="2952369" y="0"/>
                  </a:lnTo>
                  <a:lnTo>
                    <a:pt x="2952369" y="793242"/>
                  </a:lnTo>
                  <a:lnTo>
                    <a:pt x="0" y="793242"/>
                  </a:lnTo>
                  <a:close/>
                </a:path>
              </a:pathLst>
            </a:custGeom>
            <a:solidFill>
              <a:srgbClr val="19191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7" name="TextBox 67"/>
          <p:cNvSpPr txBox="1"/>
          <p:nvPr/>
        </p:nvSpPr>
        <p:spPr>
          <a:xfrm>
            <a:off x="2347324" y="6108156"/>
            <a:ext cx="1431003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2000" b="1">
                <a:solidFill>
                  <a:srgbClr val="EBE5E5"/>
                </a:solidFill>
                <a:latin typeface="Britannic Bold"/>
                <a:ea typeface="Britannic Bold"/>
                <a:cs typeface="Britannic Bold"/>
                <a:sym typeface="Britannic Bold"/>
              </a:rPr>
              <a:t>I WILL GO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59937" y="5824793"/>
            <a:ext cx="1215772" cy="1333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69"/>
              </a:lnSpc>
            </a:pPr>
            <a:r>
              <a:rPr lang="en-US" sz="9600">
                <a:solidFill>
                  <a:srgbClr val="DFC991"/>
                </a:solidFill>
                <a:latin typeface="Arimo"/>
                <a:ea typeface="Arimo"/>
                <a:cs typeface="Arimo"/>
                <a:sym typeface="Arimo"/>
              </a:rPr>
              <a:t>“</a:t>
            </a:r>
          </a:p>
        </p:txBody>
      </p:sp>
      <p:sp>
        <p:nvSpPr>
          <p:cNvPr id="69" name="TextBox 69"/>
          <p:cNvSpPr txBox="1"/>
          <p:nvPr/>
        </p:nvSpPr>
        <p:spPr>
          <a:xfrm rot="-10800000">
            <a:off x="3293313" y="5658350"/>
            <a:ext cx="1215772" cy="1333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69"/>
              </a:lnSpc>
            </a:pPr>
            <a:r>
              <a:rPr lang="en-US" sz="9600">
                <a:solidFill>
                  <a:srgbClr val="DFC991"/>
                </a:solidFill>
                <a:latin typeface="Arimo"/>
                <a:ea typeface="Arimo"/>
                <a:cs typeface="Arimo"/>
                <a:sym typeface="Arimo"/>
              </a:rPr>
              <a:t>“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8759672" y="476250"/>
            <a:ext cx="3269159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1"/>
              </a:lnSpc>
            </a:pPr>
            <a:r>
              <a:rPr lang="en-US" sz="2334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QUESTIONS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96000" y="510547"/>
            <a:ext cx="7519989" cy="5836905"/>
          </a:xfrm>
          <a:custGeom>
            <a:avLst/>
            <a:gdLst/>
            <a:ahLst/>
            <a:cxnLst/>
            <a:rect l="l" t="t" r="r" b="b"/>
            <a:pathLst>
              <a:path w="11279983" h="8755358">
                <a:moveTo>
                  <a:pt x="0" y="0"/>
                </a:moveTo>
                <a:lnTo>
                  <a:pt x="11279984" y="0"/>
                </a:lnTo>
                <a:lnTo>
                  <a:pt x="11279984" y="8755358"/>
                </a:lnTo>
                <a:lnTo>
                  <a:pt x="0" y="87553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 t="-11" b="-11"/>
            </a:stretch>
          </a:blipFill>
        </p:spPr>
      </p:sp>
      <p:grpSp>
        <p:nvGrpSpPr>
          <p:cNvPr id="3" name="Group 3"/>
          <p:cNvGrpSpPr/>
          <p:nvPr/>
        </p:nvGrpSpPr>
        <p:grpSpPr>
          <a:xfrm rot="-5400000">
            <a:off x="3819494" y="-4780589"/>
            <a:ext cx="1880171" cy="9519157"/>
            <a:chOff x="0" y="0"/>
            <a:chExt cx="3760343" cy="1903831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0343" cy="19038315"/>
            </a:xfrm>
            <a:custGeom>
              <a:avLst/>
              <a:gdLst/>
              <a:ahLst/>
              <a:cxnLst/>
              <a:rect l="l" t="t" r="r" b="b"/>
              <a:pathLst>
                <a:path w="3760343" h="19038315">
                  <a:moveTo>
                    <a:pt x="0" y="0"/>
                  </a:moveTo>
                  <a:lnTo>
                    <a:pt x="3760343" y="0"/>
                  </a:lnTo>
                  <a:lnTo>
                    <a:pt x="3760343" y="15230602"/>
                  </a:lnTo>
                  <a:lnTo>
                    <a:pt x="1880235" y="19038315"/>
                  </a:lnTo>
                  <a:lnTo>
                    <a:pt x="0" y="15230602"/>
                  </a:lnTo>
                  <a:close/>
                </a:path>
              </a:pathLst>
            </a:custGeom>
            <a:solidFill>
              <a:srgbClr val="002D7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5" name="Group 5"/>
          <p:cNvGrpSpPr/>
          <p:nvPr/>
        </p:nvGrpSpPr>
        <p:grpSpPr>
          <a:xfrm rot="5400000">
            <a:off x="8579010" y="2124467"/>
            <a:ext cx="1880235" cy="9519159"/>
            <a:chOff x="0" y="0"/>
            <a:chExt cx="3760470" cy="1903831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760470" cy="19038317"/>
            </a:xfrm>
            <a:custGeom>
              <a:avLst/>
              <a:gdLst/>
              <a:ahLst/>
              <a:cxnLst/>
              <a:rect l="l" t="t" r="r" b="b"/>
              <a:pathLst>
                <a:path w="3760470" h="19038317">
                  <a:moveTo>
                    <a:pt x="3760343" y="0"/>
                  </a:moveTo>
                  <a:lnTo>
                    <a:pt x="0" y="0"/>
                  </a:lnTo>
                  <a:lnTo>
                    <a:pt x="0" y="15230602"/>
                  </a:lnTo>
                  <a:lnTo>
                    <a:pt x="1880235" y="19038317"/>
                  </a:lnTo>
                  <a:lnTo>
                    <a:pt x="3760470" y="15230602"/>
                  </a:lnTo>
                  <a:close/>
                </a:path>
              </a:pathLst>
            </a:custGeom>
            <a:solidFill>
              <a:srgbClr val="002D7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250264" y="36715"/>
            <a:ext cx="887349" cy="784797"/>
            <a:chOff x="0" y="0"/>
            <a:chExt cx="1774698" cy="156959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74698" cy="1569593"/>
            </a:xfrm>
            <a:custGeom>
              <a:avLst/>
              <a:gdLst/>
              <a:ahLst/>
              <a:cxnLst/>
              <a:rect l="l" t="t" r="r" b="b"/>
              <a:pathLst>
                <a:path w="1774698" h="1569593">
                  <a:moveTo>
                    <a:pt x="0" y="0"/>
                  </a:moveTo>
                  <a:lnTo>
                    <a:pt x="1774698" y="0"/>
                  </a:lnTo>
                  <a:lnTo>
                    <a:pt x="1774698" y="1569593"/>
                  </a:lnTo>
                  <a:lnTo>
                    <a:pt x="0" y="15695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0" b="-10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6231928" y="-10604"/>
            <a:ext cx="955548" cy="931672"/>
            <a:chOff x="0" y="0"/>
            <a:chExt cx="1911096" cy="186334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11096" cy="1863344"/>
            </a:xfrm>
            <a:custGeom>
              <a:avLst/>
              <a:gdLst/>
              <a:ahLst/>
              <a:cxnLst/>
              <a:rect l="l" t="t" r="r" b="b"/>
              <a:pathLst>
                <a:path w="1911096" h="1863344">
                  <a:moveTo>
                    <a:pt x="0" y="0"/>
                  </a:moveTo>
                  <a:lnTo>
                    <a:pt x="1911096" y="0"/>
                  </a:lnTo>
                  <a:lnTo>
                    <a:pt x="1911096" y="1863344"/>
                  </a:lnTo>
                  <a:lnTo>
                    <a:pt x="0" y="1863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15" b="-115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98977" y="391284"/>
            <a:ext cx="1035539" cy="768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lang="en-US" sz="6875" b="1" spc="-17">
                <a:solidFill>
                  <a:srgbClr val="FFE766"/>
                </a:solidFill>
                <a:latin typeface="DG Ghareeb Bold"/>
                <a:ea typeface="DG Ghareeb Bold"/>
                <a:cs typeface="DG Ghareeb Bold"/>
                <a:sym typeface="DG Ghareeb Bold"/>
              </a:rPr>
              <a:t>3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25147" y="289351"/>
            <a:ext cx="769306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28"/>
              </a:lnSpc>
            </a:pPr>
            <a:r>
              <a:rPr lang="en-US" sz="1600" b="1">
                <a:solidFill>
                  <a:srgbClr val="EBE5E5"/>
                </a:solidFill>
                <a:latin typeface="Arimo Bold"/>
                <a:ea typeface="Arimo Bold"/>
                <a:cs typeface="Arimo Bold"/>
                <a:sym typeface="Arimo Bold"/>
              </a:rPr>
              <a:t>rd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2530375" y="98220"/>
            <a:ext cx="6480197" cy="718005"/>
            <a:chOff x="0" y="0"/>
            <a:chExt cx="12960394" cy="143601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960394" cy="1436011"/>
            </a:xfrm>
            <a:custGeom>
              <a:avLst/>
              <a:gdLst/>
              <a:ahLst/>
              <a:cxnLst/>
              <a:rect l="l" t="t" r="r" b="b"/>
              <a:pathLst>
                <a:path w="12960394" h="1436011">
                  <a:moveTo>
                    <a:pt x="0" y="0"/>
                  </a:moveTo>
                  <a:lnTo>
                    <a:pt x="12960394" y="0"/>
                  </a:lnTo>
                  <a:lnTo>
                    <a:pt x="12960394" y="1436011"/>
                  </a:lnTo>
                  <a:lnTo>
                    <a:pt x="0" y="143601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9525"/>
              <a:ext cx="12960394" cy="1426486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>
                <a:lnSpc>
                  <a:spcPts val="1944"/>
                </a:lnSpc>
              </a:pPr>
              <a:r>
                <a:rPr lang="en-US" b="1">
                  <a:solidFill>
                    <a:srgbClr val="EBE5E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MULTIDISCIPLINARY </a:t>
              </a:r>
            </a:p>
            <a:p>
              <a:pPr>
                <a:lnSpc>
                  <a:spcPts val="1944"/>
                </a:lnSpc>
              </a:pPr>
              <a:r>
                <a:rPr lang="en-US" b="1">
                  <a:solidFill>
                    <a:srgbClr val="EBE5E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RESEARCH CONGRESS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15604" y="-64882"/>
            <a:ext cx="1653171" cy="906587"/>
            <a:chOff x="0" y="0"/>
            <a:chExt cx="3306342" cy="181317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306342" cy="1813173"/>
            </a:xfrm>
            <a:custGeom>
              <a:avLst/>
              <a:gdLst/>
              <a:ahLst/>
              <a:cxnLst/>
              <a:rect l="l" t="t" r="r" b="b"/>
              <a:pathLst>
                <a:path w="3306342" h="1813173">
                  <a:moveTo>
                    <a:pt x="0" y="0"/>
                  </a:moveTo>
                  <a:lnTo>
                    <a:pt x="3306342" y="0"/>
                  </a:lnTo>
                  <a:lnTo>
                    <a:pt x="3306342" y="1813173"/>
                  </a:lnTo>
                  <a:lnTo>
                    <a:pt x="0" y="18131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47625"/>
              <a:ext cx="3306342" cy="1765548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>
                <a:lnSpc>
                  <a:spcPts val="4320"/>
                </a:lnSpc>
              </a:pPr>
              <a:r>
                <a:rPr lang="en-US" sz="4000" b="1">
                  <a:solidFill>
                    <a:srgbClr val="EBE5E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SPAC</a:t>
              </a:r>
            </a:p>
          </p:txBody>
        </p:sp>
      </p:grpSp>
      <p:sp>
        <p:nvSpPr>
          <p:cNvPr id="19" name="Freeform 19"/>
          <p:cNvSpPr/>
          <p:nvPr/>
        </p:nvSpPr>
        <p:spPr>
          <a:xfrm>
            <a:off x="-190670" y="1183315"/>
            <a:ext cx="12748430" cy="1327445"/>
          </a:xfrm>
          <a:custGeom>
            <a:avLst/>
            <a:gdLst/>
            <a:ahLst/>
            <a:cxnLst/>
            <a:rect l="l" t="t" r="r" b="b"/>
            <a:pathLst>
              <a:path w="14564712" h="1991167">
                <a:moveTo>
                  <a:pt x="0" y="0"/>
                </a:moveTo>
                <a:lnTo>
                  <a:pt x="14564711" y="0"/>
                </a:lnTo>
                <a:lnTo>
                  <a:pt x="14564711" y="1991167"/>
                </a:lnTo>
                <a:lnTo>
                  <a:pt x="0" y="199116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340729" y="991037"/>
            <a:ext cx="626643" cy="437616"/>
            <a:chOff x="0" y="0"/>
            <a:chExt cx="1253286" cy="87523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253236" cy="875284"/>
            </a:xfrm>
            <a:custGeom>
              <a:avLst/>
              <a:gdLst/>
              <a:ahLst/>
              <a:cxnLst/>
              <a:rect l="l" t="t" r="r" b="b"/>
              <a:pathLst>
                <a:path w="1253236" h="875284">
                  <a:moveTo>
                    <a:pt x="317500" y="0"/>
                  </a:moveTo>
                  <a:lnTo>
                    <a:pt x="935736" y="0"/>
                  </a:lnTo>
                  <a:cubicBezTo>
                    <a:pt x="1111123" y="0"/>
                    <a:pt x="1253236" y="142113"/>
                    <a:pt x="1253236" y="317500"/>
                  </a:cubicBezTo>
                  <a:lnTo>
                    <a:pt x="1253236" y="557784"/>
                  </a:lnTo>
                  <a:cubicBezTo>
                    <a:pt x="1253236" y="733171"/>
                    <a:pt x="1111123" y="875284"/>
                    <a:pt x="935736" y="875284"/>
                  </a:cubicBezTo>
                  <a:lnTo>
                    <a:pt x="317500" y="875284"/>
                  </a:lnTo>
                  <a:cubicBezTo>
                    <a:pt x="142113" y="875284"/>
                    <a:pt x="0" y="733171"/>
                    <a:pt x="0" y="557784"/>
                  </a:cubicBezTo>
                  <a:lnTo>
                    <a:pt x="0" y="317500"/>
                  </a:lnTo>
                  <a:cubicBezTo>
                    <a:pt x="0" y="142113"/>
                    <a:pt x="142113" y="0"/>
                    <a:pt x="317500" y="0"/>
                  </a:cubicBezTo>
                  <a:close/>
                </a:path>
              </a:pathLst>
            </a:custGeom>
            <a:solidFill>
              <a:srgbClr val="2F74C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340729" y="962838"/>
            <a:ext cx="626643" cy="465815"/>
            <a:chOff x="0" y="0"/>
            <a:chExt cx="1253286" cy="93163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253286" cy="931630"/>
            </a:xfrm>
            <a:custGeom>
              <a:avLst/>
              <a:gdLst/>
              <a:ahLst/>
              <a:cxnLst/>
              <a:rect l="l" t="t" r="r" b="b"/>
              <a:pathLst>
                <a:path w="1253286" h="931630">
                  <a:moveTo>
                    <a:pt x="0" y="0"/>
                  </a:moveTo>
                  <a:lnTo>
                    <a:pt x="1253286" y="0"/>
                  </a:lnTo>
                  <a:lnTo>
                    <a:pt x="1253286" y="931630"/>
                  </a:lnTo>
                  <a:lnTo>
                    <a:pt x="0" y="9316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28575"/>
              <a:ext cx="1253286" cy="9602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35"/>
                </a:lnSpc>
              </a:pPr>
              <a:r>
                <a:rPr lang="en-US" sz="1945" b="1" dirty="0" smtClean="0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</a:t>
              </a:r>
              <a:r>
                <a:rPr lang="en-US" sz="1945" b="1" dirty="0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</a:t>
              </a:r>
              <a:r>
                <a:rPr lang="en-US" sz="1945" b="1" dirty="0" smtClean="0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</a:t>
              </a:r>
              <a:endParaRPr lang="en-US" sz="1945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479718" y="1395070"/>
            <a:ext cx="11903721" cy="11156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79"/>
              </a:lnSpc>
            </a:pPr>
            <a:r>
              <a:rPr lang="en-US" sz="2000" b="1" dirty="0">
                <a:solidFill>
                  <a:schemeClr val="bg1"/>
                </a:solidFill>
                <a:latin typeface="Arimo Bold"/>
              </a:rPr>
              <a:t>Evaluate and compare the performance of multiple machine learning algorithms (Linear Regression, Decision Tree, Random Forest, and Support Vector Regression) using historical enrollment data from 2010-2021 across all 17 Philippine regions.</a:t>
            </a:r>
            <a:endParaRPr lang="en-US" sz="2000" b="1" dirty="0">
              <a:solidFill>
                <a:schemeClr val="bg1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grpSp>
        <p:nvGrpSpPr>
          <p:cNvPr id="26" name="Group 26"/>
          <p:cNvGrpSpPr/>
          <p:nvPr/>
        </p:nvGrpSpPr>
        <p:grpSpPr>
          <a:xfrm>
            <a:off x="1134516" y="991037"/>
            <a:ext cx="1822813" cy="437616"/>
            <a:chOff x="0" y="0"/>
            <a:chExt cx="3645626" cy="87523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645662" cy="875284"/>
            </a:xfrm>
            <a:custGeom>
              <a:avLst/>
              <a:gdLst/>
              <a:ahLst/>
              <a:cxnLst/>
              <a:rect l="l" t="t" r="r" b="b"/>
              <a:pathLst>
                <a:path w="3645662" h="875284">
                  <a:moveTo>
                    <a:pt x="109093" y="0"/>
                  </a:moveTo>
                  <a:lnTo>
                    <a:pt x="3536442" y="0"/>
                  </a:lnTo>
                  <a:cubicBezTo>
                    <a:pt x="3565398" y="0"/>
                    <a:pt x="3593211" y="11557"/>
                    <a:pt x="3613658" y="32004"/>
                  </a:cubicBezTo>
                  <a:cubicBezTo>
                    <a:pt x="3634105" y="52451"/>
                    <a:pt x="3645662" y="80264"/>
                    <a:pt x="3645662" y="109220"/>
                  </a:cubicBezTo>
                  <a:lnTo>
                    <a:pt x="3645662" y="766064"/>
                  </a:lnTo>
                  <a:cubicBezTo>
                    <a:pt x="3645662" y="795020"/>
                    <a:pt x="3634105" y="822833"/>
                    <a:pt x="3613658" y="843280"/>
                  </a:cubicBezTo>
                  <a:cubicBezTo>
                    <a:pt x="3593211" y="863727"/>
                    <a:pt x="3565398" y="875284"/>
                    <a:pt x="3536442" y="875284"/>
                  </a:cubicBezTo>
                  <a:lnTo>
                    <a:pt x="109093" y="875284"/>
                  </a:lnTo>
                  <a:cubicBezTo>
                    <a:pt x="80137" y="875284"/>
                    <a:pt x="52324" y="863727"/>
                    <a:pt x="31877" y="843280"/>
                  </a:cubicBezTo>
                  <a:cubicBezTo>
                    <a:pt x="11430" y="822833"/>
                    <a:pt x="0" y="795020"/>
                    <a:pt x="0" y="766064"/>
                  </a:cubicBezTo>
                  <a:lnTo>
                    <a:pt x="0" y="109093"/>
                  </a:lnTo>
                  <a:cubicBezTo>
                    <a:pt x="0" y="80137"/>
                    <a:pt x="11557" y="52451"/>
                    <a:pt x="32004" y="32004"/>
                  </a:cubicBezTo>
                  <a:cubicBezTo>
                    <a:pt x="52451" y="11557"/>
                    <a:pt x="80137" y="0"/>
                    <a:pt x="109093" y="0"/>
                  </a:cubicBezTo>
                  <a:close/>
                </a:path>
              </a:pathLst>
            </a:custGeom>
            <a:solidFill>
              <a:srgbClr val="194E8B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1134516" y="962838"/>
            <a:ext cx="1822813" cy="465815"/>
            <a:chOff x="0" y="0"/>
            <a:chExt cx="3645626" cy="93163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645626" cy="931630"/>
            </a:xfrm>
            <a:custGeom>
              <a:avLst/>
              <a:gdLst/>
              <a:ahLst/>
              <a:cxnLst/>
              <a:rect l="l" t="t" r="r" b="b"/>
              <a:pathLst>
                <a:path w="3645626" h="931630">
                  <a:moveTo>
                    <a:pt x="0" y="0"/>
                  </a:moveTo>
                  <a:lnTo>
                    <a:pt x="3645626" y="0"/>
                  </a:lnTo>
                  <a:lnTo>
                    <a:pt x="3645626" y="931630"/>
                  </a:lnTo>
                  <a:lnTo>
                    <a:pt x="0" y="9316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0" y="-28575"/>
              <a:ext cx="3645626" cy="9602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35"/>
                </a:lnSpc>
              </a:pPr>
              <a:r>
                <a:rPr lang="en-US" sz="1945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PREDICTION</a:t>
              </a:r>
            </a:p>
          </p:txBody>
        </p:sp>
      </p:grpSp>
      <p:sp>
        <p:nvSpPr>
          <p:cNvPr id="31" name="Freeform 31"/>
          <p:cNvSpPr/>
          <p:nvPr/>
        </p:nvSpPr>
        <p:spPr>
          <a:xfrm>
            <a:off x="-275141" y="2753836"/>
            <a:ext cx="13272684" cy="1338371"/>
          </a:xfrm>
          <a:custGeom>
            <a:avLst/>
            <a:gdLst/>
            <a:ahLst/>
            <a:cxnLst/>
            <a:rect l="l" t="t" r="r" b="b"/>
            <a:pathLst>
              <a:path w="12046795" h="2007556">
                <a:moveTo>
                  <a:pt x="0" y="0"/>
                </a:moveTo>
                <a:lnTo>
                  <a:pt x="12046795" y="0"/>
                </a:lnTo>
                <a:lnTo>
                  <a:pt x="12046795" y="2007556"/>
                </a:lnTo>
                <a:lnTo>
                  <a:pt x="0" y="200755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32" name="Group 32"/>
          <p:cNvGrpSpPr/>
          <p:nvPr/>
        </p:nvGrpSpPr>
        <p:grpSpPr>
          <a:xfrm>
            <a:off x="304491" y="2561559"/>
            <a:ext cx="626643" cy="437616"/>
            <a:chOff x="0" y="0"/>
            <a:chExt cx="1253286" cy="87523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253236" cy="875284"/>
            </a:xfrm>
            <a:custGeom>
              <a:avLst/>
              <a:gdLst/>
              <a:ahLst/>
              <a:cxnLst/>
              <a:rect l="l" t="t" r="r" b="b"/>
              <a:pathLst>
                <a:path w="1253236" h="875284">
                  <a:moveTo>
                    <a:pt x="317500" y="0"/>
                  </a:moveTo>
                  <a:lnTo>
                    <a:pt x="935736" y="0"/>
                  </a:lnTo>
                  <a:cubicBezTo>
                    <a:pt x="1111123" y="0"/>
                    <a:pt x="1253236" y="142113"/>
                    <a:pt x="1253236" y="317500"/>
                  </a:cubicBezTo>
                  <a:lnTo>
                    <a:pt x="1253236" y="557784"/>
                  </a:lnTo>
                  <a:cubicBezTo>
                    <a:pt x="1253236" y="733171"/>
                    <a:pt x="1111123" y="875284"/>
                    <a:pt x="935736" y="875284"/>
                  </a:cubicBezTo>
                  <a:lnTo>
                    <a:pt x="317500" y="875284"/>
                  </a:lnTo>
                  <a:cubicBezTo>
                    <a:pt x="142113" y="875284"/>
                    <a:pt x="0" y="733171"/>
                    <a:pt x="0" y="557784"/>
                  </a:cubicBezTo>
                  <a:lnTo>
                    <a:pt x="0" y="317500"/>
                  </a:lnTo>
                  <a:cubicBezTo>
                    <a:pt x="0" y="142113"/>
                    <a:pt x="142113" y="0"/>
                    <a:pt x="317500" y="0"/>
                  </a:cubicBezTo>
                  <a:close/>
                </a:path>
              </a:pathLst>
            </a:custGeom>
            <a:solidFill>
              <a:srgbClr val="2F74C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304491" y="2533360"/>
            <a:ext cx="626643" cy="465815"/>
            <a:chOff x="0" y="0"/>
            <a:chExt cx="1253286" cy="93163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253286" cy="931630"/>
            </a:xfrm>
            <a:custGeom>
              <a:avLst/>
              <a:gdLst/>
              <a:ahLst/>
              <a:cxnLst/>
              <a:rect l="l" t="t" r="r" b="b"/>
              <a:pathLst>
                <a:path w="1253286" h="931630">
                  <a:moveTo>
                    <a:pt x="0" y="0"/>
                  </a:moveTo>
                  <a:lnTo>
                    <a:pt x="1253286" y="0"/>
                  </a:lnTo>
                  <a:lnTo>
                    <a:pt x="1253286" y="931630"/>
                  </a:lnTo>
                  <a:lnTo>
                    <a:pt x="0" y="9316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0" y="-28575"/>
              <a:ext cx="1253286" cy="9602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35"/>
                </a:lnSpc>
              </a:pPr>
              <a:r>
                <a:rPr lang="en-US" sz="1945" b="1" dirty="0" smtClean="0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</a:t>
              </a:r>
              <a:r>
                <a:rPr lang="en-US" sz="1945" b="1" dirty="0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</a:t>
              </a:r>
              <a:r>
                <a:rPr lang="en-US" sz="1945" b="1" dirty="0" smtClean="0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</a:t>
              </a:r>
              <a:endParaRPr lang="en-US" sz="1945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59937" y="2999138"/>
            <a:ext cx="12032063" cy="11156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79"/>
              </a:lnSpc>
            </a:pPr>
            <a:r>
              <a:rPr lang="en-US" sz="2000" b="1" dirty="0" smtClean="0">
                <a:solidFill>
                  <a:schemeClr val="bg1"/>
                </a:solidFill>
                <a:latin typeface="Arimo Bold"/>
              </a:rPr>
              <a:t>To Identify </a:t>
            </a:r>
            <a:r>
              <a:rPr lang="en-US" sz="2000" b="1" dirty="0">
                <a:solidFill>
                  <a:schemeClr val="bg1"/>
                </a:solidFill>
                <a:latin typeface="Arimo Bold"/>
              </a:rPr>
              <a:t>and categorize regions as either stable or volatile using coefficient of variation analysis, establishing a 75th percentile threshold to distinguish regions requiring differentiated resource allocation strategies.</a:t>
            </a:r>
            <a:endParaRPr lang="en-US" sz="2000" b="1" dirty="0">
              <a:solidFill>
                <a:schemeClr val="bg1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grpSp>
        <p:nvGrpSpPr>
          <p:cNvPr id="38" name="Group 38"/>
          <p:cNvGrpSpPr/>
          <p:nvPr/>
        </p:nvGrpSpPr>
        <p:grpSpPr>
          <a:xfrm>
            <a:off x="1102766" y="2561559"/>
            <a:ext cx="2341153" cy="437616"/>
            <a:chOff x="0" y="0"/>
            <a:chExt cx="4682306" cy="875232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4682236" cy="875157"/>
            </a:xfrm>
            <a:custGeom>
              <a:avLst/>
              <a:gdLst/>
              <a:ahLst/>
              <a:cxnLst/>
              <a:rect l="l" t="t" r="r" b="b"/>
              <a:pathLst>
                <a:path w="4682236" h="875157">
                  <a:moveTo>
                    <a:pt x="84963" y="0"/>
                  </a:moveTo>
                  <a:lnTo>
                    <a:pt x="4597273" y="0"/>
                  </a:lnTo>
                  <a:cubicBezTo>
                    <a:pt x="4644263" y="0"/>
                    <a:pt x="4682236" y="38100"/>
                    <a:pt x="4682236" y="84963"/>
                  </a:cubicBezTo>
                  <a:lnTo>
                    <a:pt x="4682236" y="790194"/>
                  </a:lnTo>
                  <a:cubicBezTo>
                    <a:pt x="4682236" y="837184"/>
                    <a:pt x="4644136" y="875157"/>
                    <a:pt x="4597273" y="875157"/>
                  </a:cubicBezTo>
                  <a:lnTo>
                    <a:pt x="84963" y="875157"/>
                  </a:lnTo>
                  <a:cubicBezTo>
                    <a:pt x="38100" y="875284"/>
                    <a:pt x="0" y="837184"/>
                    <a:pt x="0" y="790194"/>
                  </a:cubicBezTo>
                  <a:lnTo>
                    <a:pt x="0" y="84963"/>
                  </a:lnTo>
                  <a:cubicBezTo>
                    <a:pt x="0" y="38100"/>
                    <a:pt x="38100" y="0"/>
                    <a:pt x="84963" y="0"/>
                  </a:cubicBezTo>
                  <a:close/>
                </a:path>
              </a:pathLst>
            </a:custGeom>
            <a:solidFill>
              <a:srgbClr val="194E8B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1102766" y="2533360"/>
            <a:ext cx="2341153" cy="465815"/>
            <a:chOff x="0" y="0"/>
            <a:chExt cx="4682306" cy="93163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4682306" cy="931630"/>
            </a:xfrm>
            <a:custGeom>
              <a:avLst/>
              <a:gdLst/>
              <a:ahLst/>
              <a:cxnLst/>
              <a:rect l="l" t="t" r="r" b="b"/>
              <a:pathLst>
                <a:path w="4682306" h="931630">
                  <a:moveTo>
                    <a:pt x="0" y="0"/>
                  </a:moveTo>
                  <a:lnTo>
                    <a:pt x="4682306" y="0"/>
                  </a:lnTo>
                  <a:lnTo>
                    <a:pt x="4682306" y="931630"/>
                  </a:lnTo>
                  <a:lnTo>
                    <a:pt x="0" y="9316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0" y="-28575"/>
              <a:ext cx="4682306" cy="9602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35"/>
                </a:lnSpc>
              </a:pPr>
              <a:r>
                <a:rPr lang="en-US" sz="1945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CLASSIFICATION</a:t>
              </a:r>
            </a:p>
          </p:txBody>
        </p:sp>
      </p:grpSp>
      <p:sp>
        <p:nvSpPr>
          <p:cNvPr id="43" name="Freeform 43"/>
          <p:cNvSpPr/>
          <p:nvPr/>
        </p:nvSpPr>
        <p:spPr>
          <a:xfrm>
            <a:off x="-131396" y="4373385"/>
            <a:ext cx="12689156" cy="1315779"/>
          </a:xfrm>
          <a:custGeom>
            <a:avLst/>
            <a:gdLst/>
            <a:ahLst/>
            <a:cxnLst/>
            <a:rect l="l" t="t" r="r" b="b"/>
            <a:pathLst>
              <a:path w="14796600" h="1973669">
                <a:moveTo>
                  <a:pt x="0" y="0"/>
                </a:moveTo>
                <a:lnTo>
                  <a:pt x="14796599" y="0"/>
                </a:lnTo>
                <a:lnTo>
                  <a:pt x="14796599" y="1973668"/>
                </a:lnTo>
                <a:lnTo>
                  <a:pt x="0" y="197366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/>
          <p:cNvGrpSpPr/>
          <p:nvPr/>
        </p:nvGrpSpPr>
        <p:grpSpPr>
          <a:xfrm>
            <a:off x="372479" y="4181107"/>
            <a:ext cx="626643" cy="437616"/>
            <a:chOff x="0" y="0"/>
            <a:chExt cx="1253286" cy="87523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253236" cy="875284"/>
            </a:xfrm>
            <a:custGeom>
              <a:avLst/>
              <a:gdLst/>
              <a:ahLst/>
              <a:cxnLst/>
              <a:rect l="l" t="t" r="r" b="b"/>
              <a:pathLst>
                <a:path w="1253236" h="875284">
                  <a:moveTo>
                    <a:pt x="317500" y="0"/>
                  </a:moveTo>
                  <a:lnTo>
                    <a:pt x="935736" y="0"/>
                  </a:lnTo>
                  <a:cubicBezTo>
                    <a:pt x="1111123" y="0"/>
                    <a:pt x="1253236" y="142113"/>
                    <a:pt x="1253236" y="317500"/>
                  </a:cubicBezTo>
                  <a:lnTo>
                    <a:pt x="1253236" y="557784"/>
                  </a:lnTo>
                  <a:cubicBezTo>
                    <a:pt x="1253236" y="733171"/>
                    <a:pt x="1111123" y="875284"/>
                    <a:pt x="935736" y="875284"/>
                  </a:cubicBezTo>
                  <a:lnTo>
                    <a:pt x="317500" y="875284"/>
                  </a:lnTo>
                  <a:cubicBezTo>
                    <a:pt x="142113" y="875284"/>
                    <a:pt x="0" y="733171"/>
                    <a:pt x="0" y="557784"/>
                  </a:cubicBezTo>
                  <a:lnTo>
                    <a:pt x="0" y="317500"/>
                  </a:lnTo>
                  <a:cubicBezTo>
                    <a:pt x="0" y="142113"/>
                    <a:pt x="142113" y="0"/>
                    <a:pt x="317500" y="0"/>
                  </a:cubicBezTo>
                  <a:close/>
                </a:path>
              </a:pathLst>
            </a:custGeom>
            <a:solidFill>
              <a:srgbClr val="2F74C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6" name="Group 46"/>
          <p:cNvGrpSpPr/>
          <p:nvPr/>
        </p:nvGrpSpPr>
        <p:grpSpPr>
          <a:xfrm>
            <a:off x="372479" y="4152908"/>
            <a:ext cx="626643" cy="465815"/>
            <a:chOff x="0" y="0"/>
            <a:chExt cx="1253286" cy="93163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253286" cy="931630"/>
            </a:xfrm>
            <a:custGeom>
              <a:avLst/>
              <a:gdLst/>
              <a:ahLst/>
              <a:cxnLst/>
              <a:rect l="l" t="t" r="r" b="b"/>
              <a:pathLst>
                <a:path w="1253286" h="931630">
                  <a:moveTo>
                    <a:pt x="0" y="0"/>
                  </a:moveTo>
                  <a:lnTo>
                    <a:pt x="1253286" y="0"/>
                  </a:lnTo>
                  <a:lnTo>
                    <a:pt x="1253286" y="931630"/>
                  </a:lnTo>
                  <a:lnTo>
                    <a:pt x="0" y="9316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8" name="TextBox 48"/>
            <p:cNvSpPr txBox="1"/>
            <p:nvPr/>
          </p:nvSpPr>
          <p:spPr>
            <a:xfrm>
              <a:off x="0" y="-28575"/>
              <a:ext cx="1253286" cy="9602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35"/>
                </a:lnSpc>
              </a:pPr>
              <a:r>
                <a:rPr lang="en-US" sz="1945" b="1" dirty="0" smtClean="0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</a:t>
              </a:r>
              <a:r>
                <a:rPr lang="en-US" sz="1945" b="1" dirty="0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</a:t>
              </a:r>
              <a:r>
                <a:rPr lang="en-US" sz="1945" b="1" dirty="0" smtClean="0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3</a:t>
              </a:r>
              <a:endParaRPr lang="en-US" sz="1945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304491" y="4622738"/>
            <a:ext cx="11677409" cy="11156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79"/>
              </a:lnSpc>
            </a:pPr>
            <a:r>
              <a:rPr lang="en-US" sz="1600" b="1" dirty="0">
                <a:solidFill>
                  <a:schemeClr val="bg1"/>
                </a:solidFill>
                <a:latin typeface="Arimo Bold"/>
              </a:rPr>
              <a:t>Create a data-driven, dual-method system that combines enrollment forecasting with volatility classification to replace reactive crisis management with proactive strategic planning, ultimately enhancing resource allocation efficiency and promoting educational equity across regions.</a:t>
            </a:r>
            <a:endParaRPr lang="en-US" sz="1600" b="1" dirty="0">
              <a:solidFill>
                <a:schemeClr val="bg1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grpSp>
        <p:nvGrpSpPr>
          <p:cNvPr id="50" name="Group 50"/>
          <p:cNvGrpSpPr/>
          <p:nvPr/>
        </p:nvGrpSpPr>
        <p:grpSpPr>
          <a:xfrm>
            <a:off x="1134516" y="4181107"/>
            <a:ext cx="2048756" cy="437616"/>
            <a:chOff x="0" y="0"/>
            <a:chExt cx="4097512" cy="875232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4097528" cy="875284"/>
            </a:xfrm>
            <a:custGeom>
              <a:avLst/>
              <a:gdLst/>
              <a:ahLst/>
              <a:cxnLst/>
              <a:rect l="l" t="t" r="r" b="b"/>
              <a:pathLst>
                <a:path w="4097528" h="875284">
                  <a:moveTo>
                    <a:pt x="97155" y="0"/>
                  </a:moveTo>
                  <a:lnTo>
                    <a:pt x="4000373" y="0"/>
                  </a:lnTo>
                  <a:cubicBezTo>
                    <a:pt x="4026154" y="0"/>
                    <a:pt x="4050792" y="10287"/>
                    <a:pt x="4069080" y="28448"/>
                  </a:cubicBezTo>
                  <a:cubicBezTo>
                    <a:pt x="4087368" y="46609"/>
                    <a:pt x="4097528" y="71374"/>
                    <a:pt x="4097528" y="97155"/>
                  </a:cubicBezTo>
                  <a:lnTo>
                    <a:pt x="4097528" y="778129"/>
                  </a:lnTo>
                  <a:cubicBezTo>
                    <a:pt x="4097528" y="803910"/>
                    <a:pt x="4087241" y="828548"/>
                    <a:pt x="4069080" y="846836"/>
                  </a:cubicBezTo>
                  <a:cubicBezTo>
                    <a:pt x="4050919" y="865124"/>
                    <a:pt x="4026154" y="875284"/>
                    <a:pt x="4000373" y="875284"/>
                  </a:cubicBezTo>
                  <a:lnTo>
                    <a:pt x="97155" y="875284"/>
                  </a:lnTo>
                  <a:cubicBezTo>
                    <a:pt x="71374" y="875284"/>
                    <a:pt x="46736" y="864997"/>
                    <a:pt x="28448" y="846836"/>
                  </a:cubicBezTo>
                  <a:cubicBezTo>
                    <a:pt x="10160" y="828675"/>
                    <a:pt x="0" y="803910"/>
                    <a:pt x="0" y="778129"/>
                  </a:cubicBezTo>
                  <a:lnTo>
                    <a:pt x="0" y="97155"/>
                  </a:lnTo>
                  <a:cubicBezTo>
                    <a:pt x="0" y="71374"/>
                    <a:pt x="10287" y="46609"/>
                    <a:pt x="28448" y="28448"/>
                  </a:cubicBezTo>
                  <a:cubicBezTo>
                    <a:pt x="46609" y="10287"/>
                    <a:pt x="71374" y="0"/>
                    <a:pt x="97155" y="0"/>
                  </a:cubicBezTo>
                  <a:close/>
                </a:path>
              </a:pathLst>
            </a:custGeom>
            <a:solidFill>
              <a:srgbClr val="194E8B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1134516" y="4152908"/>
            <a:ext cx="2048756" cy="465815"/>
            <a:chOff x="0" y="0"/>
            <a:chExt cx="4097512" cy="93163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4097512" cy="931630"/>
            </a:xfrm>
            <a:custGeom>
              <a:avLst/>
              <a:gdLst/>
              <a:ahLst/>
              <a:cxnLst/>
              <a:rect l="l" t="t" r="r" b="b"/>
              <a:pathLst>
                <a:path w="4097512" h="931630">
                  <a:moveTo>
                    <a:pt x="0" y="0"/>
                  </a:moveTo>
                  <a:lnTo>
                    <a:pt x="4097512" y="0"/>
                  </a:lnTo>
                  <a:lnTo>
                    <a:pt x="4097512" y="931630"/>
                  </a:lnTo>
                  <a:lnTo>
                    <a:pt x="0" y="9316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4" name="TextBox 54"/>
            <p:cNvSpPr txBox="1"/>
            <p:nvPr/>
          </p:nvSpPr>
          <p:spPr>
            <a:xfrm>
              <a:off x="0" y="-28575"/>
              <a:ext cx="4097512" cy="9602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35"/>
                </a:lnSpc>
              </a:pPr>
              <a:r>
                <a:rPr lang="en-US" sz="1945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APPLICATION</a:t>
              </a:r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6606116" y="6248524"/>
            <a:ext cx="5375784" cy="5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8"/>
              </a:lnSpc>
            </a:pPr>
            <a:r>
              <a:rPr lang="en-US" sz="3600" b="1">
                <a:solidFill>
                  <a:srgbClr val="EBE5E5"/>
                </a:solidFill>
                <a:latin typeface="Arimo Bold"/>
                <a:ea typeface="Arimo Bold"/>
                <a:cs typeface="Arimo Bold"/>
                <a:sym typeface="Arimo Bold"/>
              </a:rPr>
              <a:t>KALIMUHAGAN 2025</a:t>
            </a:r>
          </a:p>
        </p:txBody>
      </p:sp>
      <p:grpSp>
        <p:nvGrpSpPr>
          <p:cNvPr id="56" name="Group 56"/>
          <p:cNvGrpSpPr/>
          <p:nvPr/>
        </p:nvGrpSpPr>
        <p:grpSpPr>
          <a:xfrm>
            <a:off x="797523" y="5722826"/>
            <a:ext cx="1527239" cy="396621"/>
            <a:chOff x="0" y="0"/>
            <a:chExt cx="3054477" cy="793242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3054477" cy="793242"/>
            </a:xfrm>
            <a:custGeom>
              <a:avLst/>
              <a:gdLst/>
              <a:ahLst/>
              <a:cxnLst/>
              <a:rect l="l" t="t" r="r" b="b"/>
              <a:pathLst>
                <a:path w="3054477" h="793242">
                  <a:moveTo>
                    <a:pt x="0" y="0"/>
                  </a:moveTo>
                  <a:lnTo>
                    <a:pt x="3054477" y="0"/>
                  </a:lnTo>
                  <a:lnTo>
                    <a:pt x="3054477" y="793242"/>
                  </a:lnTo>
                  <a:lnTo>
                    <a:pt x="0" y="793242"/>
                  </a:lnTo>
                  <a:close/>
                </a:path>
              </a:pathLst>
            </a:custGeom>
            <a:solidFill>
              <a:srgbClr val="EBBD1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58" name="TextBox 58"/>
          <p:cNvSpPr txBox="1"/>
          <p:nvPr/>
        </p:nvSpPr>
        <p:spPr>
          <a:xfrm>
            <a:off x="820101" y="5712067"/>
            <a:ext cx="1482067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</a:pPr>
            <a:r>
              <a:rPr lang="en-US" b="1">
                <a:solidFill>
                  <a:srgbClr val="EBE5E5"/>
                </a:solidFill>
                <a:latin typeface="Britannic Bold"/>
                <a:ea typeface="Britannic Bold"/>
                <a:cs typeface="Britannic Bold"/>
                <a:sym typeface="Britannic Bold"/>
              </a:rPr>
              <a:t>ENLIGHTEN.</a:t>
            </a:r>
          </a:p>
        </p:txBody>
      </p:sp>
      <p:grpSp>
        <p:nvGrpSpPr>
          <p:cNvPr id="59" name="Group 59"/>
          <p:cNvGrpSpPr/>
          <p:nvPr/>
        </p:nvGrpSpPr>
        <p:grpSpPr>
          <a:xfrm>
            <a:off x="2324747" y="5722826"/>
            <a:ext cx="1570037" cy="396621"/>
            <a:chOff x="0" y="0"/>
            <a:chExt cx="3140075" cy="793242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3140075" cy="793242"/>
            </a:xfrm>
            <a:custGeom>
              <a:avLst/>
              <a:gdLst/>
              <a:ahLst/>
              <a:cxnLst/>
              <a:rect l="l" t="t" r="r" b="b"/>
              <a:pathLst>
                <a:path w="3140075" h="793242">
                  <a:moveTo>
                    <a:pt x="0" y="0"/>
                  </a:moveTo>
                  <a:lnTo>
                    <a:pt x="3140075" y="0"/>
                  </a:lnTo>
                  <a:lnTo>
                    <a:pt x="3140075" y="793242"/>
                  </a:lnTo>
                  <a:lnTo>
                    <a:pt x="0" y="793242"/>
                  </a:lnTo>
                  <a:close/>
                </a:path>
              </a:pathLst>
            </a:custGeom>
            <a:solidFill>
              <a:srgbClr val="C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1" name="TextBox 61"/>
          <p:cNvSpPr txBox="1"/>
          <p:nvPr/>
        </p:nvSpPr>
        <p:spPr>
          <a:xfrm>
            <a:off x="2347326" y="5712067"/>
            <a:ext cx="1524857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2000" b="1">
                <a:solidFill>
                  <a:srgbClr val="EBE5E5"/>
                </a:solidFill>
                <a:latin typeface="Britannic Bold"/>
                <a:ea typeface="Britannic Bold"/>
                <a:cs typeface="Britannic Bold"/>
                <a:sym typeface="Britannic Bold"/>
              </a:rPr>
              <a:t>EMPOWER.</a:t>
            </a:r>
          </a:p>
        </p:txBody>
      </p:sp>
      <p:grpSp>
        <p:nvGrpSpPr>
          <p:cNvPr id="62" name="Group 62"/>
          <p:cNvGrpSpPr/>
          <p:nvPr/>
        </p:nvGrpSpPr>
        <p:grpSpPr>
          <a:xfrm>
            <a:off x="999319" y="6119684"/>
            <a:ext cx="1325435" cy="396621"/>
            <a:chOff x="0" y="0"/>
            <a:chExt cx="2650871" cy="793242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2650871" cy="793242"/>
            </a:xfrm>
            <a:custGeom>
              <a:avLst/>
              <a:gdLst/>
              <a:ahLst/>
              <a:cxnLst/>
              <a:rect l="l" t="t" r="r" b="b"/>
              <a:pathLst>
                <a:path w="2650871" h="793242">
                  <a:moveTo>
                    <a:pt x="0" y="0"/>
                  </a:moveTo>
                  <a:lnTo>
                    <a:pt x="2650871" y="0"/>
                  </a:lnTo>
                  <a:lnTo>
                    <a:pt x="2650871" y="793242"/>
                  </a:lnTo>
                  <a:lnTo>
                    <a:pt x="0" y="793242"/>
                  </a:lnTo>
                  <a:close/>
                </a:path>
              </a:pathLst>
            </a:custGeom>
            <a:solidFill>
              <a:srgbClr val="0047B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4" name="TextBox 64"/>
          <p:cNvSpPr txBox="1"/>
          <p:nvPr/>
        </p:nvSpPr>
        <p:spPr>
          <a:xfrm>
            <a:off x="1021896" y="6108925"/>
            <a:ext cx="1280272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7"/>
              </a:lnSpc>
            </a:pPr>
            <a:r>
              <a:rPr lang="en-US" sz="2219" b="1">
                <a:solidFill>
                  <a:srgbClr val="EBE5E5"/>
                </a:solidFill>
                <a:latin typeface="Britannic Bold"/>
                <a:ea typeface="Britannic Bold"/>
                <a:cs typeface="Britannic Bold"/>
                <a:sym typeface="Britannic Bold"/>
              </a:rPr>
              <a:t>ENGAGE:</a:t>
            </a:r>
          </a:p>
        </p:txBody>
      </p:sp>
      <p:grpSp>
        <p:nvGrpSpPr>
          <p:cNvPr id="65" name="Group 65"/>
          <p:cNvGrpSpPr/>
          <p:nvPr/>
        </p:nvGrpSpPr>
        <p:grpSpPr>
          <a:xfrm>
            <a:off x="2324746" y="6118915"/>
            <a:ext cx="1476185" cy="396621"/>
            <a:chOff x="0" y="0"/>
            <a:chExt cx="2952370" cy="793242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2952369" cy="793242"/>
            </a:xfrm>
            <a:custGeom>
              <a:avLst/>
              <a:gdLst/>
              <a:ahLst/>
              <a:cxnLst/>
              <a:rect l="l" t="t" r="r" b="b"/>
              <a:pathLst>
                <a:path w="2952369" h="793242">
                  <a:moveTo>
                    <a:pt x="0" y="0"/>
                  </a:moveTo>
                  <a:lnTo>
                    <a:pt x="2952369" y="0"/>
                  </a:lnTo>
                  <a:lnTo>
                    <a:pt x="2952369" y="793242"/>
                  </a:lnTo>
                  <a:lnTo>
                    <a:pt x="0" y="793242"/>
                  </a:lnTo>
                  <a:close/>
                </a:path>
              </a:pathLst>
            </a:custGeom>
            <a:solidFill>
              <a:srgbClr val="19191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7" name="TextBox 67"/>
          <p:cNvSpPr txBox="1"/>
          <p:nvPr/>
        </p:nvSpPr>
        <p:spPr>
          <a:xfrm>
            <a:off x="2347324" y="6108156"/>
            <a:ext cx="1431003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2000" b="1">
                <a:solidFill>
                  <a:srgbClr val="EBE5E5"/>
                </a:solidFill>
                <a:latin typeface="Britannic Bold"/>
                <a:ea typeface="Britannic Bold"/>
                <a:cs typeface="Britannic Bold"/>
                <a:sym typeface="Britannic Bold"/>
              </a:rPr>
              <a:t>I WILL GO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59937" y="5824793"/>
            <a:ext cx="1215772" cy="1333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69"/>
              </a:lnSpc>
            </a:pPr>
            <a:r>
              <a:rPr lang="en-US" sz="9600">
                <a:solidFill>
                  <a:srgbClr val="DFC991"/>
                </a:solidFill>
                <a:latin typeface="Arimo"/>
                <a:ea typeface="Arimo"/>
                <a:cs typeface="Arimo"/>
                <a:sym typeface="Arimo"/>
              </a:rPr>
              <a:t>“</a:t>
            </a:r>
          </a:p>
        </p:txBody>
      </p:sp>
      <p:sp>
        <p:nvSpPr>
          <p:cNvPr id="69" name="TextBox 69"/>
          <p:cNvSpPr txBox="1"/>
          <p:nvPr/>
        </p:nvSpPr>
        <p:spPr>
          <a:xfrm rot="-10800000">
            <a:off x="3293313" y="5658350"/>
            <a:ext cx="1215772" cy="1333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69"/>
              </a:lnSpc>
            </a:pPr>
            <a:r>
              <a:rPr lang="en-US" sz="9600">
                <a:solidFill>
                  <a:srgbClr val="DFC991"/>
                </a:solidFill>
                <a:latin typeface="Arimo"/>
                <a:ea typeface="Arimo"/>
                <a:cs typeface="Arimo"/>
                <a:sym typeface="Arimo"/>
              </a:rPr>
              <a:t>“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8759672" y="476250"/>
            <a:ext cx="3269159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1"/>
              </a:lnSpc>
            </a:pPr>
            <a:r>
              <a:rPr lang="en-US" sz="2334" dirty="0" smtClean="0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 OF THE STUDY</a:t>
            </a:r>
            <a:endParaRPr lang="en-US" sz="2334" dirty="0">
              <a:solidFill>
                <a:srgbClr val="001B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185778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96000" y="510547"/>
            <a:ext cx="7519989" cy="5836905"/>
          </a:xfrm>
          <a:custGeom>
            <a:avLst/>
            <a:gdLst/>
            <a:ahLst/>
            <a:cxnLst/>
            <a:rect l="l" t="t" r="r" b="b"/>
            <a:pathLst>
              <a:path w="11279983" h="8755358">
                <a:moveTo>
                  <a:pt x="0" y="0"/>
                </a:moveTo>
                <a:lnTo>
                  <a:pt x="11279984" y="0"/>
                </a:lnTo>
                <a:lnTo>
                  <a:pt x="11279984" y="8755358"/>
                </a:lnTo>
                <a:lnTo>
                  <a:pt x="0" y="87553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 t="-11" b="-11"/>
            </a:stretch>
          </a:blipFill>
        </p:spPr>
        <p:txBody>
          <a:bodyPr/>
          <a:lstStyle/>
          <a:p>
            <a:endParaRPr lang="en-PH" sz="1200" dirty="0"/>
          </a:p>
        </p:txBody>
      </p:sp>
      <p:grpSp>
        <p:nvGrpSpPr>
          <p:cNvPr id="3" name="Group 3"/>
          <p:cNvGrpSpPr/>
          <p:nvPr/>
        </p:nvGrpSpPr>
        <p:grpSpPr>
          <a:xfrm rot="-5400000">
            <a:off x="3819494" y="-4780589"/>
            <a:ext cx="1880171" cy="9519157"/>
            <a:chOff x="0" y="0"/>
            <a:chExt cx="3760343" cy="1903831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0343" cy="19038315"/>
            </a:xfrm>
            <a:custGeom>
              <a:avLst/>
              <a:gdLst/>
              <a:ahLst/>
              <a:cxnLst/>
              <a:rect l="l" t="t" r="r" b="b"/>
              <a:pathLst>
                <a:path w="3760343" h="19038315">
                  <a:moveTo>
                    <a:pt x="0" y="0"/>
                  </a:moveTo>
                  <a:lnTo>
                    <a:pt x="3760343" y="0"/>
                  </a:lnTo>
                  <a:lnTo>
                    <a:pt x="3760343" y="15230602"/>
                  </a:lnTo>
                  <a:lnTo>
                    <a:pt x="1880235" y="19038315"/>
                  </a:lnTo>
                  <a:lnTo>
                    <a:pt x="0" y="15230602"/>
                  </a:lnTo>
                  <a:close/>
                </a:path>
              </a:pathLst>
            </a:custGeom>
            <a:solidFill>
              <a:srgbClr val="002D7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5" name="Group 5"/>
          <p:cNvGrpSpPr/>
          <p:nvPr/>
        </p:nvGrpSpPr>
        <p:grpSpPr>
          <a:xfrm rot="5400000">
            <a:off x="8579010" y="2124467"/>
            <a:ext cx="1880235" cy="9519159"/>
            <a:chOff x="0" y="0"/>
            <a:chExt cx="3760470" cy="1903831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760470" cy="19038317"/>
            </a:xfrm>
            <a:custGeom>
              <a:avLst/>
              <a:gdLst/>
              <a:ahLst/>
              <a:cxnLst/>
              <a:rect l="l" t="t" r="r" b="b"/>
              <a:pathLst>
                <a:path w="3760470" h="19038317">
                  <a:moveTo>
                    <a:pt x="3760343" y="0"/>
                  </a:moveTo>
                  <a:lnTo>
                    <a:pt x="0" y="0"/>
                  </a:lnTo>
                  <a:lnTo>
                    <a:pt x="0" y="15230602"/>
                  </a:lnTo>
                  <a:lnTo>
                    <a:pt x="1880235" y="19038317"/>
                  </a:lnTo>
                  <a:lnTo>
                    <a:pt x="3760470" y="15230602"/>
                  </a:lnTo>
                  <a:close/>
                </a:path>
              </a:pathLst>
            </a:custGeom>
            <a:solidFill>
              <a:srgbClr val="002D7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250264" y="36715"/>
            <a:ext cx="887349" cy="784797"/>
            <a:chOff x="0" y="0"/>
            <a:chExt cx="1774698" cy="156959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74698" cy="1569593"/>
            </a:xfrm>
            <a:custGeom>
              <a:avLst/>
              <a:gdLst/>
              <a:ahLst/>
              <a:cxnLst/>
              <a:rect l="l" t="t" r="r" b="b"/>
              <a:pathLst>
                <a:path w="1774698" h="1569593">
                  <a:moveTo>
                    <a:pt x="0" y="0"/>
                  </a:moveTo>
                  <a:lnTo>
                    <a:pt x="1774698" y="0"/>
                  </a:lnTo>
                  <a:lnTo>
                    <a:pt x="1774698" y="1569593"/>
                  </a:lnTo>
                  <a:lnTo>
                    <a:pt x="0" y="15695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0" b="-10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6231928" y="-10604"/>
            <a:ext cx="955548" cy="931672"/>
            <a:chOff x="0" y="0"/>
            <a:chExt cx="1911096" cy="186334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11096" cy="1863344"/>
            </a:xfrm>
            <a:custGeom>
              <a:avLst/>
              <a:gdLst/>
              <a:ahLst/>
              <a:cxnLst/>
              <a:rect l="l" t="t" r="r" b="b"/>
              <a:pathLst>
                <a:path w="1911096" h="1863344">
                  <a:moveTo>
                    <a:pt x="0" y="0"/>
                  </a:moveTo>
                  <a:lnTo>
                    <a:pt x="1911096" y="0"/>
                  </a:lnTo>
                  <a:lnTo>
                    <a:pt x="1911096" y="1863344"/>
                  </a:lnTo>
                  <a:lnTo>
                    <a:pt x="0" y="1863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15" b="-115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98977" y="391284"/>
            <a:ext cx="1035539" cy="768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lang="en-US" sz="6875" b="1" spc="-17">
                <a:solidFill>
                  <a:srgbClr val="FFE766"/>
                </a:solidFill>
                <a:latin typeface="DG Ghareeb Bold"/>
                <a:ea typeface="DG Ghareeb Bold"/>
                <a:cs typeface="DG Ghareeb Bold"/>
                <a:sym typeface="DG Ghareeb Bold"/>
              </a:rPr>
              <a:t>3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25147" y="289351"/>
            <a:ext cx="769306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28"/>
              </a:lnSpc>
            </a:pPr>
            <a:r>
              <a:rPr lang="en-US" sz="1600" b="1">
                <a:solidFill>
                  <a:srgbClr val="EBE5E5"/>
                </a:solidFill>
                <a:latin typeface="Arimo Bold"/>
                <a:ea typeface="Arimo Bold"/>
                <a:cs typeface="Arimo Bold"/>
                <a:sym typeface="Arimo Bold"/>
              </a:rPr>
              <a:t>rd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2530375" y="98220"/>
            <a:ext cx="6480197" cy="718005"/>
            <a:chOff x="0" y="0"/>
            <a:chExt cx="12960394" cy="143601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960394" cy="1436011"/>
            </a:xfrm>
            <a:custGeom>
              <a:avLst/>
              <a:gdLst/>
              <a:ahLst/>
              <a:cxnLst/>
              <a:rect l="l" t="t" r="r" b="b"/>
              <a:pathLst>
                <a:path w="12960394" h="1436011">
                  <a:moveTo>
                    <a:pt x="0" y="0"/>
                  </a:moveTo>
                  <a:lnTo>
                    <a:pt x="12960394" y="0"/>
                  </a:lnTo>
                  <a:lnTo>
                    <a:pt x="12960394" y="1436011"/>
                  </a:lnTo>
                  <a:lnTo>
                    <a:pt x="0" y="143601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9525"/>
              <a:ext cx="12960394" cy="1426486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>
                <a:lnSpc>
                  <a:spcPts val="1944"/>
                </a:lnSpc>
              </a:pPr>
              <a:r>
                <a:rPr lang="en-US" b="1">
                  <a:solidFill>
                    <a:srgbClr val="EBE5E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MULTIDISCIPLINARY </a:t>
              </a:r>
            </a:p>
            <a:p>
              <a:pPr>
                <a:lnSpc>
                  <a:spcPts val="1944"/>
                </a:lnSpc>
              </a:pPr>
              <a:r>
                <a:rPr lang="en-US" b="1">
                  <a:solidFill>
                    <a:srgbClr val="EBE5E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RESEARCH CONGRESS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15604" y="-64882"/>
            <a:ext cx="1653171" cy="906587"/>
            <a:chOff x="0" y="0"/>
            <a:chExt cx="3306342" cy="181317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306342" cy="1813173"/>
            </a:xfrm>
            <a:custGeom>
              <a:avLst/>
              <a:gdLst/>
              <a:ahLst/>
              <a:cxnLst/>
              <a:rect l="l" t="t" r="r" b="b"/>
              <a:pathLst>
                <a:path w="3306342" h="1813173">
                  <a:moveTo>
                    <a:pt x="0" y="0"/>
                  </a:moveTo>
                  <a:lnTo>
                    <a:pt x="3306342" y="0"/>
                  </a:lnTo>
                  <a:lnTo>
                    <a:pt x="3306342" y="1813173"/>
                  </a:lnTo>
                  <a:lnTo>
                    <a:pt x="0" y="18131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47625"/>
              <a:ext cx="3306342" cy="1765548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>
                <a:lnSpc>
                  <a:spcPts val="4320"/>
                </a:lnSpc>
              </a:pPr>
              <a:r>
                <a:rPr lang="en-US" sz="4000" b="1">
                  <a:solidFill>
                    <a:srgbClr val="EBE5E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SPAC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97523" y="5722826"/>
            <a:ext cx="1527239" cy="396621"/>
            <a:chOff x="0" y="0"/>
            <a:chExt cx="3054477" cy="79324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054477" cy="793242"/>
            </a:xfrm>
            <a:custGeom>
              <a:avLst/>
              <a:gdLst/>
              <a:ahLst/>
              <a:cxnLst/>
              <a:rect l="l" t="t" r="r" b="b"/>
              <a:pathLst>
                <a:path w="3054477" h="793242">
                  <a:moveTo>
                    <a:pt x="0" y="0"/>
                  </a:moveTo>
                  <a:lnTo>
                    <a:pt x="3054477" y="0"/>
                  </a:lnTo>
                  <a:lnTo>
                    <a:pt x="3054477" y="793242"/>
                  </a:lnTo>
                  <a:lnTo>
                    <a:pt x="0" y="793242"/>
                  </a:lnTo>
                  <a:close/>
                </a:path>
              </a:pathLst>
            </a:custGeom>
            <a:solidFill>
              <a:srgbClr val="EBBD1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1" name="TextBox 21"/>
          <p:cNvSpPr txBox="1"/>
          <p:nvPr/>
        </p:nvSpPr>
        <p:spPr>
          <a:xfrm>
            <a:off x="820101" y="5712067"/>
            <a:ext cx="1482067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</a:pPr>
            <a:r>
              <a:rPr lang="en-US" b="1">
                <a:solidFill>
                  <a:srgbClr val="EBE5E5"/>
                </a:solidFill>
                <a:latin typeface="Britannic Bold"/>
                <a:ea typeface="Britannic Bold"/>
                <a:cs typeface="Britannic Bold"/>
                <a:sym typeface="Britannic Bold"/>
              </a:rPr>
              <a:t>ENLIGHTEN.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2324747" y="5722826"/>
            <a:ext cx="1570037" cy="396621"/>
            <a:chOff x="0" y="0"/>
            <a:chExt cx="3140075" cy="79324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140075" cy="793242"/>
            </a:xfrm>
            <a:custGeom>
              <a:avLst/>
              <a:gdLst/>
              <a:ahLst/>
              <a:cxnLst/>
              <a:rect l="l" t="t" r="r" b="b"/>
              <a:pathLst>
                <a:path w="3140075" h="793242">
                  <a:moveTo>
                    <a:pt x="0" y="0"/>
                  </a:moveTo>
                  <a:lnTo>
                    <a:pt x="3140075" y="0"/>
                  </a:lnTo>
                  <a:lnTo>
                    <a:pt x="3140075" y="793242"/>
                  </a:lnTo>
                  <a:lnTo>
                    <a:pt x="0" y="793242"/>
                  </a:lnTo>
                  <a:close/>
                </a:path>
              </a:pathLst>
            </a:custGeom>
            <a:solidFill>
              <a:srgbClr val="C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4" name="TextBox 24"/>
          <p:cNvSpPr txBox="1"/>
          <p:nvPr/>
        </p:nvSpPr>
        <p:spPr>
          <a:xfrm>
            <a:off x="2347326" y="5712067"/>
            <a:ext cx="1524857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2000" b="1">
                <a:solidFill>
                  <a:srgbClr val="EBE5E5"/>
                </a:solidFill>
                <a:latin typeface="Britannic Bold"/>
                <a:ea typeface="Britannic Bold"/>
                <a:cs typeface="Britannic Bold"/>
                <a:sym typeface="Britannic Bold"/>
              </a:rPr>
              <a:t>EMPOWER.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999319" y="6119684"/>
            <a:ext cx="1325435" cy="396621"/>
            <a:chOff x="0" y="0"/>
            <a:chExt cx="2650871" cy="79324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650871" cy="793242"/>
            </a:xfrm>
            <a:custGeom>
              <a:avLst/>
              <a:gdLst/>
              <a:ahLst/>
              <a:cxnLst/>
              <a:rect l="l" t="t" r="r" b="b"/>
              <a:pathLst>
                <a:path w="2650871" h="793242">
                  <a:moveTo>
                    <a:pt x="0" y="0"/>
                  </a:moveTo>
                  <a:lnTo>
                    <a:pt x="2650871" y="0"/>
                  </a:lnTo>
                  <a:lnTo>
                    <a:pt x="2650871" y="793242"/>
                  </a:lnTo>
                  <a:lnTo>
                    <a:pt x="0" y="793242"/>
                  </a:lnTo>
                  <a:close/>
                </a:path>
              </a:pathLst>
            </a:custGeom>
            <a:solidFill>
              <a:srgbClr val="0047B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7" name="TextBox 27"/>
          <p:cNvSpPr txBox="1"/>
          <p:nvPr/>
        </p:nvSpPr>
        <p:spPr>
          <a:xfrm>
            <a:off x="1021896" y="6108925"/>
            <a:ext cx="1280272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7"/>
              </a:lnSpc>
            </a:pPr>
            <a:r>
              <a:rPr lang="en-US" sz="2219" b="1">
                <a:solidFill>
                  <a:srgbClr val="EBE5E5"/>
                </a:solidFill>
                <a:latin typeface="Britannic Bold"/>
                <a:ea typeface="Britannic Bold"/>
                <a:cs typeface="Britannic Bold"/>
                <a:sym typeface="Britannic Bold"/>
              </a:rPr>
              <a:t>ENGAGE: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2324746" y="6118915"/>
            <a:ext cx="1476185" cy="396621"/>
            <a:chOff x="0" y="0"/>
            <a:chExt cx="2952370" cy="79324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952369" cy="793242"/>
            </a:xfrm>
            <a:custGeom>
              <a:avLst/>
              <a:gdLst/>
              <a:ahLst/>
              <a:cxnLst/>
              <a:rect l="l" t="t" r="r" b="b"/>
              <a:pathLst>
                <a:path w="2952369" h="793242">
                  <a:moveTo>
                    <a:pt x="0" y="0"/>
                  </a:moveTo>
                  <a:lnTo>
                    <a:pt x="2952369" y="0"/>
                  </a:lnTo>
                  <a:lnTo>
                    <a:pt x="2952369" y="793242"/>
                  </a:lnTo>
                  <a:lnTo>
                    <a:pt x="0" y="793242"/>
                  </a:lnTo>
                  <a:close/>
                </a:path>
              </a:pathLst>
            </a:custGeom>
            <a:solidFill>
              <a:srgbClr val="19191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30" name="TextBox 30"/>
          <p:cNvSpPr txBox="1"/>
          <p:nvPr/>
        </p:nvSpPr>
        <p:spPr>
          <a:xfrm>
            <a:off x="2347324" y="6108156"/>
            <a:ext cx="1431003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2000" b="1">
                <a:solidFill>
                  <a:srgbClr val="EBE5E5"/>
                </a:solidFill>
                <a:latin typeface="Britannic Bold"/>
                <a:ea typeface="Britannic Bold"/>
                <a:cs typeface="Britannic Bold"/>
                <a:sym typeface="Britannic Bold"/>
              </a:rPr>
              <a:t>I WILL GO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606116" y="6248524"/>
            <a:ext cx="5375784" cy="5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8"/>
              </a:lnSpc>
            </a:pPr>
            <a:r>
              <a:rPr lang="en-US" sz="3600" b="1">
                <a:solidFill>
                  <a:srgbClr val="EBE5E5"/>
                </a:solidFill>
                <a:latin typeface="Arimo Bold"/>
                <a:ea typeface="Arimo Bold"/>
                <a:cs typeface="Arimo Bold"/>
                <a:sym typeface="Arimo Bold"/>
              </a:rPr>
              <a:t>KALIMUHAGAN 2025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59937" y="5824793"/>
            <a:ext cx="1215772" cy="1333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69"/>
              </a:lnSpc>
            </a:pPr>
            <a:r>
              <a:rPr lang="en-US" sz="9600">
                <a:solidFill>
                  <a:srgbClr val="DFC991"/>
                </a:solidFill>
                <a:latin typeface="Arimo"/>
                <a:ea typeface="Arimo"/>
                <a:cs typeface="Arimo"/>
                <a:sym typeface="Arimo"/>
              </a:rPr>
              <a:t>“</a:t>
            </a:r>
          </a:p>
        </p:txBody>
      </p:sp>
      <p:sp>
        <p:nvSpPr>
          <p:cNvPr id="33" name="TextBox 33"/>
          <p:cNvSpPr txBox="1"/>
          <p:nvPr/>
        </p:nvSpPr>
        <p:spPr>
          <a:xfrm rot="-10800000">
            <a:off x="3293313" y="5658350"/>
            <a:ext cx="1215772" cy="1333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69"/>
              </a:lnSpc>
            </a:pPr>
            <a:r>
              <a:rPr lang="en-US" sz="9600">
                <a:solidFill>
                  <a:srgbClr val="DFC991"/>
                </a:solidFill>
                <a:latin typeface="Arimo"/>
                <a:ea typeface="Arimo"/>
                <a:cs typeface="Arimo"/>
                <a:sym typeface="Arimo"/>
              </a:rPr>
              <a:t>“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324746" y="1000337"/>
            <a:ext cx="6861016" cy="4839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300" dirty="0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Theoretical / Conceptual Framework</a:t>
            </a:r>
          </a:p>
        </p:txBody>
      </p:sp>
      <p:sp>
        <p:nvSpPr>
          <p:cNvPr id="35" name="Freeform 35"/>
          <p:cNvSpPr/>
          <p:nvPr/>
        </p:nvSpPr>
        <p:spPr>
          <a:xfrm>
            <a:off x="425498" y="1690200"/>
            <a:ext cx="2264567" cy="3555141"/>
          </a:xfrm>
          <a:custGeom>
            <a:avLst/>
            <a:gdLst/>
            <a:ahLst/>
            <a:cxnLst/>
            <a:rect l="l" t="t" r="r" b="b"/>
            <a:pathLst>
              <a:path w="3396851" h="5332711">
                <a:moveTo>
                  <a:pt x="0" y="0"/>
                </a:moveTo>
                <a:lnTo>
                  <a:pt x="3396850" y="0"/>
                </a:lnTo>
                <a:lnTo>
                  <a:pt x="3396850" y="5332711"/>
                </a:lnTo>
                <a:lnTo>
                  <a:pt x="0" y="533271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36" name="TextBox 36"/>
          <p:cNvSpPr txBox="1"/>
          <p:nvPr/>
        </p:nvSpPr>
        <p:spPr>
          <a:xfrm>
            <a:off x="550052" y="1851238"/>
            <a:ext cx="1902507" cy="39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INPUT 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50052" y="2469035"/>
            <a:ext cx="2082861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72"/>
              </a:lnSpc>
            </a:pPr>
            <a:r>
              <a:rPr lang="en-US" sz="1733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Historical Enrollment </a:t>
            </a:r>
          </a:p>
          <a:p>
            <a:pPr>
              <a:lnSpc>
                <a:spcPts val="1872"/>
              </a:lnSpc>
            </a:pPr>
            <a:r>
              <a:rPr lang="en-US" sz="1733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(2010-2021) 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67565" y="3209514"/>
            <a:ext cx="1902507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44"/>
              </a:lnSpc>
            </a:pPr>
            <a:r>
              <a:rPr lang="en-US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Region (17 areas)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67565" y="3713196"/>
            <a:ext cx="1902507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44"/>
              </a:lnSpc>
            </a:pPr>
            <a:r>
              <a:rPr lang="en-US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Sector (Pub/Priv)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62752" y="4204178"/>
            <a:ext cx="1902507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72"/>
              </a:lnSpc>
            </a:pPr>
            <a:r>
              <a:rPr lang="en-US" sz="1733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Grade Level (K-12)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18059" y="4630645"/>
            <a:ext cx="1902507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44"/>
              </a:lnSpc>
            </a:pPr>
            <a:r>
              <a:rPr lang="en-US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│561 obs.</a:t>
            </a:r>
          </a:p>
          <a:p>
            <a:pPr>
              <a:lnSpc>
                <a:spcPts val="1944"/>
              </a:lnSpc>
            </a:pPr>
            <a:r>
              <a:rPr lang="en-US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│57 features 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419384" y="2312535"/>
            <a:ext cx="2289729" cy="53975"/>
            <a:chOff x="0" y="0"/>
            <a:chExt cx="4579458" cy="107950"/>
          </a:xfrm>
        </p:grpSpPr>
        <p:sp>
          <p:nvSpPr>
            <p:cNvPr id="43" name="Freeform 43"/>
            <p:cNvSpPr/>
            <p:nvPr/>
          </p:nvSpPr>
          <p:spPr>
            <a:xfrm>
              <a:off x="37846" y="0"/>
              <a:ext cx="4503801" cy="107950"/>
            </a:xfrm>
            <a:custGeom>
              <a:avLst/>
              <a:gdLst/>
              <a:ahLst/>
              <a:cxnLst/>
              <a:rect l="l" t="t" r="r" b="b"/>
              <a:pathLst>
                <a:path w="4503801" h="107950">
                  <a:moveTo>
                    <a:pt x="0" y="31750"/>
                  </a:moveTo>
                  <a:lnTo>
                    <a:pt x="4503293" y="0"/>
                  </a:lnTo>
                  <a:lnTo>
                    <a:pt x="4503801" y="76200"/>
                  </a:lnTo>
                  <a:lnTo>
                    <a:pt x="508" y="107950"/>
                  </a:lnTo>
                  <a:close/>
                </a:path>
              </a:pathLst>
            </a:custGeom>
            <a:solidFill>
              <a:srgbClr val="000000">
                <a:alpha val="63922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44" name="Freeform 44"/>
          <p:cNvSpPr/>
          <p:nvPr/>
        </p:nvSpPr>
        <p:spPr>
          <a:xfrm>
            <a:off x="3293314" y="1690200"/>
            <a:ext cx="2177017" cy="3555141"/>
          </a:xfrm>
          <a:custGeom>
            <a:avLst/>
            <a:gdLst/>
            <a:ahLst/>
            <a:cxnLst/>
            <a:rect l="l" t="t" r="r" b="b"/>
            <a:pathLst>
              <a:path w="3265526" h="5332711">
                <a:moveTo>
                  <a:pt x="0" y="0"/>
                </a:moveTo>
                <a:lnTo>
                  <a:pt x="3265525" y="0"/>
                </a:lnTo>
                <a:lnTo>
                  <a:pt x="3265525" y="5332711"/>
                </a:lnTo>
                <a:lnTo>
                  <a:pt x="0" y="533271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45" name="TextBox 45"/>
          <p:cNvSpPr txBox="1"/>
          <p:nvPr/>
        </p:nvSpPr>
        <p:spPr>
          <a:xfrm>
            <a:off x="3417868" y="1851238"/>
            <a:ext cx="1902507" cy="39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 PROCESS 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3484913" y="2614161"/>
            <a:ext cx="1915207" cy="1218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72"/>
              </a:lnSpc>
            </a:pPr>
            <a:r>
              <a:rPr lang="en-US" sz="1733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ML Models:</a:t>
            </a:r>
          </a:p>
          <a:p>
            <a:pPr marL="500778" lvl="2" indent="-166926">
              <a:lnSpc>
                <a:spcPts val="1872"/>
              </a:lnSpc>
              <a:buFont typeface="Arial"/>
              <a:buChar char="⚬"/>
            </a:pPr>
            <a:r>
              <a:rPr lang="en-US" sz="1733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Linear</a:t>
            </a:r>
          </a:p>
          <a:p>
            <a:pPr marL="500778" lvl="2" indent="-166926">
              <a:lnSpc>
                <a:spcPts val="1872"/>
              </a:lnSpc>
              <a:buFont typeface="Arial"/>
              <a:buChar char="⚬"/>
            </a:pPr>
            <a:r>
              <a:rPr lang="en-US" sz="1733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Dec. Tree</a:t>
            </a:r>
          </a:p>
          <a:p>
            <a:pPr marL="500778" lvl="2" indent="-166926">
              <a:lnSpc>
                <a:spcPts val="1872"/>
              </a:lnSpc>
              <a:buFont typeface="Arial"/>
              <a:buChar char="⚬"/>
            </a:pPr>
            <a:r>
              <a:rPr lang="en-US" sz="1733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Rand. For.</a:t>
            </a:r>
          </a:p>
          <a:p>
            <a:pPr marL="500778" lvl="2" indent="-166926">
              <a:lnSpc>
                <a:spcPts val="1872"/>
              </a:lnSpc>
              <a:buFont typeface="Arial"/>
              <a:buChar char="⚬"/>
            </a:pPr>
            <a:r>
              <a:rPr lang="en-US" sz="1733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SVR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3510314" y="4050277"/>
            <a:ext cx="1822762" cy="73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44"/>
              </a:lnSpc>
            </a:pPr>
            <a:r>
              <a:rPr lang="en-US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CV Analysis:</a:t>
            </a:r>
          </a:p>
          <a:p>
            <a:pPr marL="520100" lvl="2" indent="-173367">
              <a:lnSpc>
                <a:spcPts val="1944"/>
              </a:lnSpc>
              <a:buFont typeface="Arial"/>
              <a:buChar char="⚬"/>
            </a:pPr>
            <a:r>
              <a:rPr lang="en-US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75th %ile</a:t>
            </a:r>
          </a:p>
          <a:p>
            <a:pPr marL="520100" lvl="2" indent="-173367">
              <a:lnSpc>
                <a:spcPts val="1944"/>
              </a:lnSpc>
              <a:buFont typeface="Arial"/>
              <a:buChar char="⚬"/>
            </a:pPr>
            <a:r>
              <a:rPr lang="en-US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Threshold</a:t>
            </a:r>
          </a:p>
        </p:txBody>
      </p:sp>
      <p:grpSp>
        <p:nvGrpSpPr>
          <p:cNvPr id="48" name="Group 48"/>
          <p:cNvGrpSpPr/>
          <p:nvPr/>
        </p:nvGrpSpPr>
        <p:grpSpPr>
          <a:xfrm>
            <a:off x="3274264" y="2312535"/>
            <a:ext cx="2215117" cy="53975"/>
            <a:chOff x="0" y="0"/>
            <a:chExt cx="4430234" cy="107950"/>
          </a:xfrm>
        </p:grpSpPr>
        <p:sp>
          <p:nvSpPr>
            <p:cNvPr id="49" name="Freeform 49"/>
            <p:cNvSpPr/>
            <p:nvPr/>
          </p:nvSpPr>
          <p:spPr>
            <a:xfrm>
              <a:off x="37846" y="0"/>
              <a:ext cx="4354576" cy="107950"/>
            </a:xfrm>
            <a:custGeom>
              <a:avLst/>
              <a:gdLst/>
              <a:ahLst/>
              <a:cxnLst/>
              <a:rect l="l" t="t" r="r" b="b"/>
              <a:pathLst>
                <a:path w="4354576" h="107950">
                  <a:moveTo>
                    <a:pt x="0" y="31750"/>
                  </a:moveTo>
                  <a:lnTo>
                    <a:pt x="4354068" y="0"/>
                  </a:lnTo>
                  <a:lnTo>
                    <a:pt x="4354576" y="76200"/>
                  </a:lnTo>
                  <a:lnTo>
                    <a:pt x="508" y="107950"/>
                  </a:lnTo>
                  <a:close/>
                </a:path>
              </a:pathLst>
            </a:custGeom>
            <a:solidFill>
              <a:srgbClr val="000000">
                <a:alpha val="63922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50" name="Freeform 50"/>
          <p:cNvSpPr/>
          <p:nvPr/>
        </p:nvSpPr>
        <p:spPr>
          <a:xfrm>
            <a:off x="8905041" y="1642576"/>
            <a:ext cx="2271850" cy="3783741"/>
          </a:xfrm>
          <a:custGeom>
            <a:avLst/>
            <a:gdLst/>
            <a:ahLst/>
            <a:cxnLst/>
            <a:rect l="l" t="t" r="r" b="b"/>
            <a:pathLst>
              <a:path w="3407775" h="5675612">
                <a:moveTo>
                  <a:pt x="0" y="0"/>
                </a:moveTo>
                <a:lnTo>
                  <a:pt x="3407775" y="0"/>
                </a:lnTo>
                <a:lnTo>
                  <a:pt x="3407775" y="5675612"/>
                </a:lnTo>
                <a:lnTo>
                  <a:pt x="0" y="567561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51" name="TextBox 51"/>
          <p:cNvSpPr txBox="1"/>
          <p:nvPr/>
        </p:nvSpPr>
        <p:spPr>
          <a:xfrm>
            <a:off x="9035022" y="1787738"/>
            <a:ext cx="1985382" cy="39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OUTPUT 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9087205" y="2481734"/>
            <a:ext cx="1951996" cy="705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00"/>
              </a:lnSpc>
            </a:pPr>
            <a:r>
              <a:rPr lang="en-US" sz="166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Enrollment Forecasts </a:t>
            </a:r>
          </a:p>
          <a:p>
            <a:pPr>
              <a:lnSpc>
                <a:spcPts val="1872"/>
              </a:lnSpc>
            </a:pPr>
            <a:r>
              <a:rPr lang="en-US" sz="1733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(95% CI)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9048275" y="3511777"/>
            <a:ext cx="1985382" cy="73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44"/>
              </a:lnSpc>
            </a:pPr>
            <a:r>
              <a:rPr lang="en-US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Volatility Classes:</a:t>
            </a:r>
          </a:p>
          <a:p>
            <a:pPr marL="520100" lvl="2" indent="-173367">
              <a:lnSpc>
                <a:spcPts val="1944"/>
              </a:lnSpc>
              <a:buFont typeface="Arial"/>
              <a:buChar char="⚬"/>
            </a:pPr>
            <a:r>
              <a:rPr lang="en-US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Stable</a:t>
            </a:r>
          </a:p>
          <a:p>
            <a:pPr marL="520100" lvl="2" indent="-173367">
              <a:lnSpc>
                <a:spcPts val="1944"/>
              </a:lnSpc>
              <a:buFont typeface="Arial"/>
              <a:buChar char="⚬"/>
            </a:pPr>
            <a:r>
              <a:rPr lang="en-US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Volatile 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9080855" y="4540244"/>
            <a:ext cx="1985382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44"/>
              </a:lnSpc>
            </a:pPr>
            <a:r>
              <a:rPr lang="en-US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Planning</a:t>
            </a:r>
          </a:p>
          <a:p>
            <a:pPr>
              <a:lnSpc>
                <a:spcPts val="1944"/>
              </a:lnSpc>
            </a:pPr>
            <a:r>
              <a:rPr lang="en-US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Strategies</a:t>
            </a:r>
          </a:p>
        </p:txBody>
      </p:sp>
      <p:grpSp>
        <p:nvGrpSpPr>
          <p:cNvPr id="55" name="Group 55"/>
          <p:cNvGrpSpPr/>
          <p:nvPr/>
        </p:nvGrpSpPr>
        <p:grpSpPr>
          <a:xfrm>
            <a:off x="8899492" y="2264911"/>
            <a:ext cx="2296450" cy="77701"/>
            <a:chOff x="0" y="0"/>
            <a:chExt cx="4592900" cy="155402"/>
          </a:xfrm>
        </p:grpSpPr>
        <p:sp>
          <p:nvSpPr>
            <p:cNvPr id="56" name="Freeform 56"/>
            <p:cNvSpPr/>
            <p:nvPr/>
          </p:nvSpPr>
          <p:spPr>
            <a:xfrm>
              <a:off x="37465" y="0"/>
              <a:ext cx="4518025" cy="155448"/>
            </a:xfrm>
            <a:custGeom>
              <a:avLst/>
              <a:gdLst/>
              <a:ahLst/>
              <a:cxnLst/>
              <a:rect l="l" t="t" r="r" b="b"/>
              <a:pathLst>
                <a:path w="4518025" h="155448">
                  <a:moveTo>
                    <a:pt x="1270" y="0"/>
                  </a:moveTo>
                  <a:lnTo>
                    <a:pt x="4518025" y="79248"/>
                  </a:lnTo>
                  <a:lnTo>
                    <a:pt x="4516628" y="155448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0000">
                <a:alpha val="25882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57" name="Freeform 57"/>
          <p:cNvSpPr/>
          <p:nvPr/>
        </p:nvSpPr>
        <p:spPr>
          <a:xfrm>
            <a:off x="6060478" y="2721418"/>
            <a:ext cx="2241313" cy="2539799"/>
          </a:xfrm>
          <a:custGeom>
            <a:avLst/>
            <a:gdLst/>
            <a:ahLst/>
            <a:cxnLst/>
            <a:rect l="l" t="t" r="r" b="b"/>
            <a:pathLst>
              <a:path w="3361970" h="3809699">
                <a:moveTo>
                  <a:pt x="0" y="0"/>
                </a:moveTo>
                <a:lnTo>
                  <a:pt x="3361969" y="0"/>
                </a:lnTo>
                <a:lnTo>
                  <a:pt x="3361969" y="3809700"/>
                </a:lnTo>
                <a:lnTo>
                  <a:pt x="0" y="38097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=""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58" name="TextBox 58"/>
          <p:cNvSpPr txBox="1"/>
          <p:nvPr/>
        </p:nvSpPr>
        <p:spPr>
          <a:xfrm>
            <a:off x="6221596" y="2823295"/>
            <a:ext cx="1902507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0"/>
              </a:lnSpc>
            </a:pPr>
            <a:r>
              <a:rPr lang="en-US" sz="2267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VALIDATION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6158754" y="3421120"/>
            <a:ext cx="2082861" cy="974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72"/>
              </a:lnSpc>
            </a:pPr>
            <a:r>
              <a:rPr lang="en-US" sz="1733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Walk-Forward:    </a:t>
            </a:r>
          </a:p>
          <a:p>
            <a:pPr marL="500778" lvl="2" indent="-166926">
              <a:lnSpc>
                <a:spcPts val="1872"/>
              </a:lnSpc>
              <a:buFont typeface="Arial"/>
              <a:buChar char="⚬"/>
            </a:pPr>
            <a:r>
              <a:rPr lang="en-US" sz="1733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Train 2010-2019 </a:t>
            </a:r>
          </a:p>
          <a:p>
            <a:pPr marL="500778" lvl="2" indent="-166926">
              <a:lnSpc>
                <a:spcPts val="1872"/>
              </a:lnSpc>
              <a:buFont typeface="Arial"/>
              <a:buChar char="⚬"/>
            </a:pPr>
            <a:r>
              <a:rPr lang="en-US" sz="1733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Test 2020-2021  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6236231" y="4368285"/>
            <a:ext cx="1902507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44"/>
              </a:lnSpc>
            </a:pPr>
            <a:r>
              <a:rPr lang="en-US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Metrics:</a:t>
            </a:r>
          </a:p>
          <a:p>
            <a:pPr>
              <a:lnSpc>
                <a:spcPts val="1944"/>
              </a:lnSpc>
            </a:pPr>
            <a:r>
              <a:rPr lang="en-US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R², MAE, RMSE</a:t>
            </a:r>
          </a:p>
        </p:txBody>
      </p:sp>
      <p:grpSp>
        <p:nvGrpSpPr>
          <p:cNvPr id="61" name="Group 61"/>
          <p:cNvGrpSpPr/>
          <p:nvPr/>
        </p:nvGrpSpPr>
        <p:grpSpPr>
          <a:xfrm>
            <a:off x="6054364" y="3249669"/>
            <a:ext cx="2266477" cy="38100"/>
            <a:chOff x="0" y="0"/>
            <a:chExt cx="4532954" cy="76200"/>
          </a:xfrm>
        </p:grpSpPr>
        <p:sp>
          <p:nvSpPr>
            <p:cNvPr id="62" name="Freeform 62"/>
            <p:cNvSpPr/>
            <p:nvPr/>
          </p:nvSpPr>
          <p:spPr>
            <a:xfrm>
              <a:off x="38100" y="0"/>
              <a:ext cx="4456811" cy="76200"/>
            </a:xfrm>
            <a:custGeom>
              <a:avLst/>
              <a:gdLst/>
              <a:ahLst/>
              <a:cxnLst/>
              <a:rect l="l" t="t" r="r" b="b"/>
              <a:pathLst>
                <a:path w="4456811" h="76200">
                  <a:moveTo>
                    <a:pt x="0" y="0"/>
                  </a:moveTo>
                  <a:lnTo>
                    <a:pt x="4456811" y="0"/>
                  </a:lnTo>
                  <a:lnTo>
                    <a:pt x="4456811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0000">
                <a:alpha val="63922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63" name="Group 63"/>
          <p:cNvGrpSpPr/>
          <p:nvPr/>
        </p:nvGrpSpPr>
        <p:grpSpPr>
          <a:xfrm>
            <a:off x="2666251" y="2059199"/>
            <a:ext cx="650875" cy="47625"/>
            <a:chOff x="0" y="0"/>
            <a:chExt cx="1301750" cy="95250"/>
          </a:xfrm>
        </p:grpSpPr>
        <p:sp>
          <p:nvSpPr>
            <p:cNvPr id="64" name="Freeform 64"/>
            <p:cNvSpPr/>
            <p:nvPr/>
          </p:nvSpPr>
          <p:spPr>
            <a:xfrm>
              <a:off x="47625" y="0"/>
              <a:ext cx="1206500" cy="95250"/>
            </a:xfrm>
            <a:custGeom>
              <a:avLst/>
              <a:gdLst/>
              <a:ahLst/>
              <a:cxnLst/>
              <a:rect l="l" t="t" r="r" b="b"/>
              <a:pathLst>
                <a:path w="1206500" h="95250">
                  <a:moveTo>
                    <a:pt x="0" y="0"/>
                  </a:moveTo>
                  <a:lnTo>
                    <a:pt x="1206500" y="0"/>
                  </a:lnTo>
                  <a:lnTo>
                    <a:pt x="120650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000000">
                <a:alpha val="63922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65" name="Group 65"/>
          <p:cNvGrpSpPr/>
          <p:nvPr/>
        </p:nvGrpSpPr>
        <p:grpSpPr>
          <a:xfrm>
            <a:off x="5446517" y="2075075"/>
            <a:ext cx="3482336" cy="61698"/>
            <a:chOff x="0" y="0"/>
            <a:chExt cx="6964672" cy="123396"/>
          </a:xfrm>
        </p:grpSpPr>
        <p:sp>
          <p:nvSpPr>
            <p:cNvPr id="66" name="Freeform 66"/>
            <p:cNvSpPr/>
            <p:nvPr/>
          </p:nvSpPr>
          <p:spPr>
            <a:xfrm>
              <a:off x="47371" y="0"/>
              <a:ext cx="6869939" cy="123444"/>
            </a:xfrm>
            <a:custGeom>
              <a:avLst/>
              <a:gdLst/>
              <a:ahLst/>
              <a:cxnLst/>
              <a:rect l="l" t="t" r="r" b="b"/>
              <a:pathLst>
                <a:path w="6869939" h="123444">
                  <a:moveTo>
                    <a:pt x="508" y="0"/>
                  </a:moveTo>
                  <a:lnTo>
                    <a:pt x="6869939" y="28194"/>
                  </a:lnTo>
                  <a:lnTo>
                    <a:pt x="6869557" y="123444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000000">
                <a:alpha val="63922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67" name="Group 67"/>
          <p:cNvGrpSpPr/>
          <p:nvPr/>
        </p:nvGrpSpPr>
        <p:grpSpPr>
          <a:xfrm>
            <a:off x="5446518" y="3049729"/>
            <a:ext cx="644122" cy="63500"/>
            <a:chOff x="0" y="0"/>
            <a:chExt cx="1288244" cy="127000"/>
          </a:xfrm>
        </p:grpSpPr>
        <p:sp>
          <p:nvSpPr>
            <p:cNvPr id="68" name="Freeform 68"/>
            <p:cNvSpPr/>
            <p:nvPr/>
          </p:nvSpPr>
          <p:spPr>
            <a:xfrm>
              <a:off x="46355" y="0"/>
              <a:ext cx="1195578" cy="127000"/>
            </a:xfrm>
            <a:custGeom>
              <a:avLst/>
              <a:gdLst/>
              <a:ahLst/>
              <a:cxnLst/>
              <a:rect l="l" t="t" r="r" b="b"/>
              <a:pathLst>
                <a:path w="1195578" h="127000">
                  <a:moveTo>
                    <a:pt x="2540" y="0"/>
                  </a:moveTo>
                  <a:lnTo>
                    <a:pt x="1195578" y="31750"/>
                  </a:lnTo>
                  <a:lnTo>
                    <a:pt x="1193038" y="12700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000000">
                <a:alpha val="63922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9" name="TextBox 69"/>
          <p:cNvSpPr txBox="1"/>
          <p:nvPr/>
        </p:nvSpPr>
        <p:spPr>
          <a:xfrm>
            <a:off x="5246503" y="5687458"/>
            <a:ext cx="6945497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56"/>
              </a:lnSpc>
            </a:pPr>
            <a:r>
              <a:rPr lang="en-US" sz="1533" i="1">
                <a:solidFill>
                  <a:srgbClr val="0047B3"/>
                </a:solidFill>
                <a:latin typeface="Arimo Italics"/>
                <a:ea typeface="Arimo Italics"/>
                <a:cs typeface="Arimo Italics"/>
                <a:sym typeface="Arimo Italics"/>
              </a:rPr>
              <a:t>Source: Hastie et al. (2009); Box &amp; Jenkins (1976); Maddala &amp; Lahiri (2009).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199729" y="1515544"/>
            <a:ext cx="3782171" cy="4334260"/>
          </a:xfrm>
          <a:custGeom>
            <a:avLst/>
            <a:gdLst/>
            <a:ahLst/>
            <a:cxnLst/>
            <a:rect l="l" t="t" r="r" b="b"/>
            <a:pathLst>
              <a:path w="5673256" h="6501390">
                <a:moveTo>
                  <a:pt x="0" y="0"/>
                </a:moveTo>
                <a:lnTo>
                  <a:pt x="5673256" y="0"/>
                </a:lnTo>
                <a:lnTo>
                  <a:pt x="5673256" y="6501390"/>
                </a:lnTo>
                <a:lnTo>
                  <a:pt x="0" y="65013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037595" y="1661859"/>
            <a:ext cx="4025739" cy="4016884"/>
          </a:xfrm>
          <a:custGeom>
            <a:avLst/>
            <a:gdLst/>
            <a:ahLst/>
            <a:cxnLst/>
            <a:rect l="l" t="t" r="r" b="b"/>
            <a:pathLst>
              <a:path w="6038608" h="6025326">
                <a:moveTo>
                  <a:pt x="0" y="0"/>
                </a:moveTo>
                <a:lnTo>
                  <a:pt x="6038609" y="0"/>
                </a:lnTo>
                <a:lnTo>
                  <a:pt x="6038609" y="6025327"/>
                </a:lnTo>
                <a:lnTo>
                  <a:pt x="0" y="60253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096000" y="510547"/>
            <a:ext cx="7519989" cy="5836905"/>
          </a:xfrm>
          <a:custGeom>
            <a:avLst/>
            <a:gdLst/>
            <a:ahLst/>
            <a:cxnLst/>
            <a:rect l="l" t="t" r="r" b="b"/>
            <a:pathLst>
              <a:path w="11279983" h="8755358">
                <a:moveTo>
                  <a:pt x="0" y="0"/>
                </a:moveTo>
                <a:lnTo>
                  <a:pt x="11279984" y="0"/>
                </a:lnTo>
                <a:lnTo>
                  <a:pt x="11279984" y="8755358"/>
                </a:lnTo>
                <a:lnTo>
                  <a:pt x="0" y="875535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 t="-11" b="-11"/>
            </a:stretch>
          </a:blipFill>
        </p:spPr>
      </p:sp>
      <p:grpSp>
        <p:nvGrpSpPr>
          <p:cNvPr id="5" name="Group 5"/>
          <p:cNvGrpSpPr/>
          <p:nvPr/>
        </p:nvGrpSpPr>
        <p:grpSpPr>
          <a:xfrm rot="-5400000">
            <a:off x="3819494" y="-4780589"/>
            <a:ext cx="1880171" cy="9519157"/>
            <a:chOff x="0" y="0"/>
            <a:chExt cx="3760343" cy="1903831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760343" cy="19038315"/>
            </a:xfrm>
            <a:custGeom>
              <a:avLst/>
              <a:gdLst/>
              <a:ahLst/>
              <a:cxnLst/>
              <a:rect l="l" t="t" r="r" b="b"/>
              <a:pathLst>
                <a:path w="3760343" h="19038315">
                  <a:moveTo>
                    <a:pt x="0" y="0"/>
                  </a:moveTo>
                  <a:lnTo>
                    <a:pt x="3760343" y="0"/>
                  </a:lnTo>
                  <a:lnTo>
                    <a:pt x="3760343" y="15230602"/>
                  </a:lnTo>
                  <a:lnTo>
                    <a:pt x="1880235" y="19038315"/>
                  </a:lnTo>
                  <a:lnTo>
                    <a:pt x="0" y="15230602"/>
                  </a:lnTo>
                  <a:close/>
                </a:path>
              </a:pathLst>
            </a:custGeom>
            <a:solidFill>
              <a:srgbClr val="002D7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 rot="5400000">
            <a:off x="8579041" y="2277438"/>
            <a:ext cx="1880235" cy="9519159"/>
            <a:chOff x="0" y="0"/>
            <a:chExt cx="3760470" cy="1903831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760470" cy="19038317"/>
            </a:xfrm>
            <a:custGeom>
              <a:avLst/>
              <a:gdLst/>
              <a:ahLst/>
              <a:cxnLst/>
              <a:rect l="l" t="t" r="r" b="b"/>
              <a:pathLst>
                <a:path w="3760470" h="19038317">
                  <a:moveTo>
                    <a:pt x="3760343" y="0"/>
                  </a:moveTo>
                  <a:lnTo>
                    <a:pt x="0" y="0"/>
                  </a:lnTo>
                  <a:lnTo>
                    <a:pt x="0" y="15230602"/>
                  </a:lnTo>
                  <a:lnTo>
                    <a:pt x="1880235" y="19038317"/>
                  </a:lnTo>
                  <a:lnTo>
                    <a:pt x="3760470" y="15230602"/>
                  </a:lnTo>
                  <a:close/>
                </a:path>
              </a:pathLst>
            </a:custGeom>
            <a:solidFill>
              <a:srgbClr val="002D7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250264" y="36715"/>
            <a:ext cx="887349" cy="784797"/>
            <a:chOff x="0" y="0"/>
            <a:chExt cx="1774698" cy="156959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74698" cy="1569593"/>
            </a:xfrm>
            <a:custGeom>
              <a:avLst/>
              <a:gdLst/>
              <a:ahLst/>
              <a:cxnLst/>
              <a:rect l="l" t="t" r="r" b="b"/>
              <a:pathLst>
                <a:path w="1774698" h="1569593">
                  <a:moveTo>
                    <a:pt x="0" y="0"/>
                  </a:moveTo>
                  <a:lnTo>
                    <a:pt x="1774698" y="0"/>
                  </a:lnTo>
                  <a:lnTo>
                    <a:pt x="1774698" y="1569593"/>
                  </a:lnTo>
                  <a:lnTo>
                    <a:pt x="0" y="15695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t="-10" b="-10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6231928" y="-10604"/>
            <a:ext cx="955548" cy="931672"/>
            <a:chOff x="0" y="0"/>
            <a:chExt cx="1911096" cy="186334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911096" cy="1863344"/>
            </a:xfrm>
            <a:custGeom>
              <a:avLst/>
              <a:gdLst/>
              <a:ahLst/>
              <a:cxnLst/>
              <a:rect l="l" t="t" r="r" b="b"/>
              <a:pathLst>
                <a:path w="1911096" h="1863344">
                  <a:moveTo>
                    <a:pt x="0" y="0"/>
                  </a:moveTo>
                  <a:lnTo>
                    <a:pt x="1911096" y="0"/>
                  </a:lnTo>
                  <a:lnTo>
                    <a:pt x="1911096" y="1863344"/>
                  </a:lnTo>
                  <a:lnTo>
                    <a:pt x="0" y="1863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t="-115" b="-115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98977" y="391284"/>
            <a:ext cx="1035539" cy="768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lang="en-US" sz="6875" b="1" spc="-17">
                <a:solidFill>
                  <a:srgbClr val="FFE766"/>
                </a:solidFill>
                <a:latin typeface="DG Ghareeb Bold"/>
                <a:ea typeface="DG Ghareeb Bold"/>
                <a:cs typeface="DG Ghareeb Bold"/>
                <a:sym typeface="DG Ghareeb Bold"/>
              </a:rPr>
              <a:t>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25147" y="289351"/>
            <a:ext cx="769306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28"/>
              </a:lnSpc>
            </a:pPr>
            <a:r>
              <a:rPr lang="en-US" sz="1600" b="1">
                <a:solidFill>
                  <a:srgbClr val="EBE5E5"/>
                </a:solidFill>
                <a:latin typeface="Arimo Bold"/>
                <a:ea typeface="Arimo Bold"/>
                <a:cs typeface="Arimo Bold"/>
                <a:sym typeface="Arimo Bold"/>
              </a:rPr>
              <a:t>rd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2530375" y="98220"/>
            <a:ext cx="6480197" cy="718005"/>
            <a:chOff x="0" y="0"/>
            <a:chExt cx="12960394" cy="143601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960394" cy="1436011"/>
            </a:xfrm>
            <a:custGeom>
              <a:avLst/>
              <a:gdLst/>
              <a:ahLst/>
              <a:cxnLst/>
              <a:rect l="l" t="t" r="r" b="b"/>
              <a:pathLst>
                <a:path w="12960394" h="1436011">
                  <a:moveTo>
                    <a:pt x="0" y="0"/>
                  </a:moveTo>
                  <a:lnTo>
                    <a:pt x="12960394" y="0"/>
                  </a:lnTo>
                  <a:lnTo>
                    <a:pt x="12960394" y="1436011"/>
                  </a:lnTo>
                  <a:lnTo>
                    <a:pt x="0" y="143601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9525"/>
              <a:ext cx="12960394" cy="1426486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>
                <a:lnSpc>
                  <a:spcPts val="1944"/>
                </a:lnSpc>
              </a:pPr>
              <a:r>
                <a:rPr lang="en-US" b="1">
                  <a:solidFill>
                    <a:srgbClr val="EBE5E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MULTIDISCIPLINARY </a:t>
              </a:r>
            </a:p>
            <a:p>
              <a:pPr>
                <a:lnSpc>
                  <a:spcPts val="1944"/>
                </a:lnSpc>
              </a:pPr>
              <a:r>
                <a:rPr lang="en-US" b="1">
                  <a:solidFill>
                    <a:srgbClr val="EBE5E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RESEARCH CONGRESS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15604" y="-64882"/>
            <a:ext cx="1653171" cy="906587"/>
            <a:chOff x="0" y="0"/>
            <a:chExt cx="3306342" cy="181317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306342" cy="1813173"/>
            </a:xfrm>
            <a:custGeom>
              <a:avLst/>
              <a:gdLst/>
              <a:ahLst/>
              <a:cxnLst/>
              <a:rect l="l" t="t" r="r" b="b"/>
              <a:pathLst>
                <a:path w="3306342" h="1813173">
                  <a:moveTo>
                    <a:pt x="0" y="0"/>
                  </a:moveTo>
                  <a:lnTo>
                    <a:pt x="3306342" y="0"/>
                  </a:lnTo>
                  <a:lnTo>
                    <a:pt x="3306342" y="1813173"/>
                  </a:lnTo>
                  <a:lnTo>
                    <a:pt x="0" y="18131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47625"/>
              <a:ext cx="3306342" cy="1765548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>
                <a:lnSpc>
                  <a:spcPts val="4320"/>
                </a:lnSpc>
              </a:pPr>
              <a:r>
                <a:rPr lang="en-US" sz="4000" b="1">
                  <a:solidFill>
                    <a:srgbClr val="EBE5E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SPAC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6606116" y="6248524"/>
            <a:ext cx="5375784" cy="5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8"/>
              </a:lnSpc>
            </a:pPr>
            <a:r>
              <a:rPr lang="en-US" sz="3600" b="1">
                <a:solidFill>
                  <a:srgbClr val="EBE5E5"/>
                </a:solidFill>
                <a:latin typeface="Arimo Bold"/>
                <a:ea typeface="Arimo Bold"/>
                <a:cs typeface="Arimo Bold"/>
                <a:sym typeface="Arimo Bold"/>
              </a:rPr>
              <a:t>KALIMUHAGAN 2025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797523" y="5722826"/>
            <a:ext cx="1527239" cy="396621"/>
            <a:chOff x="0" y="0"/>
            <a:chExt cx="3054477" cy="79324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054477" cy="793242"/>
            </a:xfrm>
            <a:custGeom>
              <a:avLst/>
              <a:gdLst/>
              <a:ahLst/>
              <a:cxnLst/>
              <a:rect l="l" t="t" r="r" b="b"/>
              <a:pathLst>
                <a:path w="3054477" h="793242">
                  <a:moveTo>
                    <a:pt x="0" y="0"/>
                  </a:moveTo>
                  <a:lnTo>
                    <a:pt x="3054477" y="0"/>
                  </a:lnTo>
                  <a:lnTo>
                    <a:pt x="3054477" y="793242"/>
                  </a:lnTo>
                  <a:lnTo>
                    <a:pt x="0" y="793242"/>
                  </a:lnTo>
                  <a:close/>
                </a:path>
              </a:pathLst>
            </a:custGeom>
            <a:solidFill>
              <a:srgbClr val="EBBD1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4" name="TextBox 24"/>
          <p:cNvSpPr txBox="1"/>
          <p:nvPr/>
        </p:nvSpPr>
        <p:spPr>
          <a:xfrm>
            <a:off x="820101" y="5712067"/>
            <a:ext cx="1482067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</a:pPr>
            <a:r>
              <a:rPr lang="en-US" b="1">
                <a:solidFill>
                  <a:srgbClr val="EBE5E5"/>
                </a:solidFill>
                <a:latin typeface="Britannic Bold"/>
                <a:ea typeface="Britannic Bold"/>
                <a:cs typeface="Britannic Bold"/>
                <a:sym typeface="Britannic Bold"/>
              </a:rPr>
              <a:t>ENLIGHTEN.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2324747" y="5722826"/>
            <a:ext cx="1570037" cy="396621"/>
            <a:chOff x="0" y="0"/>
            <a:chExt cx="3140075" cy="79324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140075" cy="793242"/>
            </a:xfrm>
            <a:custGeom>
              <a:avLst/>
              <a:gdLst/>
              <a:ahLst/>
              <a:cxnLst/>
              <a:rect l="l" t="t" r="r" b="b"/>
              <a:pathLst>
                <a:path w="3140075" h="793242">
                  <a:moveTo>
                    <a:pt x="0" y="0"/>
                  </a:moveTo>
                  <a:lnTo>
                    <a:pt x="3140075" y="0"/>
                  </a:lnTo>
                  <a:lnTo>
                    <a:pt x="3140075" y="793242"/>
                  </a:lnTo>
                  <a:lnTo>
                    <a:pt x="0" y="793242"/>
                  </a:lnTo>
                  <a:close/>
                </a:path>
              </a:pathLst>
            </a:custGeom>
            <a:solidFill>
              <a:srgbClr val="C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7" name="TextBox 27"/>
          <p:cNvSpPr txBox="1"/>
          <p:nvPr/>
        </p:nvSpPr>
        <p:spPr>
          <a:xfrm>
            <a:off x="2347326" y="5712067"/>
            <a:ext cx="1524857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2000" b="1">
                <a:solidFill>
                  <a:srgbClr val="EBE5E5"/>
                </a:solidFill>
                <a:latin typeface="Britannic Bold"/>
                <a:ea typeface="Britannic Bold"/>
                <a:cs typeface="Britannic Bold"/>
                <a:sym typeface="Britannic Bold"/>
              </a:rPr>
              <a:t>EMPOWER.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999319" y="6119684"/>
            <a:ext cx="1325435" cy="396621"/>
            <a:chOff x="0" y="0"/>
            <a:chExt cx="2650871" cy="79324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650871" cy="793242"/>
            </a:xfrm>
            <a:custGeom>
              <a:avLst/>
              <a:gdLst/>
              <a:ahLst/>
              <a:cxnLst/>
              <a:rect l="l" t="t" r="r" b="b"/>
              <a:pathLst>
                <a:path w="2650871" h="793242">
                  <a:moveTo>
                    <a:pt x="0" y="0"/>
                  </a:moveTo>
                  <a:lnTo>
                    <a:pt x="2650871" y="0"/>
                  </a:lnTo>
                  <a:lnTo>
                    <a:pt x="2650871" y="793242"/>
                  </a:lnTo>
                  <a:lnTo>
                    <a:pt x="0" y="793242"/>
                  </a:lnTo>
                  <a:close/>
                </a:path>
              </a:pathLst>
            </a:custGeom>
            <a:solidFill>
              <a:srgbClr val="0047B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30" name="TextBox 30"/>
          <p:cNvSpPr txBox="1"/>
          <p:nvPr/>
        </p:nvSpPr>
        <p:spPr>
          <a:xfrm>
            <a:off x="1021896" y="6108925"/>
            <a:ext cx="1280272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7"/>
              </a:lnSpc>
            </a:pPr>
            <a:r>
              <a:rPr lang="en-US" sz="2219" b="1">
                <a:solidFill>
                  <a:srgbClr val="EBE5E5"/>
                </a:solidFill>
                <a:latin typeface="Britannic Bold"/>
                <a:ea typeface="Britannic Bold"/>
                <a:cs typeface="Britannic Bold"/>
                <a:sym typeface="Britannic Bold"/>
              </a:rPr>
              <a:t>ENGAGE: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2324746" y="6118915"/>
            <a:ext cx="1476185" cy="396621"/>
            <a:chOff x="0" y="0"/>
            <a:chExt cx="2952370" cy="793242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952369" cy="793242"/>
            </a:xfrm>
            <a:custGeom>
              <a:avLst/>
              <a:gdLst/>
              <a:ahLst/>
              <a:cxnLst/>
              <a:rect l="l" t="t" r="r" b="b"/>
              <a:pathLst>
                <a:path w="2952369" h="793242">
                  <a:moveTo>
                    <a:pt x="0" y="0"/>
                  </a:moveTo>
                  <a:lnTo>
                    <a:pt x="2952369" y="0"/>
                  </a:lnTo>
                  <a:lnTo>
                    <a:pt x="2952369" y="793242"/>
                  </a:lnTo>
                  <a:lnTo>
                    <a:pt x="0" y="793242"/>
                  </a:lnTo>
                  <a:close/>
                </a:path>
              </a:pathLst>
            </a:custGeom>
            <a:solidFill>
              <a:srgbClr val="19191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33" name="TextBox 33"/>
          <p:cNvSpPr txBox="1"/>
          <p:nvPr/>
        </p:nvSpPr>
        <p:spPr>
          <a:xfrm>
            <a:off x="2347324" y="6108156"/>
            <a:ext cx="1431003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2000" b="1">
                <a:solidFill>
                  <a:srgbClr val="EBE5E5"/>
                </a:solidFill>
                <a:latin typeface="Britannic Bold"/>
                <a:ea typeface="Britannic Bold"/>
                <a:cs typeface="Britannic Bold"/>
                <a:sym typeface="Britannic Bold"/>
              </a:rPr>
              <a:t>I WILL GO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59937" y="5824793"/>
            <a:ext cx="1215772" cy="1333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69"/>
              </a:lnSpc>
            </a:pPr>
            <a:r>
              <a:rPr lang="en-US" sz="9600">
                <a:solidFill>
                  <a:srgbClr val="DFC991"/>
                </a:solidFill>
                <a:latin typeface="Arimo"/>
                <a:ea typeface="Arimo"/>
                <a:cs typeface="Arimo"/>
                <a:sym typeface="Arimo"/>
              </a:rPr>
              <a:t>“</a:t>
            </a:r>
          </a:p>
        </p:txBody>
      </p:sp>
      <p:sp>
        <p:nvSpPr>
          <p:cNvPr id="35" name="TextBox 35"/>
          <p:cNvSpPr txBox="1"/>
          <p:nvPr/>
        </p:nvSpPr>
        <p:spPr>
          <a:xfrm rot="-10800000">
            <a:off x="3293313" y="5658350"/>
            <a:ext cx="1215772" cy="1333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69"/>
              </a:lnSpc>
            </a:pPr>
            <a:r>
              <a:rPr lang="en-US" sz="9600">
                <a:solidFill>
                  <a:srgbClr val="DFC991"/>
                </a:solidFill>
                <a:latin typeface="Arimo"/>
                <a:ea typeface="Arimo"/>
                <a:cs typeface="Arimo"/>
                <a:sym typeface="Arimo"/>
              </a:rPr>
              <a:t>“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733976" y="207876"/>
            <a:ext cx="2965829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01"/>
              </a:lnSpc>
            </a:pPr>
            <a:r>
              <a:rPr lang="en-US" sz="4334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</a:p>
        </p:txBody>
      </p:sp>
      <p:sp>
        <p:nvSpPr>
          <p:cNvPr id="37" name="Freeform 37"/>
          <p:cNvSpPr/>
          <p:nvPr/>
        </p:nvSpPr>
        <p:spPr>
          <a:xfrm>
            <a:off x="221021" y="1655509"/>
            <a:ext cx="3680179" cy="4016884"/>
          </a:xfrm>
          <a:custGeom>
            <a:avLst/>
            <a:gdLst/>
            <a:ahLst/>
            <a:cxnLst/>
            <a:rect l="l" t="t" r="r" b="b"/>
            <a:pathLst>
              <a:path w="5520268" h="6025326">
                <a:moveTo>
                  <a:pt x="0" y="0"/>
                </a:moveTo>
                <a:lnTo>
                  <a:pt x="5520268" y="0"/>
                </a:lnTo>
                <a:lnTo>
                  <a:pt x="5520268" y="6025327"/>
                </a:lnTo>
                <a:lnTo>
                  <a:pt x="0" y="602532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38" name="TextBox 38"/>
          <p:cNvSpPr txBox="1"/>
          <p:nvPr/>
        </p:nvSpPr>
        <p:spPr>
          <a:xfrm>
            <a:off x="366591" y="1714815"/>
            <a:ext cx="3416064" cy="294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1"/>
              </a:lnSpc>
            </a:pPr>
            <a:r>
              <a:rPr lang="en-US" sz="1934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SOURCE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91172" y="2299013"/>
            <a:ext cx="3416064" cy="339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333" b="1">
                <a:solidFill>
                  <a:srgbClr val="001B4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Dataset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99523" y="2708588"/>
            <a:ext cx="3741262" cy="265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60"/>
              </a:lnSpc>
            </a:pPr>
            <a:r>
              <a:rPr lang="en-US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Philippines School Enrollment Data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91172" y="5188263"/>
            <a:ext cx="3741262" cy="254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80"/>
              </a:lnSpc>
            </a:pPr>
            <a:r>
              <a:rPr lang="en-US" sz="1733">
                <a:solidFill>
                  <a:srgbClr val="001B44">
                    <a:alpha val="70588"/>
                  </a:srgb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Accuracy: ±0.2% difference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385641" y="3422963"/>
            <a:ext cx="3416064" cy="339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333" b="1">
                <a:solidFill>
                  <a:srgbClr val="001B4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Coverage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91172" y="3832538"/>
            <a:ext cx="3741262" cy="265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60"/>
              </a:lnSpc>
            </a:pPr>
            <a:r>
              <a:rPr lang="en-US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2010–2021 | All 17 Regions | K-12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379291" y="4391338"/>
            <a:ext cx="3416064" cy="339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333" b="1">
                <a:solidFill>
                  <a:srgbClr val="001B4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Validation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391172" y="4800914"/>
            <a:ext cx="3741262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40"/>
              </a:lnSpc>
            </a:pPr>
            <a:r>
              <a:rPr lang="en-US" sz="1867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Cross-referenced with DepEd data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05874" y="3038788"/>
            <a:ext cx="3741262" cy="254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80"/>
              </a:lnSpc>
            </a:pPr>
            <a:r>
              <a:rPr lang="en-US" sz="1733">
                <a:solidFill>
                  <a:srgbClr val="001B44">
                    <a:alpha val="70588"/>
                  </a:srgb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Kaggle (Raiblaze, 2023)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148439" y="1698938"/>
            <a:ext cx="3780544" cy="302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81"/>
              </a:lnSpc>
            </a:pPr>
            <a:r>
              <a:rPr lang="en-US" sz="2067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STATISTICS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4173020" y="2308538"/>
            <a:ext cx="716598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40"/>
              </a:lnSpc>
            </a:pPr>
            <a:r>
              <a:rPr lang="en-US" sz="2866" b="1">
                <a:solidFill>
                  <a:srgbClr val="001B4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561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4181371" y="2705413"/>
            <a:ext cx="2064099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1667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Observations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4212240" y="5185088"/>
            <a:ext cx="3741262" cy="254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80"/>
              </a:lnSpc>
            </a:pPr>
            <a:r>
              <a:rPr lang="en-US" sz="1733">
                <a:solidFill>
                  <a:srgbClr val="001B44">
                    <a:alpha val="70588"/>
                  </a:srgb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strand-level disaggregation = 561 obs.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4167490" y="3134038"/>
            <a:ext cx="722129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40"/>
              </a:lnSpc>
            </a:pPr>
            <a:r>
              <a:rPr lang="en-US" sz="2866" b="1">
                <a:solidFill>
                  <a:srgbClr val="001B4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17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4173020" y="3565838"/>
            <a:ext cx="2072450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1667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Philippine Regions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4181371" y="4069075"/>
            <a:ext cx="1857340" cy="339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333" b="1">
                <a:solidFill>
                  <a:srgbClr val="001B4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Calculation: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4212240" y="4524688"/>
            <a:ext cx="3741262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00"/>
              </a:lnSpc>
            </a:pPr>
            <a:r>
              <a:rPr lang="en-US" sz="2000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 regions × 11 years × 2 sectors ≈ 374 base records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6245470" y="2302188"/>
            <a:ext cx="581368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40"/>
              </a:lnSpc>
            </a:pPr>
            <a:r>
              <a:rPr lang="en-US" sz="2866" b="1">
                <a:solidFill>
                  <a:srgbClr val="001B4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57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6253822" y="2705413"/>
            <a:ext cx="1675162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1667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Features (encoded)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263755" y="3134038"/>
            <a:ext cx="563083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40"/>
              </a:lnSpc>
            </a:pPr>
            <a:r>
              <a:rPr lang="en-US" sz="2866" b="1">
                <a:solidFill>
                  <a:srgbClr val="001B4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11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269287" y="3565838"/>
            <a:ext cx="1684215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1667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Academic Years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8397580" y="1590988"/>
            <a:ext cx="3238337" cy="647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61"/>
              </a:lnSpc>
            </a:pPr>
            <a:r>
              <a:rPr lang="en-US" sz="2134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CATEGORIES</a:t>
            </a:r>
          </a:p>
          <a:p>
            <a:pPr>
              <a:lnSpc>
                <a:spcPts val="2561"/>
              </a:lnSpc>
            </a:pPr>
            <a:r>
              <a:rPr lang="en-US" sz="2134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(57 TOTAL)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8363790" y="2308539"/>
            <a:ext cx="3239058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40"/>
              </a:lnSpc>
            </a:pPr>
            <a:r>
              <a:rPr lang="en-US" sz="1867" b="1">
                <a:solidFill>
                  <a:srgbClr val="001B4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Academic_Year </a:t>
            </a:r>
          </a:p>
          <a:p>
            <a:pPr>
              <a:lnSpc>
                <a:spcPts val="2240"/>
              </a:lnSpc>
            </a:pPr>
            <a:r>
              <a:rPr lang="en-US" sz="1867" b="1">
                <a:solidFill>
                  <a:srgbClr val="001B4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(one-hot encoded)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8363790" y="2897501"/>
            <a:ext cx="2306165" cy="265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60"/>
              </a:lnSpc>
            </a:pPr>
            <a:r>
              <a:rPr lang="en-US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 features: 2010–2021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8363790" y="3284851"/>
            <a:ext cx="323905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40"/>
              </a:lnSpc>
            </a:pPr>
            <a:r>
              <a:rPr lang="en-US" sz="1867" b="1">
                <a:solidFill>
                  <a:srgbClr val="001B4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Region (one-hot encoded)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8363790" y="3640451"/>
            <a:ext cx="3618111" cy="265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60"/>
              </a:lnSpc>
            </a:pPr>
            <a:r>
              <a:rPr lang="en-US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 features: NCR, CAR, ARMM, etc.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8363790" y="4040502"/>
            <a:ext cx="323905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40"/>
              </a:lnSpc>
            </a:pPr>
            <a:r>
              <a:rPr lang="en-US" sz="1867" b="1">
                <a:solidFill>
                  <a:srgbClr val="001B4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Sector (one-hot encoded)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8363790" y="4342125"/>
            <a:ext cx="3618111" cy="265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60"/>
              </a:lnSpc>
            </a:pPr>
            <a:r>
              <a:rPr lang="en-US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features: Public, Private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8363790" y="4754876"/>
            <a:ext cx="323905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40"/>
              </a:lnSpc>
            </a:pPr>
            <a:r>
              <a:rPr lang="en-US" sz="1867" b="1">
                <a:solidFill>
                  <a:srgbClr val="001B4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Grade K-10 (11 vars)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8363790" y="5371989"/>
            <a:ext cx="3618111" cy="265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60"/>
              </a:lnSpc>
            </a:pPr>
            <a:r>
              <a:rPr lang="en-US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 features: Grade-level enrollment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8363790" y="5053908"/>
            <a:ext cx="323905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40"/>
              </a:lnSpc>
            </a:pPr>
            <a:r>
              <a:rPr lang="en-US" sz="1867" b="1">
                <a:solidFill>
                  <a:srgbClr val="001B4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Grade 11-12 strands (8 vars)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391172" y="933764"/>
            <a:ext cx="6037190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01"/>
              </a:lnSpc>
            </a:pPr>
            <a:r>
              <a:rPr lang="en-US" sz="4334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Collection &amp; Features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6709702" y="5856154"/>
            <a:ext cx="5230378" cy="42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lang="en-US" sz="1399" i="1">
                <a:solidFill>
                  <a:srgbClr val="0047B3">
                    <a:alpha val="70588"/>
                  </a:srgbClr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Source: Raiblaze (2023) Kaggle dataset; DepEd (2010–2021) validation.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96000" y="1602740"/>
            <a:ext cx="5683611" cy="1903265"/>
          </a:xfrm>
          <a:custGeom>
            <a:avLst/>
            <a:gdLst/>
            <a:ahLst/>
            <a:cxnLst/>
            <a:rect l="l" t="t" r="r" b="b"/>
            <a:pathLst>
              <a:path w="8525416" h="2854898">
                <a:moveTo>
                  <a:pt x="0" y="0"/>
                </a:moveTo>
                <a:lnTo>
                  <a:pt x="8525416" y="0"/>
                </a:lnTo>
                <a:lnTo>
                  <a:pt x="8525416" y="2854898"/>
                </a:lnTo>
                <a:lnTo>
                  <a:pt x="0" y="28548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168767" y="3538776"/>
            <a:ext cx="5683611" cy="2332373"/>
          </a:xfrm>
          <a:custGeom>
            <a:avLst/>
            <a:gdLst/>
            <a:ahLst/>
            <a:cxnLst/>
            <a:rect l="l" t="t" r="r" b="b"/>
            <a:pathLst>
              <a:path w="8525416" h="3498560">
                <a:moveTo>
                  <a:pt x="0" y="0"/>
                </a:moveTo>
                <a:lnTo>
                  <a:pt x="8525417" y="0"/>
                </a:lnTo>
                <a:lnTo>
                  <a:pt x="8525417" y="3498560"/>
                </a:lnTo>
                <a:lnTo>
                  <a:pt x="0" y="34985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096000" y="510547"/>
            <a:ext cx="7519989" cy="5836905"/>
          </a:xfrm>
          <a:custGeom>
            <a:avLst/>
            <a:gdLst/>
            <a:ahLst/>
            <a:cxnLst/>
            <a:rect l="l" t="t" r="r" b="b"/>
            <a:pathLst>
              <a:path w="11279983" h="8755358">
                <a:moveTo>
                  <a:pt x="0" y="0"/>
                </a:moveTo>
                <a:lnTo>
                  <a:pt x="11279984" y="0"/>
                </a:lnTo>
                <a:lnTo>
                  <a:pt x="11279984" y="8755358"/>
                </a:lnTo>
                <a:lnTo>
                  <a:pt x="0" y="875535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 t="-11" b="-11"/>
            </a:stretch>
          </a:blipFill>
        </p:spPr>
      </p:sp>
      <p:grpSp>
        <p:nvGrpSpPr>
          <p:cNvPr id="5" name="Group 5"/>
          <p:cNvGrpSpPr/>
          <p:nvPr/>
        </p:nvGrpSpPr>
        <p:grpSpPr>
          <a:xfrm rot="-5400000">
            <a:off x="3819494" y="-4780589"/>
            <a:ext cx="1880171" cy="9519157"/>
            <a:chOff x="0" y="0"/>
            <a:chExt cx="3760343" cy="1903831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760343" cy="19038315"/>
            </a:xfrm>
            <a:custGeom>
              <a:avLst/>
              <a:gdLst/>
              <a:ahLst/>
              <a:cxnLst/>
              <a:rect l="l" t="t" r="r" b="b"/>
              <a:pathLst>
                <a:path w="3760343" h="19038315">
                  <a:moveTo>
                    <a:pt x="0" y="0"/>
                  </a:moveTo>
                  <a:lnTo>
                    <a:pt x="3760343" y="0"/>
                  </a:lnTo>
                  <a:lnTo>
                    <a:pt x="3760343" y="15230602"/>
                  </a:lnTo>
                  <a:lnTo>
                    <a:pt x="1880235" y="19038315"/>
                  </a:lnTo>
                  <a:lnTo>
                    <a:pt x="0" y="15230602"/>
                  </a:lnTo>
                  <a:close/>
                </a:path>
              </a:pathLst>
            </a:custGeom>
            <a:solidFill>
              <a:srgbClr val="002D7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 rot="5400000">
            <a:off x="8579040" y="2369187"/>
            <a:ext cx="1880235" cy="9519159"/>
            <a:chOff x="0" y="0"/>
            <a:chExt cx="3760470" cy="1903831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760470" cy="19038317"/>
            </a:xfrm>
            <a:custGeom>
              <a:avLst/>
              <a:gdLst/>
              <a:ahLst/>
              <a:cxnLst/>
              <a:rect l="l" t="t" r="r" b="b"/>
              <a:pathLst>
                <a:path w="3760470" h="19038317">
                  <a:moveTo>
                    <a:pt x="3760343" y="0"/>
                  </a:moveTo>
                  <a:lnTo>
                    <a:pt x="0" y="0"/>
                  </a:lnTo>
                  <a:lnTo>
                    <a:pt x="0" y="15230602"/>
                  </a:lnTo>
                  <a:lnTo>
                    <a:pt x="1880235" y="19038317"/>
                  </a:lnTo>
                  <a:lnTo>
                    <a:pt x="3760470" y="15230602"/>
                  </a:lnTo>
                  <a:close/>
                </a:path>
              </a:pathLst>
            </a:custGeom>
            <a:solidFill>
              <a:srgbClr val="002D7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250264" y="36715"/>
            <a:ext cx="887349" cy="784797"/>
            <a:chOff x="0" y="0"/>
            <a:chExt cx="1774698" cy="156959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74698" cy="1569593"/>
            </a:xfrm>
            <a:custGeom>
              <a:avLst/>
              <a:gdLst/>
              <a:ahLst/>
              <a:cxnLst/>
              <a:rect l="l" t="t" r="r" b="b"/>
              <a:pathLst>
                <a:path w="1774698" h="1569593">
                  <a:moveTo>
                    <a:pt x="0" y="0"/>
                  </a:moveTo>
                  <a:lnTo>
                    <a:pt x="1774698" y="0"/>
                  </a:lnTo>
                  <a:lnTo>
                    <a:pt x="1774698" y="1569593"/>
                  </a:lnTo>
                  <a:lnTo>
                    <a:pt x="0" y="15695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t="-10" b="-10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6231928" y="-10604"/>
            <a:ext cx="955548" cy="931672"/>
            <a:chOff x="0" y="0"/>
            <a:chExt cx="1911096" cy="186334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911096" cy="1863344"/>
            </a:xfrm>
            <a:custGeom>
              <a:avLst/>
              <a:gdLst/>
              <a:ahLst/>
              <a:cxnLst/>
              <a:rect l="l" t="t" r="r" b="b"/>
              <a:pathLst>
                <a:path w="1911096" h="1863344">
                  <a:moveTo>
                    <a:pt x="0" y="0"/>
                  </a:moveTo>
                  <a:lnTo>
                    <a:pt x="1911096" y="0"/>
                  </a:lnTo>
                  <a:lnTo>
                    <a:pt x="1911096" y="1863344"/>
                  </a:lnTo>
                  <a:lnTo>
                    <a:pt x="0" y="1863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t="-115" b="-115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98977" y="391284"/>
            <a:ext cx="1035539" cy="768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lang="en-US" sz="6875" b="1" spc="-17">
                <a:solidFill>
                  <a:srgbClr val="FFE766"/>
                </a:solidFill>
                <a:latin typeface="DG Ghareeb Bold"/>
                <a:ea typeface="DG Ghareeb Bold"/>
                <a:cs typeface="DG Ghareeb Bold"/>
                <a:sym typeface="DG Ghareeb Bold"/>
              </a:rPr>
              <a:t>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25147" y="289351"/>
            <a:ext cx="769306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28"/>
              </a:lnSpc>
            </a:pPr>
            <a:r>
              <a:rPr lang="en-US" sz="1600" b="1">
                <a:solidFill>
                  <a:srgbClr val="EBE5E5"/>
                </a:solidFill>
                <a:latin typeface="Arimo Bold"/>
                <a:ea typeface="Arimo Bold"/>
                <a:cs typeface="Arimo Bold"/>
                <a:sym typeface="Arimo Bold"/>
              </a:rPr>
              <a:t>rd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2530375" y="98220"/>
            <a:ext cx="6480197" cy="718005"/>
            <a:chOff x="0" y="0"/>
            <a:chExt cx="12960394" cy="143601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960394" cy="1436011"/>
            </a:xfrm>
            <a:custGeom>
              <a:avLst/>
              <a:gdLst/>
              <a:ahLst/>
              <a:cxnLst/>
              <a:rect l="l" t="t" r="r" b="b"/>
              <a:pathLst>
                <a:path w="12960394" h="1436011">
                  <a:moveTo>
                    <a:pt x="0" y="0"/>
                  </a:moveTo>
                  <a:lnTo>
                    <a:pt x="12960394" y="0"/>
                  </a:lnTo>
                  <a:lnTo>
                    <a:pt x="12960394" y="1436011"/>
                  </a:lnTo>
                  <a:lnTo>
                    <a:pt x="0" y="143601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9525"/>
              <a:ext cx="12960394" cy="1426486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>
                <a:lnSpc>
                  <a:spcPts val="1944"/>
                </a:lnSpc>
              </a:pPr>
              <a:r>
                <a:rPr lang="en-US" b="1">
                  <a:solidFill>
                    <a:srgbClr val="EBE5E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MULTIDISCIPLINARY </a:t>
              </a:r>
            </a:p>
            <a:p>
              <a:pPr>
                <a:lnSpc>
                  <a:spcPts val="1944"/>
                </a:lnSpc>
              </a:pPr>
              <a:r>
                <a:rPr lang="en-US" b="1">
                  <a:solidFill>
                    <a:srgbClr val="EBE5E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RESEARCH CONGRESS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15604" y="-64882"/>
            <a:ext cx="1653171" cy="906587"/>
            <a:chOff x="0" y="0"/>
            <a:chExt cx="3306342" cy="181317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306342" cy="1813173"/>
            </a:xfrm>
            <a:custGeom>
              <a:avLst/>
              <a:gdLst/>
              <a:ahLst/>
              <a:cxnLst/>
              <a:rect l="l" t="t" r="r" b="b"/>
              <a:pathLst>
                <a:path w="3306342" h="1813173">
                  <a:moveTo>
                    <a:pt x="0" y="0"/>
                  </a:moveTo>
                  <a:lnTo>
                    <a:pt x="3306342" y="0"/>
                  </a:lnTo>
                  <a:lnTo>
                    <a:pt x="3306342" y="1813173"/>
                  </a:lnTo>
                  <a:lnTo>
                    <a:pt x="0" y="18131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47625"/>
              <a:ext cx="3306342" cy="1765548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>
                <a:lnSpc>
                  <a:spcPts val="4320"/>
                </a:lnSpc>
              </a:pPr>
              <a:r>
                <a:rPr lang="en-US" sz="4000" b="1">
                  <a:solidFill>
                    <a:srgbClr val="EBE5E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SPAC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97523" y="5871150"/>
            <a:ext cx="1527239" cy="396621"/>
            <a:chOff x="0" y="0"/>
            <a:chExt cx="3054477" cy="79324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054477" cy="793242"/>
            </a:xfrm>
            <a:custGeom>
              <a:avLst/>
              <a:gdLst/>
              <a:ahLst/>
              <a:cxnLst/>
              <a:rect l="l" t="t" r="r" b="b"/>
              <a:pathLst>
                <a:path w="3054477" h="793242">
                  <a:moveTo>
                    <a:pt x="0" y="0"/>
                  </a:moveTo>
                  <a:lnTo>
                    <a:pt x="3054477" y="0"/>
                  </a:lnTo>
                  <a:lnTo>
                    <a:pt x="3054477" y="793242"/>
                  </a:lnTo>
                  <a:lnTo>
                    <a:pt x="0" y="793242"/>
                  </a:lnTo>
                  <a:close/>
                </a:path>
              </a:pathLst>
            </a:custGeom>
            <a:solidFill>
              <a:srgbClr val="EBBD1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3" name="TextBox 23"/>
          <p:cNvSpPr txBox="1"/>
          <p:nvPr/>
        </p:nvSpPr>
        <p:spPr>
          <a:xfrm>
            <a:off x="820101" y="5860390"/>
            <a:ext cx="1482067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</a:pPr>
            <a:r>
              <a:rPr lang="en-US" b="1">
                <a:solidFill>
                  <a:srgbClr val="EBE5E5"/>
                </a:solidFill>
                <a:latin typeface="Britannic Bold"/>
                <a:ea typeface="Britannic Bold"/>
                <a:cs typeface="Britannic Bold"/>
                <a:sym typeface="Britannic Bold"/>
              </a:rPr>
              <a:t>ENLIGHTEN.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2324747" y="5871150"/>
            <a:ext cx="1570037" cy="396621"/>
            <a:chOff x="0" y="0"/>
            <a:chExt cx="3140075" cy="79324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140075" cy="793242"/>
            </a:xfrm>
            <a:custGeom>
              <a:avLst/>
              <a:gdLst/>
              <a:ahLst/>
              <a:cxnLst/>
              <a:rect l="l" t="t" r="r" b="b"/>
              <a:pathLst>
                <a:path w="3140075" h="793242">
                  <a:moveTo>
                    <a:pt x="0" y="0"/>
                  </a:moveTo>
                  <a:lnTo>
                    <a:pt x="3140075" y="0"/>
                  </a:lnTo>
                  <a:lnTo>
                    <a:pt x="3140075" y="793242"/>
                  </a:lnTo>
                  <a:lnTo>
                    <a:pt x="0" y="793242"/>
                  </a:lnTo>
                  <a:close/>
                </a:path>
              </a:pathLst>
            </a:custGeom>
            <a:solidFill>
              <a:srgbClr val="C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6" name="TextBox 26"/>
          <p:cNvSpPr txBox="1"/>
          <p:nvPr/>
        </p:nvSpPr>
        <p:spPr>
          <a:xfrm>
            <a:off x="2347326" y="5860390"/>
            <a:ext cx="1524857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2000" b="1">
                <a:solidFill>
                  <a:srgbClr val="EBE5E5"/>
                </a:solidFill>
                <a:latin typeface="Britannic Bold"/>
                <a:ea typeface="Britannic Bold"/>
                <a:cs typeface="Britannic Bold"/>
                <a:sym typeface="Britannic Bold"/>
              </a:rPr>
              <a:t>EMPOWER.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999319" y="6268007"/>
            <a:ext cx="1325435" cy="396621"/>
            <a:chOff x="0" y="0"/>
            <a:chExt cx="2650871" cy="79324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650871" cy="793242"/>
            </a:xfrm>
            <a:custGeom>
              <a:avLst/>
              <a:gdLst/>
              <a:ahLst/>
              <a:cxnLst/>
              <a:rect l="l" t="t" r="r" b="b"/>
              <a:pathLst>
                <a:path w="2650871" h="793242">
                  <a:moveTo>
                    <a:pt x="0" y="0"/>
                  </a:moveTo>
                  <a:lnTo>
                    <a:pt x="2650871" y="0"/>
                  </a:lnTo>
                  <a:lnTo>
                    <a:pt x="2650871" y="793242"/>
                  </a:lnTo>
                  <a:lnTo>
                    <a:pt x="0" y="793242"/>
                  </a:lnTo>
                  <a:close/>
                </a:path>
              </a:pathLst>
            </a:custGeom>
            <a:solidFill>
              <a:srgbClr val="0047B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9" name="TextBox 29"/>
          <p:cNvSpPr txBox="1"/>
          <p:nvPr/>
        </p:nvSpPr>
        <p:spPr>
          <a:xfrm>
            <a:off x="1021896" y="6257248"/>
            <a:ext cx="1280272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7"/>
              </a:lnSpc>
            </a:pPr>
            <a:r>
              <a:rPr lang="en-US" sz="2219" b="1">
                <a:solidFill>
                  <a:srgbClr val="EBE5E5"/>
                </a:solidFill>
                <a:latin typeface="Britannic Bold"/>
                <a:ea typeface="Britannic Bold"/>
                <a:cs typeface="Britannic Bold"/>
                <a:sym typeface="Britannic Bold"/>
              </a:rPr>
              <a:t>ENGAGE: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2324746" y="6267238"/>
            <a:ext cx="1476185" cy="396621"/>
            <a:chOff x="0" y="0"/>
            <a:chExt cx="2952370" cy="793242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952369" cy="793242"/>
            </a:xfrm>
            <a:custGeom>
              <a:avLst/>
              <a:gdLst/>
              <a:ahLst/>
              <a:cxnLst/>
              <a:rect l="l" t="t" r="r" b="b"/>
              <a:pathLst>
                <a:path w="2952369" h="793242">
                  <a:moveTo>
                    <a:pt x="0" y="0"/>
                  </a:moveTo>
                  <a:lnTo>
                    <a:pt x="2952369" y="0"/>
                  </a:lnTo>
                  <a:lnTo>
                    <a:pt x="2952369" y="793242"/>
                  </a:lnTo>
                  <a:lnTo>
                    <a:pt x="0" y="793242"/>
                  </a:lnTo>
                  <a:close/>
                </a:path>
              </a:pathLst>
            </a:custGeom>
            <a:solidFill>
              <a:srgbClr val="19191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32" name="TextBox 32"/>
          <p:cNvSpPr txBox="1"/>
          <p:nvPr/>
        </p:nvSpPr>
        <p:spPr>
          <a:xfrm>
            <a:off x="2347324" y="6256479"/>
            <a:ext cx="1431003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2000" b="1">
                <a:solidFill>
                  <a:srgbClr val="EBE5E5"/>
                </a:solidFill>
                <a:latin typeface="Britannic Bold"/>
                <a:ea typeface="Britannic Bold"/>
                <a:cs typeface="Britannic Bold"/>
                <a:sym typeface="Britannic Bold"/>
              </a:rPr>
              <a:t>I WILL GO</a:t>
            </a:r>
          </a:p>
        </p:txBody>
      </p:sp>
      <p:sp>
        <p:nvSpPr>
          <p:cNvPr id="33" name="Freeform 33"/>
          <p:cNvSpPr/>
          <p:nvPr/>
        </p:nvSpPr>
        <p:spPr>
          <a:xfrm>
            <a:off x="265753" y="1546356"/>
            <a:ext cx="5683611" cy="1875173"/>
          </a:xfrm>
          <a:custGeom>
            <a:avLst/>
            <a:gdLst/>
            <a:ahLst/>
            <a:cxnLst/>
            <a:rect l="l" t="t" r="r" b="b"/>
            <a:pathLst>
              <a:path w="8525416" h="2812760">
                <a:moveTo>
                  <a:pt x="0" y="0"/>
                </a:moveTo>
                <a:lnTo>
                  <a:pt x="8525416" y="0"/>
                </a:lnTo>
                <a:lnTo>
                  <a:pt x="8525416" y="2812760"/>
                </a:lnTo>
                <a:lnTo>
                  <a:pt x="0" y="281276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300565" y="3538777"/>
            <a:ext cx="5683611" cy="2281940"/>
          </a:xfrm>
          <a:custGeom>
            <a:avLst/>
            <a:gdLst/>
            <a:ahLst/>
            <a:cxnLst/>
            <a:rect l="l" t="t" r="r" b="b"/>
            <a:pathLst>
              <a:path w="8525416" h="3422910">
                <a:moveTo>
                  <a:pt x="0" y="0"/>
                </a:moveTo>
                <a:lnTo>
                  <a:pt x="8525416" y="0"/>
                </a:lnTo>
                <a:lnTo>
                  <a:pt x="8525416" y="3422911"/>
                </a:lnTo>
                <a:lnTo>
                  <a:pt x="0" y="342291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=""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35" name="TextBox 35"/>
          <p:cNvSpPr txBox="1"/>
          <p:nvPr/>
        </p:nvSpPr>
        <p:spPr>
          <a:xfrm>
            <a:off x="6606116" y="6248524"/>
            <a:ext cx="5375784" cy="5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8"/>
              </a:lnSpc>
            </a:pPr>
            <a:r>
              <a:rPr lang="en-US" sz="3600" b="1">
                <a:solidFill>
                  <a:srgbClr val="EBE5E5"/>
                </a:solidFill>
                <a:latin typeface="Arimo Bold"/>
                <a:ea typeface="Arimo Bold"/>
                <a:cs typeface="Arimo Bold"/>
                <a:sym typeface="Arimo Bold"/>
              </a:rPr>
              <a:t>KALIMUHAGAN 2025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59937" y="5973116"/>
            <a:ext cx="1215772" cy="1333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69"/>
              </a:lnSpc>
            </a:pPr>
            <a:r>
              <a:rPr lang="en-US" sz="9600">
                <a:solidFill>
                  <a:srgbClr val="DFC991"/>
                </a:solidFill>
                <a:latin typeface="Arimo"/>
                <a:ea typeface="Arimo"/>
                <a:cs typeface="Arimo"/>
                <a:sym typeface="Arimo"/>
              </a:rPr>
              <a:t>“</a:t>
            </a:r>
          </a:p>
        </p:txBody>
      </p:sp>
      <p:sp>
        <p:nvSpPr>
          <p:cNvPr id="37" name="TextBox 37"/>
          <p:cNvSpPr txBox="1"/>
          <p:nvPr/>
        </p:nvSpPr>
        <p:spPr>
          <a:xfrm rot="-10800000">
            <a:off x="3293313" y="5806672"/>
            <a:ext cx="1215772" cy="1333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69"/>
              </a:lnSpc>
            </a:pPr>
            <a:r>
              <a:rPr lang="en-US" sz="9600">
                <a:solidFill>
                  <a:srgbClr val="DFC991"/>
                </a:solidFill>
                <a:latin typeface="Arimo"/>
                <a:ea typeface="Arimo"/>
                <a:cs typeface="Arimo"/>
                <a:sym typeface="Arimo"/>
              </a:rPr>
              <a:t>“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66591" y="1752915"/>
            <a:ext cx="5702579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201"/>
              </a:lnSpc>
            </a:pPr>
            <a:r>
              <a:rPr lang="en-US" sz="2667" b="1">
                <a:solidFill>
                  <a:srgbClr val="001B4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1. GRADE-LEVEL AGGREGATION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91172" y="2203764"/>
            <a:ext cx="5603077" cy="512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1667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Summed enrollment counts across all grade levels (K-12) and strands to create </a:t>
            </a:r>
            <a:r>
              <a:rPr lang="en-US" sz="1667" b="1">
                <a:solidFill>
                  <a:srgbClr val="001B4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Total_Regional_Enrollment </a:t>
            </a:r>
            <a:r>
              <a:rPr lang="en-US" sz="1667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target variable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91173" y="3003864"/>
            <a:ext cx="5502395" cy="197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99"/>
              </a:lnSpc>
            </a:pPr>
            <a:r>
              <a:rPr lang="en-US" sz="1333">
                <a:solidFill>
                  <a:srgbClr val="191919"/>
                </a:solidFill>
                <a:latin typeface="Consolas"/>
                <a:ea typeface="Consolas"/>
                <a:cs typeface="Consolas"/>
                <a:sym typeface="Consolas"/>
              </a:rPr>
              <a:t>Total_Enrollment = sum(Kindergarten,..., Grade_12_strands)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259375" y="1752915"/>
            <a:ext cx="5502395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201"/>
              </a:lnSpc>
            </a:pPr>
            <a:r>
              <a:rPr lang="en-US" sz="2667" b="1">
                <a:solidFill>
                  <a:srgbClr val="001B4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3. DATA CLEANING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283956" y="2251075"/>
            <a:ext cx="2522178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1667" b="1">
                <a:solidFill>
                  <a:srgbClr val="001B4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Missing Value Treatment: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91173" y="3656481"/>
            <a:ext cx="5502395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201"/>
              </a:lnSpc>
            </a:pPr>
            <a:r>
              <a:rPr lang="en-US" sz="2667" b="1">
                <a:solidFill>
                  <a:srgbClr val="001B4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2. CATEGORICAL ENCODING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15754" y="4107329"/>
            <a:ext cx="5603077" cy="547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60"/>
              </a:lnSpc>
            </a:pPr>
            <a:r>
              <a:rPr lang="en-US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Applied one-hot encoding to categorical variables to convert them into numerical format for machine learning algorithms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271256" y="3642586"/>
            <a:ext cx="5502395" cy="351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81"/>
              </a:lnSpc>
            </a:pPr>
            <a:r>
              <a:rPr lang="en-US" sz="2401" b="1">
                <a:solidFill>
                  <a:srgbClr val="001B4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4. TRAIN-TEST SPLIT (Walk-Forward)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40557" y="4758832"/>
            <a:ext cx="1376095" cy="476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60"/>
              </a:lnSpc>
            </a:pPr>
            <a:r>
              <a:rPr lang="en-US" b="1">
                <a:solidFill>
                  <a:srgbClr val="001B4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Region</a:t>
            </a:r>
          </a:p>
          <a:p>
            <a:pPr algn="just">
              <a:lnSpc>
                <a:spcPts val="1599"/>
              </a:lnSpc>
            </a:pPr>
            <a:r>
              <a:rPr lang="en-US" sz="1333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 binary columns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2219265" y="4758832"/>
            <a:ext cx="1809747" cy="476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60"/>
              </a:lnSpc>
            </a:pPr>
            <a:r>
              <a:rPr lang="en-US" b="1">
                <a:solidFill>
                  <a:srgbClr val="001B4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Academic_Year</a:t>
            </a:r>
          </a:p>
          <a:p>
            <a:pPr algn="just">
              <a:lnSpc>
                <a:spcPts val="1599"/>
              </a:lnSpc>
            </a:pPr>
            <a:r>
              <a:rPr lang="en-US" sz="1333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 binary columns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4228133" y="4758832"/>
            <a:ext cx="1809747" cy="476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60"/>
              </a:lnSpc>
            </a:pPr>
            <a:r>
              <a:rPr lang="en-US" b="1">
                <a:solidFill>
                  <a:srgbClr val="001B4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Sector</a:t>
            </a:r>
          </a:p>
          <a:p>
            <a:pPr algn="just">
              <a:lnSpc>
                <a:spcPts val="1599"/>
              </a:lnSpc>
            </a:pPr>
            <a:r>
              <a:rPr lang="en-US" sz="1333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binary columns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466094" y="5374162"/>
            <a:ext cx="5603077" cy="265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60"/>
              </a:lnSpc>
            </a:pPr>
            <a:r>
              <a:rPr lang="en-US" b="1">
                <a:solidFill>
                  <a:srgbClr val="001B4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Result:</a:t>
            </a:r>
            <a:r>
              <a:rPr lang="en-US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33 original columns → 57 features after encoding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9230508" y="2251075"/>
            <a:ext cx="1731901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1667" b="1">
                <a:solidFill>
                  <a:srgbClr val="001B4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Outlier Detection: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209034" y="2574926"/>
            <a:ext cx="2801538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42991" lvl="2" indent="-147663">
              <a:lnSpc>
                <a:spcPts val="1840"/>
              </a:lnSpc>
              <a:buFont typeface="Arial"/>
              <a:buChar char="⚬"/>
            </a:pPr>
            <a:r>
              <a:rPr lang="en-US" sz="1533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Numeric: Median imputation</a:t>
            </a:r>
          </a:p>
          <a:p>
            <a:pPr marL="442991" lvl="2" indent="-147663">
              <a:lnSpc>
                <a:spcPts val="1840"/>
              </a:lnSpc>
              <a:buFont typeface="Arial"/>
              <a:buChar char="⚬"/>
            </a:pPr>
            <a:r>
              <a:rPr lang="en-US" sz="1533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Target nulls: Row deletion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9110075" y="2574926"/>
            <a:ext cx="2801538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42991" lvl="2" indent="-147663">
              <a:lnSpc>
                <a:spcPts val="1840"/>
              </a:lnSpc>
              <a:buFont typeface="Arial"/>
              <a:buChar char="⚬"/>
            </a:pPr>
            <a:r>
              <a:rPr lang="en-US" sz="1533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IQR method for enrollment</a:t>
            </a:r>
          </a:p>
          <a:p>
            <a:pPr marL="442991" lvl="2" indent="-147663">
              <a:lnSpc>
                <a:spcPts val="1840"/>
              </a:lnSpc>
              <a:buFont typeface="Arial"/>
              <a:buChar char="⚬"/>
            </a:pPr>
            <a:r>
              <a:rPr lang="en-US" sz="1533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 review of anomalies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416270" y="5317506"/>
            <a:ext cx="5603077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40"/>
              </a:lnSpc>
            </a:pPr>
            <a:r>
              <a:rPr lang="en-US" sz="1533" b="1">
                <a:solidFill>
                  <a:srgbClr val="001B4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Rationale: </a:t>
            </a:r>
            <a:r>
              <a:rPr lang="en-US" sz="1533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Walk-forward validation prevents data leakage and simulates real-world forecasting (train on past → predict future)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6391294" y="4131535"/>
            <a:ext cx="2522178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1667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TRAINING SET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9192408" y="4131535"/>
            <a:ext cx="1731901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00"/>
              </a:lnSpc>
            </a:pPr>
            <a:r>
              <a:rPr lang="en-US" sz="1667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SET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6416270" y="4385536"/>
            <a:ext cx="1753037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00"/>
              </a:lnSpc>
            </a:pPr>
            <a:r>
              <a:rPr lang="en-US" sz="2000" b="1">
                <a:solidFill>
                  <a:srgbClr val="001B4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448 samples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9217415" y="4398228"/>
            <a:ext cx="1458067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00"/>
              </a:lnSpc>
            </a:pPr>
            <a:r>
              <a:rPr lang="en-US" sz="2000" b="1">
                <a:solidFill>
                  <a:srgbClr val="001B4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113 samples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416271" y="4817336"/>
            <a:ext cx="2258815" cy="193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99"/>
              </a:lnSpc>
            </a:pPr>
            <a:r>
              <a:rPr lang="en-US" sz="1333">
                <a:solidFill>
                  <a:srgbClr val="001B44">
                    <a:alpha val="89804"/>
                  </a:srgb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2010–2019 (80%)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9236858" y="4817328"/>
            <a:ext cx="2258815" cy="193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99"/>
              </a:lnSpc>
            </a:pPr>
            <a:r>
              <a:rPr lang="en-US" sz="1333">
                <a:solidFill>
                  <a:srgbClr val="001B44">
                    <a:alpha val="89804"/>
                  </a:srgb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2020–2021 (20%)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9281308" y="5045935"/>
            <a:ext cx="2258815" cy="153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00"/>
              </a:lnSpc>
            </a:pPr>
            <a:r>
              <a:rPr lang="en-US" sz="1000">
                <a:solidFill>
                  <a:srgbClr val="001B44">
                    <a:alpha val="89804"/>
                  </a:srgb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Pandemic years for robustness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416271" y="5045935"/>
            <a:ext cx="2258815" cy="153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00"/>
              </a:lnSpc>
            </a:pPr>
            <a:r>
              <a:rPr lang="en-US" sz="1000">
                <a:solidFill>
                  <a:srgbClr val="001B44">
                    <a:alpha val="89804"/>
                  </a:srgb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 years × 17 regions × 2 sectors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397220" y="3123079"/>
            <a:ext cx="5603077" cy="265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60"/>
              </a:lnSpc>
            </a:pPr>
            <a:r>
              <a:rPr lang="en-US" b="1">
                <a:solidFill>
                  <a:srgbClr val="001B4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Final Shape: </a:t>
            </a:r>
            <a:r>
              <a:rPr lang="en-US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(561, 57) features | (561,) target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8733976" y="207876"/>
            <a:ext cx="2965829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01"/>
              </a:lnSpc>
            </a:pPr>
            <a:r>
              <a:rPr lang="en-US" sz="4334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391173" y="933764"/>
            <a:ext cx="6205411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01"/>
              </a:lnSpc>
            </a:pPr>
            <a:r>
              <a:rPr lang="en-US" sz="4334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Preprocessing Pipeline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5250264" y="5928299"/>
            <a:ext cx="6903519" cy="2158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759"/>
              </a:lnSpc>
            </a:pPr>
            <a:r>
              <a:rPr lang="en-US" sz="1466" i="1" dirty="0">
                <a:solidFill>
                  <a:srgbClr val="002D70">
                    <a:alpha val="70588"/>
                  </a:srgbClr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Source: </a:t>
            </a:r>
            <a:r>
              <a:rPr lang="en-US" sz="1466" i="1" dirty="0" err="1">
                <a:solidFill>
                  <a:srgbClr val="002D70">
                    <a:alpha val="70588"/>
                  </a:srgbClr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Pedregosa</a:t>
            </a:r>
            <a:r>
              <a:rPr lang="en-US" sz="1466" i="1" dirty="0">
                <a:solidFill>
                  <a:srgbClr val="002D70">
                    <a:alpha val="70588"/>
                  </a:srgbClr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 et al. (2011) – </a:t>
            </a:r>
            <a:r>
              <a:rPr lang="en-US" sz="1466" i="1" dirty="0" err="1">
                <a:solidFill>
                  <a:srgbClr val="002D70">
                    <a:alpha val="70588"/>
                  </a:srgbClr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Scikit</a:t>
            </a:r>
            <a:r>
              <a:rPr lang="en-US" sz="1466" i="1" dirty="0">
                <a:solidFill>
                  <a:srgbClr val="002D70">
                    <a:alpha val="70588"/>
                  </a:srgbClr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-learn preprocessing and model utilities.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3819494" y="-4780589"/>
            <a:ext cx="1880171" cy="9519157"/>
            <a:chOff x="0" y="0"/>
            <a:chExt cx="3760343" cy="190383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60343" cy="19038315"/>
            </a:xfrm>
            <a:custGeom>
              <a:avLst/>
              <a:gdLst/>
              <a:ahLst/>
              <a:cxnLst/>
              <a:rect l="l" t="t" r="r" b="b"/>
              <a:pathLst>
                <a:path w="3760343" h="19038315">
                  <a:moveTo>
                    <a:pt x="0" y="0"/>
                  </a:moveTo>
                  <a:lnTo>
                    <a:pt x="3760343" y="0"/>
                  </a:lnTo>
                  <a:lnTo>
                    <a:pt x="3760343" y="15230602"/>
                  </a:lnTo>
                  <a:lnTo>
                    <a:pt x="1880235" y="19038315"/>
                  </a:lnTo>
                  <a:lnTo>
                    <a:pt x="0" y="15230602"/>
                  </a:lnTo>
                  <a:close/>
                </a:path>
              </a:pathLst>
            </a:custGeom>
            <a:solidFill>
              <a:srgbClr val="002D7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 rot="5400000">
            <a:off x="8701360" y="2136024"/>
            <a:ext cx="1635558" cy="9519159"/>
            <a:chOff x="0" y="0"/>
            <a:chExt cx="3271116" cy="1903831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271116" cy="19038317"/>
            </a:xfrm>
            <a:custGeom>
              <a:avLst/>
              <a:gdLst/>
              <a:ahLst/>
              <a:cxnLst/>
              <a:rect l="l" t="t" r="r" b="b"/>
              <a:pathLst>
                <a:path w="3271116" h="19038317">
                  <a:moveTo>
                    <a:pt x="3271005" y="0"/>
                  </a:moveTo>
                  <a:lnTo>
                    <a:pt x="0" y="0"/>
                  </a:lnTo>
                  <a:lnTo>
                    <a:pt x="0" y="15230602"/>
                  </a:lnTo>
                  <a:lnTo>
                    <a:pt x="1635558" y="19038317"/>
                  </a:lnTo>
                  <a:lnTo>
                    <a:pt x="3271116" y="15230602"/>
                  </a:lnTo>
                  <a:close/>
                </a:path>
              </a:pathLst>
            </a:custGeom>
            <a:solidFill>
              <a:srgbClr val="002D7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5250264" y="36715"/>
            <a:ext cx="887349" cy="784797"/>
            <a:chOff x="0" y="0"/>
            <a:chExt cx="1774698" cy="156959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74698" cy="1569593"/>
            </a:xfrm>
            <a:custGeom>
              <a:avLst/>
              <a:gdLst/>
              <a:ahLst/>
              <a:cxnLst/>
              <a:rect l="l" t="t" r="r" b="b"/>
              <a:pathLst>
                <a:path w="1774698" h="1569593">
                  <a:moveTo>
                    <a:pt x="0" y="0"/>
                  </a:moveTo>
                  <a:lnTo>
                    <a:pt x="1774698" y="0"/>
                  </a:lnTo>
                  <a:lnTo>
                    <a:pt x="1774698" y="1569593"/>
                  </a:lnTo>
                  <a:lnTo>
                    <a:pt x="0" y="15695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0" b="-10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6231928" y="-10604"/>
            <a:ext cx="955548" cy="931672"/>
            <a:chOff x="0" y="0"/>
            <a:chExt cx="1911096" cy="186334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11096" cy="1863344"/>
            </a:xfrm>
            <a:custGeom>
              <a:avLst/>
              <a:gdLst/>
              <a:ahLst/>
              <a:cxnLst/>
              <a:rect l="l" t="t" r="r" b="b"/>
              <a:pathLst>
                <a:path w="1911096" h="1863344">
                  <a:moveTo>
                    <a:pt x="0" y="0"/>
                  </a:moveTo>
                  <a:lnTo>
                    <a:pt x="1911096" y="0"/>
                  </a:lnTo>
                  <a:lnTo>
                    <a:pt x="1911096" y="1863344"/>
                  </a:lnTo>
                  <a:lnTo>
                    <a:pt x="0" y="1863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15" b="-115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98977" y="391284"/>
            <a:ext cx="1035539" cy="768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lang="en-US" sz="6875" b="1" spc="-17">
                <a:solidFill>
                  <a:srgbClr val="FFE766"/>
                </a:solidFill>
                <a:latin typeface="DG Ghareeb Bold"/>
                <a:ea typeface="DG Ghareeb Bold"/>
                <a:cs typeface="DG Ghareeb Bold"/>
                <a:sym typeface="DG Ghareeb Bold"/>
              </a:rPr>
              <a:t>3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25147" y="289351"/>
            <a:ext cx="769306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28"/>
              </a:lnSpc>
            </a:pPr>
            <a:r>
              <a:rPr lang="en-US" sz="1600" b="1">
                <a:solidFill>
                  <a:srgbClr val="EBE5E5"/>
                </a:solidFill>
                <a:latin typeface="Arimo Bold"/>
                <a:ea typeface="Arimo Bold"/>
                <a:cs typeface="Arimo Bold"/>
                <a:sym typeface="Arimo Bold"/>
              </a:rPr>
              <a:t>rd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2530375" y="98220"/>
            <a:ext cx="6480197" cy="718005"/>
            <a:chOff x="0" y="0"/>
            <a:chExt cx="12960394" cy="143601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960394" cy="1436011"/>
            </a:xfrm>
            <a:custGeom>
              <a:avLst/>
              <a:gdLst/>
              <a:ahLst/>
              <a:cxnLst/>
              <a:rect l="l" t="t" r="r" b="b"/>
              <a:pathLst>
                <a:path w="12960394" h="1436011">
                  <a:moveTo>
                    <a:pt x="0" y="0"/>
                  </a:moveTo>
                  <a:lnTo>
                    <a:pt x="12960394" y="0"/>
                  </a:lnTo>
                  <a:lnTo>
                    <a:pt x="12960394" y="1436011"/>
                  </a:lnTo>
                  <a:lnTo>
                    <a:pt x="0" y="143601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9525"/>
              <a:ext cx="12960394" cy="1426486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>
                <a:lnSpc>
                  <a:spcPts val="1944"/>
                </a:lnSpc>
              </a:pPr>
              <a:r>
                <a:rPr lang="en-US" b="1">
                  <a:solidFill>
                    <a:srgbClr val="EBE5E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MULTIDISCIPLINARY </a:t>
              </a:r>
            </a:p>
            <a:p>
              <a:pPr>
                <a:lnSpc>
                  <a:spcPts val="1944"/>
                </a:lnSpc>
              </a:pPr>
              <a:r>
                <a:rPr lang="en-US" b="1">
                  <a:solidFill>
                    <a:srgbClr val="EBE5E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RESEARCH CONGRESS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15604" y="-64882"/>
            <a:ext cx="1653171" cy="906587"/>
            <a:chOff x="0" y="0"/>
            <a:chExt cx="3306342" cy="181317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306342" cy="1813173"/>
            </a:xfrm>
            <a:custGeom>
              <a:avLst/>
              <a:gdLst/>
              <a:ahLst/>
              <a:cxnLst/>
              <a:rect l="l" t="t" r="r" b="b"/>
              <a:pathLst>
                <a:path w="3306342" h="1813173">
                  <a:moveTo>
                    <a:pt x="0" y="0"/>
                  </a:moveTo>
                  <a:lnTo>
                    <a:pt x="3306342" y="0"/>
                  </a:lnTo>
                  <a:lnTo>
                    <a:pt x="3306342" y="1813173"/>
                  </a:lnTo>
                  <a:lnTo>
                    <a:pt x="0" y="18131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47625"/>
              <a:ext cx="3306342" cy="1765548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>
                <a:lnSpc>
                  <a:spcPts val="4320"/>
                </a:lnSpc>
              </a:pPr>
              <a:r>
                <a:rPr lang="en-US" sz="4000" b="1">
                  <a:solidFill>
                    <a:srgbClr val="EBE5E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SPAC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97523" y="5871150"/>
            <a:ext cx="1527239" cy="396621"/>
            <a:chOff x="0" y="0"/>
            <a:chExt cx="3054477" cy="79324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054477" cy="793242"/>
            </a:xfrm>
            <a:custGeom>
              <a:avLst/>
              <a:gdLst/>
              <a:ahLst/>
              <a:cxnLst/>
              <a:rect l="l" t="t" r="r" b="b"/>
              <a:pathLst>
                <a:path w="3054477" h="793242">
                  <a:moveTo>
                    <a:pt x="0" y="0"/>
                  </a:moveTo>
                  <a:lnTo>
                    <a:pt x="3054477" y="0"/>
                  </a:lnTo>
                  <a:lnTo>
                    <a:pt x="3054477" y="793242"/>
                  </a:lnTo>
                  <a:lnTo>
                    <a:pt x="0" y="793242"/>
                  </a:lnTo>
                  <a:close/>
                </a:path>
              </a:pathLst>
            </a:custGeom>
            <a:solidFill>
              <a:srgbClr val="EBBD1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820101" y="5860390"/>
            <a:ext cx="1482067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</a:pPr>
            <a:r>
              <a:rPr lang="en-US" b="1">
                <a:solidFill>
                  <a:srgbClr val="EBE5E5"/>
                </a:solidFill>
                <a:latin typeface="Britannic Bold"/>
                <a:ea typeface="Britannic Bold"/>
                <a:cs typeface="Britannic Bold"/>
                <a:sym typeface="Britannic Bold"/>
              </a:rPr>
              <a:t>ENLIGHTEN.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2324747" y="5871150"/>
            <a:ext cx="1570037" cy="396621"/>
            <a:chOff x="0" y="0"/>
            <a:chExt cx="3140075" cy="79324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140075" cy="793242"/>
            </a:xfrm>
            <a:custGeom>
              <a:avLst/>
              <a:gdLst/>
              <a:ahLst/>
              <a:cxnLst/>
              <a:rect l="l" t="t" r="r" b="b"/>
              <a:pathLst>
                <a:path w="3140075" h="793242">
                  <a:moveTo>
                    <a:pt x="0" y="0"/>
                  </a:moveTo>
                  <a:lnTo>
                    <a:pt x="3140075" y="0"/>
                  </a:lnTo>
                  <a:lnTo>
                    <a:pt x="3140075" y="793242"/>
                  </a:lnTo>
                  <a:lnTo>
                    <a:pt x="0" y="793242"/>
                  </a:lnTo>
                  <a:close/>
                </a:path>
              </a:pathLst>
            </a:custGeom>
            <a:solidFill>
              <a:srgbClr val="C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3" name="TextBox 23"/>
          <p:cNvSpPr txBox="1"/>
          <p:nvPr/>
        </p:nvSpPr>
        <p:spPr>
          <a:xfrm>
            <a:off x="2347326" y="5860390"/>
            <a:ext cx="1524857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2000" b="1">
                <a:solidFill>
                  <a:srgbClr val="EBE5E5"/>
                </a:solidFill>
                <a:latin typeface="Britannic Bold"/>
                <a:ea typeface="Britannic Bold"/>
                <a:cs typeface="Britannic Bold"/>
                <a:sym typeface="Britannic Bold"/>
              </a:rPr>
              <a:t>EMPOWER.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999319" y="6268007"/>
            <a:ext cx="1325435" cy="396621"/>
            <a:chOff x="0" y="0"/>
            <a:chExt cx="2650871" cy="79324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650871" cy="793242"/>
            </a:xfrm>
            <a:custGeom>
              <a:avLst/>
              <a:gdLst/>
              <a:ahLst/>
              <a:cxnLst/>
              <a:rect l="l" t="t" r="r" b="b"/>
              <a:pathLst>
                <a:path w="2650871" h="793242">
                  <a:moveTo>
                    <a:pt x="0" y="0"/>
                  </a:moveTo>
                  <a:lnTo>
                    <a:pt x="2650871" y="0"/>
                  </a:lnTo>
                  <a:lnTo>
                    <a:pt x="2650871" y="793242"/>
                  </a:lnTo>
                  <a:lnTo>
                    <a:pt x="0" y="793242"/>
                  </a:lnTo>
                  <a:close/>
                </a:path>
              </a:pathLst>
            </a:custGeom>
            <a:solidFill>
              <a:srgbClr val="0047B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6" name="TextBox 26"/>
          <p:cNvSpPr txBox="1"/>
          <p:nvPr/>
        </p:nvSpPr>
        <p:spPr>
          <a:xfrm>
            <a:off x="1021896" y="6257248"/>
            <a:ext cx="1280272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7"/>
              </a:lnSpc>
            </a:pPr>
            <a:r>
              <a:rPr lang="en-US" sz="2219" b="1">
                <a:solidFill>
                  <a:srgbClr val="EBE5E5"/>
                </a:solidFill>
                <a:latin typeface="Britannic Bold"/>
                <a:ea typeface="Britannic Bold"/>
                <a:cs typeface="Britannic Bold"/>
                <a:sym typeface="Britannic Bold"/>
              </a:rPr>
              <a:t>ENGAGE: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2324746" y="6267238"/>
            <a:ext cx="1476185" cy="396621"/>
            <a:chOff x="0" y="0"/>
            <a:chExt cx="2952370" cy="79324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952369" cy="793242"/>
            </a:xfrm>
            <a:custGeom>
              <a:avLst/>
              <a:gdLst/>
              <a:ahLst/>
              <a:cxnLst/>
              <a:rect l="l" t="t" r="r" b="b"/>
              <a:pathLst>
                <a:path w="2952369" h="793242">
                  <a:moveTo>
                    <a:pt x="0" y="0"/>
                  </a:moveTo>
                  <a:lnTo>
                    <a:pt x="2952369" y="0"/>
                  </a:lnTo>
                  <a:lnTo>
                    <a:pt x="2952369" y="793242"/>
                  </a:lnTo>
                  <a:lnTo>
                    <a:pt x="0" y="793242"/>
                  </a:lnTo>
                  <a:close/>
                </a:path>
              </a:pathLst>
            </a:custGeom>
            <a:solidFill>
              <a:srgbClr val="19191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9" name="TextBox 29"/>
          <p:cNvSpPr txBox="1"/>
          <p:nvPr/>
        </p:nvSpPr>
        <p:spPr>
          <a:xfrm>
            <a:off x="2347324" y="6256479"/>
            <a:ext cx="1431003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2000" b="1">
                <a:solidFill>
                  <a:srgbClr val="EBE5E5"/>
                </a:solidFill>
                <a:latin typeface="Britannic Bold"/>
                <a:ea typeface="Britannic Bold"/>
                <a:cs typeface="Britannic Bold"/>
                <a:sym typeface="Britannic Bold"/>
              </a:rPr>
              <a:t>I WILL GO</a:t>
            </a:r>
          </a:p>
        </p:txBody>
      </p:sp>
      <p:sp>
        <p:nvSpPr>
          <p:cNvPr id="30" name="Freeform 30"/>
          <p:cNvSpPr/>
          <p:nvPr/>
        </p:nvSpPr>
        <p:spPr>
          <a:xfrm>
            <a:off x="210075" y="1341882"/>
            <a:ext cx="6068145" cy="1850421"/>
          </a:xfrm>
          <a:custGeom>
            <a:avLst/>
            <a:gdLst/>
            <a:ahLst/>
            <a:cxnLst/>
            <a:rect l="l" t="t" r="r" b="b"/>
            <a:pathLst>
              <a:path w="9102218" h="2775631">
                <a:moveTo>
                  <a:pt x="0" y="0"/>
                </a:moveTo>
                <a:lnTo>
                  <a:pt x="9102217" y="0"/>
                </a:lnTo>
                <a:lnTo>
                  <a:pt x="9102217" y="2775630"/>
                </a:lnTo>
                <a:lnTo>
                  <a:pt x="0" y="27756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3948749" y="4082940"/>
            <a:ext cx="2579423" cy="138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43259" lvl="2" indent="-147753">
              <a:lnSpc>
                <a:spcPts val="1841"/>
              </a:lnSpc>
              <a:buFont typeface="Arial"/>
              <a:buChar char="⚬"/>
            </a:pPr>
            <a:r>
              <a:rPr lang="en-US" sz="1534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Training Set: 2010-2019 (448 samples, 80%)</a:t>
            </a:r>
          </a:p>
          <a:p>
            <a:pPr marL="443259" lvl="2" indent="-147753">
              <a:lnSpc>
                <a:spcPts val="1841"/>
              </a:lnSpc>
              <a:buFont typeface="Arial"/>
              <a:buChar char="⚬"/>
            </a:pPr>
            <a:r>
              <a:rPr lang="en-US" sz="1534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Set: 2020-2021 (113 samples, 20%)</a:t>
            </a:r>
          </a:p>
          <a:p>
            <a:pPr marL="443259" lvl="2" indent="-147753">
              <a:lnSpc>
                <a:spcPts val="1841"/>
              </a:lnSpc>
              <a:buFont typeface="Arial"/>
              <a:buChar char="⚬"/>
            </a:pPr>
            <a:r>
              <a:rPr lang="en-US" sz="1534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Simulates real-world forecasting (past → future)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782172" y="4067794"/>
            <a:ext cx="2802837" cy="1615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43259" lvl="2" indent="-147753">
              <a:lnSpc>
                <a:spcPts val="1841"/>
              </a:lnSpc>
              <a:buFont typeface="Arial"/>
              <a:buChar char="⚬"/>
            </a:pPr>
            <a:r>
              <a:rPr lang="en-US" sz="1534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 rigorous test of model robustness</a:t>
            </a:r>
          </a:p>
          <a:p>
            <a:pPr marL="443259" lvl="2" indent="-147753">
              <a:lnSpc>
                <a:spcPts val="1841"/>
              </a:lnSpc>
              <a:buFont typeface="Arial"/>
              <a:buChar char="⚬"/>
            </a:pPr>
            <a:r>
              <a:rPr lang="en-US" sz="1534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Unprecedented disruption (lockdowns, distance learning)</a:t>
            </a:r>
          </a:p>
          <a:p>
            <a:pPr marL="443259" lvl="2" indent="-147753">
              <a:lnSpc>
                <a:spcPts val="1841"/>
              </a:lnSpc>
              <a:buFont typeface="Arial"/>
              <a:buChar char="⚬"/>
            </a:pPr>
            <a:r>
              <a:rPr lang="en-US" sz="1534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Proves reliability under extreme volatility</a:t>
            </a:r>
          </a:p>
        </p:txBody>
      </p:sp>
      <p:sp>
        <p:nvSpPr>
          <p:cNvPr id="33" name="Freeform 33"/>
          <p:cNvSpPr/>
          <p:nvPr/>
        </p:nvSpPr>
        <p:spPr>
          <a:xfrm rot="5400000">
            <a:off x="3215986" y="4752204"/>
            <a:ext cx="1554935" cy="89409"/>
          </a:xfrm>
          <a:custGeom>
            <a:avLst/>
            <a:gdLst/>
            <a:ahLst/>
            <a:cxnLst/>
            <a:rect l="l" t="t" r="r" b="b"/>
            <a:pathLst>
              <a:path w="2332402" h="134113">
                <a:moveTo>
                  <a:pt x="0" y="0"/>
                </a:moveTo>
                <a:lnTo>
                  <a:pt x="2332402" y="0"/>
                </a:lnTo>
                <a:lnTo>
                  <a:pt x="2332402" y="134113"/>
                </a:lnTo>
                <a:lnTo>
                  <a:pt x="0" y="13411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 t="-3022" b="-3022"/>
            </a:stretch>
          </a:blipFill>
        </p:spPr>
      </p:sp>
      <p:sp>
        <p:nvSpPr>
          <p:cNvPr id="34" name="Freeform 34"/>
          <p:cNvSpPr/>
          <p:nvPr/>
        </p:nvSpPr>
        <p:spPr>
          <a:xfrm rot="5400000">
            <a:off x="6004706" y="4773321"/>
            <a:ext cx="1554935" cy="89409"/>
          </a:xfrm>
          <a:custGeom>
            <a:avLst/>
            <a:gdLst/>
            <a:ahLst/>
            <a:cxnLst/>
            <a:rect l="l" t="t" r="r" b="b"/>
            <a:pathLst>
              <a:path w="2332403" h="134113">
                <a:moveTo>
                  <a:pt x="0" y="0"/>
                </a:moveTo>
                <a:lnTo>
                  <a:pt x="2332402" y="0"/>
                </a:lnTo>
                <a:lnTo>
                  <a:pt x="2332402" y="134114"/>
                </a:lnTo>
                <a:lnTo>
                  <a:pt x="0" y="13411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 t="-3022" b="-3022"/>
            </a:stretch>
          </a:blipFill>
        </p:spPr>
      </p:sp>
      <p:sp>
        <p:nvSpPr>
          <p:cNvPr id="35" name="TextBox 35"/>
          <p:cNvSpPr txBox="1"/>
          <p:nvPr/>
        </p:nvSpPr>
        <p:spPr>
          <a:xfrm>
            <a:off x="6606116" y="6248524"/>
            <a:ext cx="5375784" cy="5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8"/>
              </a:lnSpc>
            </a:pPr>
            <a:r>
              <a:rPr lang="en-US" sz="3600" b="1">
                <a:solidFill>
                  <a:srgbClr val="EBE5E5"/>
                </a:solidFill>
                <a:latin typeface="Arimo Bold"/>
                <a:ea typeface="Arimo Bold"/>
                <a:cs typeface="Arimo Bold"/>
                <a:sym typeface="Arimo Bold"/>
              </a:rPr>
              <a:t>KALIMUHAGAN 2025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59937" y="5973116"/>
            <a:ext cx="1215772" cy="1333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69"/>
              </a:lnSpc>
            </a:pPr>
            <a:r>
              <a:rPr lang="en-US" sz="9600">
                <a:solidFill>
                  <a:srgbClr val="DFC991"/>
                </a:solidFill>
                <a:latin typeface="Arimo"/>
                <a:ea typeface="Arimo"/>
                <a:cs typeface="Arimo"/>
                <a:sym typeface="Arimo"/>
              </a:rPr>
              <a:t>“</a:t>
            </a:r>
          </a:p>
        </p:txBody>
      </p:sp>
      <p:sp>
        <p:nvSpPr>
          <p:cNvPr id="37" name="TextBox 37"/>
          <p:cNvSpPr txBox="1"/>
          <p:nvPr/>
        </p:nvSpPr>
        <p:spPr>
          <a:xfrm rot="-10800000">
            <a:off x="3293313" y="5806672"/>
            <a:ext cx="1215772" cy="1333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69"/>
              </a:lnSpc>
            </a:pPr>
            <a:r>
              <a:rPr lang="en-US" sz="9600">
                <a:solidFill>
                  <a:srgbClr val="DFC991"/>
                </a:solidFill>
                <a:latin typeface="Arimo"/>
                <a:ea typeface="Arimo"/>
                <a:cs typeface="Arimo"/>
                <a:sym typeface="Arimo"/>
              </a:rPr>
              <a:t>“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733976" y="207876"/>
            <a:ext cx="2965829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01"/>
              </a:lnSpc>
            </a:pPr>
            <a:r>
              <a:rPr lang="en-US" sz="4334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91172" y="933764"/>
            <a:ext cx="4539529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00"/>
              </a:lnSpc>
            </a:pPr>
            <a:r>
              <a:rPr lang="en-US" sz="3000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Models &amp; Evaluation Metrics</a:t>
            </a:r>
          </a:p>
        </p:txBody>
      </p:sp>
      <p:sp>
        <p:nvSpPr>
          <p:cNvPr id="40" name="Freeform 40"/>
          <p:cNvSpPr/>
          <p:nvPr/>
        </p:nvSpPr>
        <p:spPr>
          <a:xfrm>
            <a:off x="7322796" y="1341882"/>
            <a:ext cx="4764809" cy="1850421"/>
          </a:xfrm>
          <a:custGeom>
            <a:avLst/>
            <a:gdLst/>
            <a:ahLst/>
            <a:cxnLst/>
            <a:rect l="l" t="t" r="r" b="b"/>
            <a:pathLst>
              <a:path w="7147214" h="2775631">
                <a:moveTo>
                  <a:pt x="0" y="0"/>
                </a:moveTo>
                <a:lnTo>
                  <a:pt x="7147214" y="0"/>
                </a:lnTo>
                <a:lnTo>
                  <a:pt x="7147214" y="2775630"/>
                </a:lnTo>
                <a:lnTo>
                  <a:pt x="0" y="277563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41" name="Freeform 41"/>
          <p:cNvSpPr/>
          <p:nvPr/>
        </p:nvSpPr>
        <p:spPr>
          <a:xfrm>
            <a:off x="9570467" y="1341881"/>
            <a:ext cx="2517137" cy="4278787"/>
          </a:xfrm>
          <a:custGeom>
            <a:avLst/>
            <a:gdLst/>
            <a:ahLst/>
            <a:cxnLst/>
            <a:rect l="l" t="t" r="r" b="b"/>
            <a:pathLst>
              <a:path w="3775706" h="6418180">
                <a:moveTo>
                  <a:pt x="0" y="0"/>
                </a:moveTo>
                <a:lnTo>
                  <a:pt x="3775705" y="0"/>
                </a:lnTo>
                <a:lnTo>
                  <a:pt x="3775705" y="6418179"/>
                </a:lnTo>
                <a:lnTo>
                  <a:pt x="0" y="641817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42" name="Freeform 42"/>
          <p:cNvSpPr/>
          <p:nvPr/>
        </p:nvSpPr>
        <p:spPr>
          <a:xfrm>
            <a:off x="9519138" y="1365824"/>
            <a:ext cx="2312074" cy="1776222"/>
          </a:xfrm>
          <a:custGeom>
            <a:avLst/>
            <a:gdLst/>
            <a:ahLst/>
            <a:cxnLst/>
            <a:rect l="l" t="t" r="r" b="b"/>
            <a:pathLst>
              <a:path w="3468111" h="2664333">
                <a:moveTo>
                  <a:pt x="0" y="0"/>
                </a:moveTo>
                <a:lnTo>
                  <a:pt x="3468111" y="0"/>
                </a:lnTo>
                <a:lnTo>
                  <a:pt x="3468111" y="2664333"/>
                </a:lnTo>
                <a:lnTo>
                  <a:pt x="0" y="266433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=""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7657263" y="1618046"/>
            <a:ext cx="1189672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01"/>
              </a:lnSpc>
            </a:pPr>
            <a:r>
              <a:rPr lang="en-US" sz="2334" b="1">
                <a:solidFill>
                  <a:srgbClr val="001B4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R² Score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657263" y="2056196"/>
            <a:ext cx="2220973" cy="193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01"/>
              </a:lnSpc>
            </a:pPr>
            <a:r>
              <a:rPr lang="en-US" sz="1333" b="1">
                <a:solidFill>
                  <a:srgbClr val="001B4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Coefficient of Determination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663614" y="2221296"/>
            <a:ext cx="2214623" cy="809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01"/>
              </a:lnSpc>
            </a:pPr>
            <a:r>
              <a:rPr lang="en-US" sz="1333" b="1">
                <a:solidFill>
                  <a:srgbClr val="001B4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Range: </a:t>
            </a:r>
            <a:r>
              <a:rPr lang="en-US" sz="1333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 to 1</a:t>
            </a:r>
          </a:p>
          <a:p>
            <a:pPr marL="385472" lvl="2" indent="-128490">
              <a:lnSpc>
                <a:spcPts val="1601"/>
              </a:lnSpc>
              <a:buFont typeface="Arial"/>
              <a:buChar char="⚬"/>
            </a:pPr>
            <a:r>
              <a:rPr lang="en-US" sz="1333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Higher = better fit </a:t>
            </a:r>
          </a:p>
          <a:p>
            <a:pPr marL="385472" lvl="2" indent="-128490">
              <a:lnSpc>
                <a:spcPts val="1601"/>
              </a:lnSpc>
              <a:buFont typeface="Arial"/>
              <a:buChar char="⚬"/>
            </a:pPr>
            <a:r>
              <a:rPr lang="en-US" sz="1333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% of variance explained by model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971027" y="1637096"/>
            <a:ext cx="1189672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01"/>
              </a:lnSpc>
            </a:pPr>
            <a:r>
              <a:rPr lang="en-US" sz="2334" b="1">
                <a:solidFill>
                  <a:srgbClr val="001B4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MAE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971028" y="2037146"/>
            <a:ext cx="2220973" cy="193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01"/>
              </a:lnSpc>
            </a:pPr>
            <a:r>
              <a:rPr lang="en-US" sz="1333" b="1">
                <a:solidFill>
                  <a:srgbClr val="001B4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Mean Absolute Error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977377" y="2284796"/>
            <a:ext cx="2063935" cy="809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01"/>
              </a:lnSpc>
            </a:pPr>
            <a:r>
              <a:rPr lang="en-US" sz="1333" b="1">
                <a:solidFill>
                  <a:srgbClr val="001B4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Units: </a:t>
            </a:r>
          </a:p>
          <a:p>
            <a:pPr marL="385472" lvl="2" indent="-128490">
              <a:lnSpc>
                <a:spcPts val="1601"/>
              </a:lnSpc>
              <a:buFont typeface="Arial"/>
              <a:buChar char="⚬"/>
            </a:pPr>
            <a:r>
              <a:rPr lang="en-US" sz="1333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Students Lower = better</a:t>
            </a:r>
          </a:p>
          <a:p>
            <a:pPr marL="385472" lvl="2" indent="-128490">
              <a:lnSpc>
                <a:spcPts val="1601"/>
              </a:lnSpc>
              <a:buFont typeface="Arial"/>
              <a:buChar char="⚬"/>
            </a:pPr>
            <a:r>
              <a:rPr lang="en-US" sz="1333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Average prediction error magnitude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9773627" y="3235216"/>
            <a:ext cx="1189672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01"/>
              </a:lnSpc>
            </a:pPr>
            <a:r>
              <a:rPr lang="en-US" sz="2334" b="1">
                <a:solidFill>
                  <a:srgbClr val="001B4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RMSE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9767278" y="3635266"/>
            <a:ext cx="2220973" cy="193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01"/>
              </a:lnSpc>
            </a:pPr>
            <a:r>
              <a:rPr lang="en-US" sz="1333" b="1">
                <a:solidFill>
                  <a:srgbClr val="001B4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Root Mean Squared Error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9767277" y="3838466"/>
            <a:ext cx="2214623" cy="809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01"/>
              </a:lnSpc>
            </a:pPr>
            <a:r>
              <a:rPr lang="en-US" sz="1333" b="1">
                <a:solidFill>
                  <a:srgbClr val="001B4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Units: </a:t>
            </a:r>
          </a:p>
          <a:p>
            <a:pPr marL="385472" lvl="2" indent="-128490">
              <a:lnSpc>
                <a:spcPts val="1601"/>
              </a:lnSpc>
              <a:buFont typeface="Arial"/>
              <a:buChar char="⚬"/>
            </a:pPr>
            <a:r>
              <a:rPr lang="en-US" sz="1333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Students Lower = better</a:t>
            </a:r>
          </a:p>
          <a:p>
            <a:pPr marL="385472" lvl="2" indent="-128490">
              <a:lnSpc>
                <a:spcPts val="1601"/>
              </a:lnSpc>
              <a:buFont typeface="Arial"/>
              <a:buChar char="⚬"/>
            </a:pPr>
            <a:r>
              <a:rPr lang="en-US" sz="1333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Penalizes large errors more than MAE</a:t>
            </a:r>
          </a:p>
        </p:txBody>
      </p:sp>
      <p:sp>
        <p:nvSpPr>
          <p:cNvPr id="52" name="Freeform 52"/>
          <p:cNvSpPr/>
          <p:nvPr/>
        </p:nvSpPr>
        <p:spPr>
          <a:xfrm>
            <a:off x="210075" y="1341881"/>
            <a:ext cx="3637122" cy="4278787"/>
          </a:xfrm>
          <a:custGeom>
            <a:avLst/>
            <a:gdLst/>
            <a:ahLst/>
            <a:cxnLst/>
            <a:rect l="l" t="t" r="r" b="b"/>
            <a:pathLst>
              <a:path w="5455683" h="6418180">
                <a:moveTo>
                  <a:pt x="0" y="0"/>
                </a:moveTo>
                <a:lnTo>
                  <a:pt x="5455683" y="0"/>
                </a:lnTo>
                <a:lnTo>
                  <a:pt x="5455683" y="6418179"/>
                </a:lnTo>
                <a:lnTo>
                  <a:pt x="0" y="641817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=""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53" name="Freeform 53"/>
          <p:cNvSpPr/>
          <p:nvPr/>
        </p:nvSpPr>
        <p:spPr>
          <a:xfrm>
            <a:off x="357966" y="1367342"/>
            <a:ext cx="3544539" cy="1778669"/>
          </a:xfrm>
          <a:custGeom>
            <a:avLst/>
            <a:gdLst/>
            <a:ahLst/>
            <a:cxnLst/>
            <a:rect l="l" t="t" r="r" b="b"/>
            <a:pathLst>
              <a:path w="5316808" h="2668003">
                <a:moveTo>
                  <a:pt x="0" y="0"/>
                </a:moveTo>
                <a:lnTo>
                  <a:pt x="5316809" y="0"/>
                </a:lnTo>
                <a:lnTo>
                  <a:pt x="5316809" y="2668003"/>
                </a:lnTo>
                <a:lnTo>
                  <a:pt x="0" y="2668003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=""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54" name="TextBox 54"/>
          <p:cNvSpPr txBox="1"/>
          <p:nvPr/>
        </p:nvSpPr>
        <p:spPr>
          <a:xfrm>
            <a:off x="366591" y="1732276"/>
            <a:ext cx="2743163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01"/>
              </a:lnSpc>
            </a:pPr>
            <a:r>
              <a:rPr lang="en-US" sz="2334" b="1">
                <a:solidFill>
                  <a:srgbClr val="001B4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Linear Regression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366591" y="2098989"/>
            <a:ext cx="3036595" cy="193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01"/>
              </a:lnSpc>
            </a:pPr>
            <a:r>
              <a:rPr lang="en-US" sz="1333" b="1">
                <a:solidFill>
                  <a:srgbClr val="001B4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Purpose: </a:t>
            </a:r>
            <a:r>
              <a:rPr lang="en-US" sz="1333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Baseline model for linear trends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372942" y="2333939"/>
            <a:ext cx="2829074" cy="809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01"/>
              </a:lnSpc>
            </a:pPr>
            <a:r>
              <a:rPr lang="en-US" sz="1333" b="1">
                <a:solidFill>
                  <a:srgbClr val="001B4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Rationale:</a:t>
            </a:r>
          </a:p>
          <a:p>
            <a:pPr>
              <a:lnSpc>
                <a:spcPts val="1601"/>
              </a:lnSpc>
            </a:pPr>
            <a:r>
              <a:rPr lang="en-US" sz="1333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Establishes performance floor; simple interpretability for policy makers</a:t>
            </a:r>
          </a:p>
          <a:p>
            <a:pPr>
              <a:lnSpc>
                <a:spcPts val="1601"/>
              </a:lnSpc>
            </a:pPr>
            <a:endParaRPr lang="en-US" sz="1333">
              <a:solidFill>
                <a:srgbClr val="001B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TextBox 57"/>
          <p:cNvSpPr txBox="1"/>
          <p:nvPr/>
        </p:nvSpPr>
        <p:spPr>
          <a:xfrm>
            <a:off x="3554034" y="1772823"/>
            <a:ext cx="2743163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01"/>
              </a:lnSpc>
            </a:pPr>
            <a:r>
              <a:rPr lang="en-US" sz="2334" b="1">
                <a:solidFill>
                  <a:srgbClr val="001B4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Decision Tree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3554034" y="2177636"/>
            <a:ext cx="2743163" cy="193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01"/>
              </a:lnSpc>
            </a:pPr>
            <a:r>
              <a:rPr lang="en-US" sz="1333" b="1">
                <a:solidFill>
                  <a:srgbClr val="001B4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Purpose: </a:t>
            </a:r>
            <a:r>
              <a:rPr lang="en-US" sz="1333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Capture non-linear patterns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3560384" y="2495135"/>
            <a:ext cx="2804492" cy="399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01"/>
              </a:lnSpc>
            </a:pPr>
            <a:r>
              <a:rPr lang="en-US" sz="1333" b="1">
                <a:solidFill>
                  <a:srgbClr val="001B4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Hyperparameters:</a:t>
            </a:r>
          </a:p>
          <a:p>
            <a:pPr>
              <a:lnSpc>
                <a:spcPts val="1601"/>
              </a:lnSpc>
            </a:pPr>
            <a:r>
              <a:rPr lang="en-US" sz="1333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max_depth=10, min_samples_split=5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379291" y="3061872"/>
            <a:ext cx="2743163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01"/>
              </a:lnSpc>
            </a:pPr>
            <a:r>
              <a:rPr lang="en-US" sz="2334" b="1">
                <a:solidFill>
                  <a:srgbClr val="001B4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Random Forest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379291" y="3460335"/>
            <a:ext cx="3162802" cy="193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01"/>
              </a:lnSpc>
            </a:pPr>
            <a:r>
              <a:rPr lang="en-US" sz="1333" b="1">
                <a:solidFill>
                  <a:srgbClr val="001B4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Purpose: </a:t>
            </a:r>
            <a:r>
              <a:rPr lang="en-US" sz="1333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Ensemble method for robustness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385642" y="3707985"/>
            <a:ext cx="2678674" cy="399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01"/>
              </a:lnSpc>
            </a:pPr>
            <a:r>
              <a:rPr lang="en-US" sz="1333" b="1">
                <a:solidFill>
                  <a:srgbClr val="001B4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Hyperparameters:</a:t>
            </a:r>
          </a:p>
          <a:p>
            <a:pPr>
              <a:lnSpc>
                <a:spcPts val="1601"/>
              </a:lnSpc>
            </a:pPr>
            <a:r>
              <a:rPr lang="en-US" sz="1333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n_estimators=100, max_depth=10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384823" y="4261367"/>
            <a:ext cx="3412128" cy="3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41"/>
              </a:lnSpc>
            </a:pPr>
            <a:r>
              <a:rPr lang="en-US" sz="2201" b="1">
                <a:solidFill>
                  <a:srgbClr val="001B4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Support Vector Regression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397523" y="4636018"/>
            <a:ext cx="3032799" cy="193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01"/>
              </a:lnSpc>
            </a:pPr>
            <a:r>
              <a:rPr lang="en-US" sz="1333" b="1">
                <a:solidFill>
                  <a:srgbClr val="001B4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Purpose: </a:t>
            </a:r>
            <a:r>
              <a:rPr lang="en-US" sz="1333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Handle high-dimensional space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403873" y="4953517"/>
            <a:ext cx="2804492" cy="399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01"/>
              </a:lnSpc>
            </a:pPr>
            <a:r>
              <a:rPr lang="en-US" sz="1333" b="1">
                <a:solidFill>
                  <a:srgbClr val="001B4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Hyperparameters:</a:t>
            </a:r>
          </a:p>
          <a:p>
            <a:pPr>
              <a:lnSpc>
                <a:spcPts val="1601"/>
              </a:lnSpc>
            </a:pPr>
            <a:r>
              <a:rPr lang="en-US" sz="1333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kernel=rbf, C=1000, epsilon=0.1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623673" y="1489389"/>
            <a:ext cx="3504632" cy="193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99"/>
              </a:lnSpc>
            </a:pPr>
            <a:r>
              <a:rPr lang="en-US" sz="1333" b="1">
                <a:solidFill>
                  <a:srgbClr val="001B4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MACHINE LEARNING ALGORITHMS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4693075" y="3338956"/>
            <a:ext cx="3559024" cy="193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99"/>
              </a:lnSpc>
            </a:pPr>
            <a:r>
              <a:rPr lang="en-US" sz="1333" b="1">
                <a:solidFill>
                  <a:srgbClr val="001B4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VALIDATION STRATEGY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7826788" y="1452946"/>
            <a:ext cx="3559024" cy="193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99"/>
              </a:lnSpc>
            </a:pPr>
            <a:r>
              <a:rPr lang="en-US" sz="1333" b="1">
                <a:solidFill>
                  <a:srgbClr val="001B4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EVALUATION METRICS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3936049" y="3695590"/>
            <a:ext cx="2579423" cy="254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80"/>
              </a:lnSpc>
            </a:pPr>
            <a:r>
              <a:rPr lang="en-US" sz="1733" b="1">
                <a:solidFill>
                  <a:srgbClr val="001B4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Walk-Forward Validation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6713663" y="3695590"/>
            <a:ext cx="2939855" cy="254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80"/>
              </a:lnSpc>
            </a:pPr>
            <a:r>
              <a:rPr lang="en-US" sz="1733" b="1">
                <a:solidFill>
                  <a:srgbClr val="001B4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Why Pandemic Years?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4038159" y="5798468"/>
            <a:ext cx="7901922" cy="2158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759"/>
              </a:lnSpc>
            </a:pPr>
            <a:r>
              <a:rPr lang="en-US" sz="1466" i="1" dirty="0" err="1">
                <a:solidFill>
                  <a:srgbClr val="002D70">
                    <a:alpha val="70588"/>
                  </a:srgbClr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Sources:Balabied</a:t>
            </a:r>
            <a:r>
              <a:rPr lang="en-US" sz="1466" i="1" dirty="0">
                <a:solidFill>
                  <a:srgbClr val="002D70">
                    <a:alpha val="70588"/>
                  </a:srgbClr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 et al. (2023), Shao et al. (2022), Hastie et al. (2009), </a:t>
            </a:r>
            <a:r>
              <a:rPr lang="en-US" sz="1466" i="1" dirty="0" err="1">
                <a:solidFill>
                  <a:srgbClr val="002D70">
                    <a:alpha val="70588"/>
                  </a:srgbClr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Pedregosa</a:t>
            </a:r>
            <a:r>
              <a:rPr lang="en-US" sz="1466" i="1" dirty="0">
                <a:solidFill>
                  <a:srgbClr val="002D70">
                    <a:alpha val="70588"/>
                  </a:srgbClr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 et al. (2011)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3819494" y="-4780589"/>
            <a:ext cx="1880171" cy="9519157"/>
            <a:chOff x="0" y="0"/>
            <a:chExt cx="3760343" cy="190383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60343" cy="19038315"/>
            </a:xfrm>
            <a:custGeom>
              <a:avLst/>
              <a:gdLst/>
              <a:ahLst/>
              <a:cxnLst/>
              <a:rect l="l" t="t" r="r" b="b"/>
              <a:pathLst>
                <a:path w="3760343" h="19038315">
                  <a:moveTo>
                    <a:pt x="0" y="0"/>
                  </a:moveTo>
                  <a:lnTo>
                    <a:pt x="3760343" y="0"/>
                  </a:lnTo>
                  <a:lnTo>
                    <a:pt x="3760343" y="15230602"/>
                  </a:lnTo>
                  <a:lnTo>
                    <a:pt x="1880235" y="19038315"/>
                  </a:lnTo>
                  <a:lnTo>
                    <a:pt x="0" y="15230602"/>
                  </a:lnTo>
                  <a:close/>
                </a:path>
              </a:pathLst>
            </a:custGeom>
            <a:solidFill>
              <a:srgbClr val="002D7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 rot="5400000">
            <a:off x="8579010" y="2124467"/>
            <a:ext cx="1880235" cy="9519159"/>
            <a:chOff x="0" y="0"/>
            <a:chExt cx="3760470" cy="1903831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760470" cy="19038317"/>
            </a:xfrm>
            <a:custGeom>
              <a:avLst/>
              <a:gdLst/>
              <a:ahLst/>
              <a:cxnLst/>
              <a:rect l="l" t="t" r="r" b="b"/>
              <a:pathLst>
                <a:path w="3760470" h="19038317">
                  <a:moveTo>
                    <a:pt x="3760343" y="0"/>
                  </a:moveTo>
                  <a:lnTo>
                    <a:pt x="0" y="0"/>
                  </a:lnTo>
                  <a:lnTo>
                    <a:pt x="0" y="15230602"/>
                  </a:lnTo>
                  <a:lnTo>
                    <a:pt x="1880235" y="19038317"/>
                  </a:lnTo>
                  <a:lnTo>
                    <a:pt x="3760470" y="15230602"/>
                  </a:lnTo>
                  <a:close/>
                </a:path>
              </a:pathLst>
            </a:custGeom>
            <a:solidFill>
              <a:srgbClr val="002D7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5250264" y="36715"/>
            <a:ext cx="887349" cy="784797"/>
            <a:chOff x="0" y="0"/>
            <a:chExt cx="1774698" cy="156959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74698" cy="1569593"/>
            </a:xfrm>
            <a:custGeom>
              <a:avLst/>
              <a:gdLst/>
              <a:ahLst/>
              <a:cxnLst/>
              <a:rect l="l" t="t" r="r" b="b"/>
              <a:pathLst>
                <a:path w="1774698" h="1569593">
                  <a:moveTo>
                    <a:pt x="0" y="0"/>
                  </a:moveTo>
                  <a:lnTo>
                    <a:pt x="1774698" y="0"/>
                  </a:lnTo>
                  <a:lnTo>
                    <a:pt x="1774698" y="1569593"/>
                  </a:lnTo>
                  <a:lnTo>
                    <a:pt x="0" y="15695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0" b="-10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6231928" y="-10604"/>
            <a:ext cx="955548" cy="931672"/>
            <a:chOff x="0" y="0"/>
            <a:chExt cx="1911096" cy="186334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11096" cy="1863344"/>
            </a:xfrm>
            <a:custGeom>
              <a:avLst/>
              <a:gdLst/>
              <a:ahLst/>
              <a:cxnLst/>
              <a:rect l="l" t="t" r="r" b="b"/>
              <a:pathLst>
                <a:path w="1911096" h="1863344">
                  <a:moveTo>
                    <a:pt x="0" y="0"/>
                  </a:moveTo>
                  <a:lnTo>
                    <a:pt x="1911096" y="0"/>
                  </a:lnTo>
                  <a:lnTo>
                    <a:pt x="1911096" y="1863344"/>
                  </a:lnTo>
                  <a:lnTo>
                    <a:pt x="0" y="1863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15" b="-115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98977" y="391284"/>
            <a:ext cx="1035539" cy="768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lang="en-US" sz="6875" b="1" spc="-17">
                <a:solidFill>
                  <a:srgbClr val="FFE766"/>
                </a:solidFill>
                <a:latin typeface="DG Ghareeb Bold"/>
                <a:ea typeface="DG Ghareeb Bold"/>
                <a:cs typeface="DG Ghareeb Bold"/>
                <a:sym typeface="DG Ghareeb Bold"/>
              </a:rPr>
              <a:t>3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25147" y="289351"/>
            <a:ext cx="769306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28"/>
              </a:lnSpc>
            </a:pPr>
            <a:r>
              <a:rPr lang="en-US" sz="1600" b="1">
                <a:solidFill>
                  <a:srgbClr val="EBE5E5"/>
                </a:solidFill>
                <a:latin typeface="Arimo Bold"/>
                <a:ea typeface="Arimo Bold"/>
                <a:cs typeface="Arimo Bold"/>
                <a:sym typeface="Arimo Bold"/>
              </a:rPr>
              <a:t>rd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2530375" y="98220"/>
            <a:ext cx="6480197" cy="718005"/>
            <a:chOff x="0" y="0"/>
            <a:chExt cx="12960394" cy="143601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960394" cy="1436011"/>
            </a:xfrm>
            <a:custGeom>
              <a:avLst/>
              <a:gdLst/>
              <a:ahLst/>
              <a:cxnLst/>
              <a:rect l="l" t="t" r="r" b="b"/>
              <a:pathLst>
                <a:path w="12960394" h="1436011">
                  <a:moveTo>
                    <a:pt x="0" y="0"/>
                  </a:moveTo>
                  <a:lnTo>
                    <a:pt x="12960394" y="0"/>
                  </a:lnTo>
                  <a:lnTo>
                    <a:pt x="12960394" y="1436011"/>
                  </a:lnTo>
                  <a:lnTo>
                    <a:pt x="0" y="143601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9525"/>
              <a:ext cx="12960394" cy="1426486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>
                <a:lnSpc>
                  <a:spcPts val="1944"/>
                </a:lnSpc>
              </a:pPr>
              <a:r>
                <a:rPr lang="en-US" b="1">
                  <a:solidFill>
                    <a:srgbClr val="EBE5E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MULTIDISCIPLINARY </a:t>
              </a:r>
            </a:p>
            <a:p>
              <a:pPr>
                <a:lnSpc>
                  <a:spcPts val="1944"/>
                </a:lnSpc>
              </a:pPr>
              <a:r>
                <a:rPr lang="en-US" b="1">
                  <a:solidFill>
                    <a:srgbClr val="EBE5E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RESEARCH CONGRESS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15604" y="-64882"/>
            <a:ext cx="1653171" cy="906587"/>
            <a:chOff x="0" y="0"/>
            <a:chExt cx="3306342" cy="181317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306342" cy="1813173"/>
            </a:xfrm>
            <a:custGeom>
              <a:avLst/>
              <a:gdLst/>
              <a:ahLst/>
              <a:cxnLst/>
              <a:rect l="l" t="t" r="r" b="b"/>
              <a:pathLst>
                <a:path w="3306342" h="1813173">
                  <a:moveTo>
                    <a:pt x="0" y="0"/>
                  </a:moveTo>
                  <a:lnTo>
                    <a:pt x="3306342" y="0"/>
                  </a:lnTo>
                  <a:lnTo>
                    <a:pt x="3306342" y="1813173"/>
                  </a:lnTo>
                  <a:lnTo>
                    <a:pt x="0" y="18131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47625"/>
              <a:ext cx="3306342" cy="1765548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>
                <a:lnSpc>
                  <a:spcPts val="4320"/>
                </a:lnSpc>
              </a:pPr>
              <a:r>
                <a:rPr lang="en-US" sz="4000" b="1">
                  <a:solidFill>
                    <a:srgbClr val="EBE5E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SPAC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97523" y="5722826"/>
            <a:ext cx="1527239" cy="396621"/>
            <a:chOff x="0" y="0"/>
            <a:chExt cx="3054477" cy="79324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054477" cy="793242"/>
            </a:xfrm>
            <a:custGeom>
              <a:avLst/>
              <a:gdLst/>
              <a:ahLst/>
              <a:cxnLst/>
              <a:rect l="l" t="t" r="r" b="b"/>
              <a:pathLst>
                <a:path w="3054477" h="793242">
                  <a:moveTo>
                    <a:pt x="0" y="0"/>
                  </a:moveTo>
                  <a:lnTo>
                    <a:pt x="3054477" y="0"/>
                  </a:lnTo>
                  <a:lnTo>
                    <a:pt x="3054477" y="793242"/>
                  </a:lnTo>
                  <a:lnTo>
                    <a:pt x="0" y="793242"/>
                  </a:lnTo>
                  <a:close/>
                </a:path>
              </a:pathLst>
            </a:custGeom>
            <a:solidFill>
              <a:srgbClr val="EBBD1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820101" y="5712067"/>
            <a:ext cx="1482067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</a:pPr>
            <a:r>
              <a:rPr lang="en-US" b="1">
                <a:solidFill>
                  <a:srgbClr val="EBE5E5"/>
                </a:solidFill>
                <a:latin typeface="Britannic Bold"/>
                <a:ea typeface="Britannic Bold"/>
                <a:cs typeface="Britannic Bold"/>
                <a:sym typeface="Britannic Bold"/>
              </a:rPr>
              <a:t>ENLIGHTEN.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2324747" y="5722826"/>
            <a:ext cx="1570037" cy="396621"/>
            <a:chOff x="0" y="0"/>
            <a:chExt cx="3140075" cy="79324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140075" cy="793242"/>
            </a:xfrm>
            <a:custGeom>
              <a:avLst/>
              <a:gdLst/>
              <a:ahLst/>
              <a:cxnLst/>
              <a:rect l="l" t="t" r="r" b="b"/>
              <a:pathLst>
                <a:path w="3140075" h="793242">
                  <a:moveTo>
                    <a:pt x="0" y="0"/>
                  </a:moveTo>
                  <a:lnTo>
                    <a:pt x="3140075" y="0"/>
                  </a:lnTo>
                  <a:lnTo>
                    <a:pt x="3140075" y="793242"/>
                  </a:lnTo>
                  <a:lnTo>
                    <a:pt x="0" y="793242"/>
                  </a:lnTo>
                  <a:close/>
                </a:path>
              </a:pathLst>
            </a:custGeom>
            <a:solidFill>
              <a:srgbClr val="C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3" name="TextBox 23"/>
          <p:cNvSpPr txBox="1"/>
          <p:nvPr/>
        </p:nvSpPr>
        <p:spPr>
          <a:xfrm>
            <a:off x="2347326" y="5712067"/>
            <a:ext cx="1524857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2000" b="1">
                <a:solidFill>
                  <a:srgbClr val="EBE5E5"/>
                </a:solidFill>
                <a:latin typeface="Britannic Bold"/>
                <a:ea typeface="Britannic Bold"/>
                <a:cs typeface="Britannic Bold"/>
                <a:sym typeface="Britannic Bold"/>
              </a:rPr>
              <a:t>EMPOWER.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999319" y="6119684"/>
            <a:ext cx="1325435" cy="396621"/>
            <a:chOff x="0" y="0"/>
            <a:chExt cx="2650871" cy="79324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650871" cy="793242"/>
            </a:xfrm>
            <a:custGeom>
              <a:avLst/>
              <a:gdLst/>
              <a:ahLst/>
              <a:cxnLst/>
              <a:rect l="l" t="t" r="r" b="b"/>
              <a:pathLst>
                <a:path w="2650871" h="793242">
                  <a:moveTo>
                    <a:pt x="0" y="0"/>
                  </a:moveTo>
                  <a:lnTo>
                    <a:pt x="2650871" y="0"/>
                  </a:lnTo>
                  <a:lnTo>
                    <a:pt x="2650871" y="793242"/>
                  </a:lnTo>
                  <a:lnTo>
                    <a:pt x="0" y="793242"/>
                  </a:lnTo>
                  <a:close/>
                </a:path>
              </a:pathLst>
            </a:custGeom>
            <a:solidFill>
              <a:srgbClr val="0047B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6" name="TextBox 26"/>
          <p:cNvSpPr txBox="1"/>
          <p:nvPr/>
        </p:nvSpPr>
        <p:spPr>
          <a:xfrm>
            <a:off x="1021896" y="6108925"/>
            <a:ext cx="1280272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7"/>
              </a:lnSpc>
            </a:pPr>
            <a:r>
              <a:rPr lang="en-US" sz="2219" b="1">
                <a:solidFill>
                  <a:srgbClr val="EBE5E5"/>
                </a:solidFill>
                <a:latin typeface="Britannic Bold"/>
                <a:ea typeface="Britannic Bold"/>
                <a:cs typeface="Britannic Bold"/>
                <a:sym typeface="Britannic Bold"/>
              </a:rPr>
              <a:t>ENGAGE: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2324746" y="6118915"/>
            <a:ext cx="1476185" cy="396621"/>
            <a:chOff x="0" y="0"/>
            <a:chExt cx="2952370" cy="79324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952369" cy="793242"/>
            </a:xfrm>
            <a:custGeom>
              <a:avLst/>
              <a:gdLst/>
              <a:ahLst/>
              <a:cxnLst/>
              <a:rect l="l" t="t" r="r" b="b"/>
              <a:pathLst>
                <a:path w="2952369" h="793242">
                  <a:moveTo>
                    <a:pt x="0" y="0"/>
                  </a:moveTo>
                  <a:lnTo>
                    <a:pt x="2952369" y="0"/>
                  </a:lnTo>
                  <a:lnTo>
                    <a:pt x="2952369" y="793242"/>
                  </a:lnTo>
                  <a:lnTo>
                    <a:pt x="0" y="793242"/>
                  </a:lnTo>
                  <a:close/>
                </a:path>
              </a:pathLst>
            </a:custGeom>
            <a:solidFill>
              <a:srgbClr val="19191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9" name="TextBox 29"/>
          <p:cNvSpPr txBox="1"/>
          <p:nvPr/>
        </p:nvSpPr>
        <p:spPr>
          <a:xfrm>
            <a:off x="2347324" y="6108156"/>
            <a:ext cx="1431003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2000" b="1">
                <a:solidFill>
                  <a:srgbClr val="EBE5E5"/>
                </a:solidFill>
                <a:latin typeface="Britannic Bold"/>
                <a:ea typeface="Britannic Bold"/>
                <a:cs typeface="Britannic Bold"/>
                <a:sym typeface="Britannic Bold"/>
              </a:rPr>
              <a:t>I WILL GO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606116" y="6248524"/>
            <a:ext cx="5375784" cy="5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8"/>
              </a:lnSpc>
            </a:pPr>
            <a:r>
              <a:rPr lang="en-US" sz="3600" b="1">
                <a:solidFill>
                  <a:srgbClr val="EBE5E5"/>
                </a:solidFill>
                <a:latin typeface="Arimo Bold"/>
                <a:ea typeface="Arimo Bold"/>
                <a:cs typeface="Arimo Bold"/>
                <a:sym typeface="Arimo Bold"/>
              </a:rPr>
              <a:t>KALIMUHAGAN 2025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59937" y="5824793"/>
            <a:ext cx="1215772" cy="1333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69"/>
              </a:lnSpc>
            </a:pPr>
            <a:r>
              <a:rPr lang="en-US" sz="9600">
                <a:solidFill>
                  <a:srgbClr val="DFC991"/>
                </a:solidFill>
                <a:latin typeface="Arimo"/>
                <a:ea typeface="Arimo"/>
                <a:cs typeface="Arimo"/>
                <a:sym typeface="Arimo"/>
              </a:rPr>
              <a:t>“</a:t>
            </a:r>
          </a:p>
        </p:txBody>
      </p:sp>
      <p:sp>
        <p:nvSpPr>
          <p:cNvPr id="32" name="TextBox 32"/>
          <p:cNvSpPr txBox="1"/>
          <p:nvPr/>
        </p:nvSpPr>
        <p:spPr>
          <a:xfrm rot="-10800000">
            <a:off x="3293313" y="5658350"/>
            <a:ext cx="1215772" cy="1333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69"/>
              </a:lnSpc>
            </a:pPr>
            <a:r>
              <a:rPr lang="en-US" sz="9600" dirty="0">
                <a:solidFill>
                  <a:srgbClr val="DFC991"/>
                </a:solidFill>
                <a:latin typeface="Arimo"/>
                <a:ea typeface="Arimo"/>
                <a:cs typeface="Arimo"/>
                <a:sym typeface="Arimo"/>
              </a:rPr>
              <a:t>“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591101" y="288087"/>
            <a:ext cx="3475091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09"/>
              </a:lnSpc>
            </a:pPr>
            <a:r>
              <a:rPr lang="en-US" sz="3924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Results/Findings 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682917" y="3659347"/>
            <a:ext cx="3864547" cy="16748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160"/>
              </a:lnSpc>
            </a:pPr>
            <a:r>
              <a:rPr lang="en-US" b="1" dirty="0">
                <a:solidFill>
                  <a:srgbClr val="001B4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Random Forest: Best Performance</a:t>
            </a:r>
            <a:r>
              <a:rPr lang="en-US" dirty="0">
                <a:solidFill>
                  <a:srgbClr val="001B44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  <a:p>
            <a:pPr>
              <a:lnSpc>
                <a:spcPts val="2160"/>
              </a:lnSpc>
            </a:pPr>
            <a:r>
              <a:rPr lang="en-US" dirty="0">
                <a:solidFill>
                  <a:srgbClr val="001B44"/>
                </a:solidFill>
                <a:latin typeface="Calibri (MS)"/>
                <a:ea typeface="Calibri (MS)"/>
                <a:cs typeface="Calibri (MS)"/>
                <a:sym typeface="Calibri (MS)"/>
              </a:rPr>
              <a:t>R² = 0.9874 (98.74% accuracy)</a:t>
            </a:r>
          </a:p>
          <a:p>
            <a:pPr>
              <a:lnSpc>
                <a:spcPts val="2160"/>
              </a:lnSpc>
            </a:pPr>
            <a:r>
              <a:rPr lang="en-US" dirty="0">
                <a:solidFill>
                  <a:srgbClr val="001B44"/>
                </a:solidFill>
                <a:latin typeface="Calibri (MS)"/>
                <a:ea typeface="Calibri (MS)"/>
                <a:cs typeface="Calibri (MS)"/>
                <a:sym typeface="Calibri (MS)"/>
              </a:rPr>
              <a:t>MAE = 46,313 students (~8.9% error)</a:t>
            </a:r>
          </a:p>
          <a:p>
            <a:pPr>
              <a:lnSpc>
                <a:spcPts val="2160"/>
              </a:lnSpc>
            </a:pPr>
            <a:r>
              <a:rPr lang="en-US" dirty="0">
                <a:solidFill>
                  <a:srgbClr val="001B44"/>
                </a:solidFill>
                <a:latin typeface="Calibri (MS)"/>
                <a:ea typeface="Calibri (MS)"/>
                <a:cs typeface="Calibri (MS)"/>
                <a:sym typeface="Calibri (MS)"/>
              </a:rPr>
              <a:t>RMSE = 78,753 students</a:t>
            </a:r>
          </a:p>
          <a:p>
            <a:pPr>
              <a:lnSpc>
                <a:spcPts val="2160"/>
              </a:lnSpc>
            </a:pPr>
            <a:r>
              <a:rPr lang="en-US" b="1" dirty="0">
                <a:solidFill>
                  <a:srgbClr val="001B4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RECOMMENDED FOR DEPLOYMENT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68439" y="3738378"/>
            <a:ext cx="3670308" cy="180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80"/>
              </a:lnSpc>
            </a:pPr>
            <a:r>
              <a:rPr lang="en-US" sz="1233" b="1" i="1" dirty="0">
                <a:solidFill>
                  <a:srgbClr val="001B44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Figure 1:Performance Comparison: All Models</a:t>
            </a:r>
          </a:p>
        </p:txBody>
      </p:sp>
      <p:grpSp>
        <p:nvGrpSpPr>
          <p:cNvPr id="36" name="Group 36"/>
          <p:cNvGrpSpPr>
            <a:grpSpLocks noChangeAspect="1"/>
          </p:cNvGrpSpPr>
          <p:nvPr/>
        </p:nvGrpSpPr>
        <p:grpSpPr>
          <a:xfrm>
            <a:off x="210098" y="1514698"/>
            <a:ext cx="11690652" cy="2030037"/>
            <a:chOff x="0" y="0"/>
            <a:chExt cx="23381304" cy="4060074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3381336" cy="4060063"/>
            </a:xfrm>
            <a:custGeom>
              <a:avLst/>
              <a:gdLst/>
              <a:ahLst/>
              <a:cxnLst/>
              <a:rect l="l" t="t" r="r" b="b"/>
              <a:pathLst>
                <a:path w="23381336" h="4060063">
                  <a:moveTo>
                    <a:pt x="0" y="0"/>
                  </a:moveTo>
                  <a:lnTo>
                    <a:pt x="23381336" y="0"/>
                  </a:lnTo>
                  <a:lnTo>
                    <a:pt x="23381336" y="4060063"/>
                  </a:lnTo>
                  <a:lnTo>
                    <a:pt x="0" y="40600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491" t="-74094" r="-1796" b="-49014"/>
              </a:stretch>
            </a:blipFill>
          </p:spPr>
        </p:sp>
      </p:grpSp>
      <p:grpSp>
        <p:nvGrpSpPr>
          <p:cNvPr id="38" name="Group 38"/>
          <p:cNvGrpSpPr>
            <a:grpSpLocks noChangeAspect="1"/>
          </p:cNvGrpSpPr>
          <p:nvPr/>
        </p:nvGrpSpPr>
        <p:grpSpPr>
          <a:xfrm>
            <a:off x="210098" y="1088290"/>
            <a:ext cx="11690652" cy="494188"/>
            <a:chOff x="0" y="0"/>
            <a:chExt cx="23381304" cy="988376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23381336" cy="988314"/>
            </a:xfrm>
            <a:custGeom>
              <a:avLst/>
              <a:gdLst/>
              <a:ahLst/>
              <a:cxnLst/>
              <a:rect l="l" t="t" r="r" b="b"/>
              <a:pathLst>
                <a:path w="23381336" h="988314">
                  <a:moveTo>
                    <a:pt x="0" y="0"/>
                  </a:moveTo>
                  <a:lnTo>
                    <a:pt x="23381336" y="0"/>
                  </a:lnTo>
                  <a:lnTo>
                    <a:pt x="23381336" y="988314"/>
                  </a:lnTo>
                  <a:lnTo>
                    <a:pt x="0" y="9883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796" r="-2493" b="-816563"/>
              </a:stretch>
            </a:blipFill>
          </p:spPr>
        </p:sp>
      </p:grpSp>
      <p:sp>
        <p:nvSpPr>
          <p:cNvPr id="40" name="TextBox 40"/>
          <p:cNvSpPr txBox="1"/>
          <p:nvPr/>
        </p:nvSpPr>
        <p:spPr>
          <a:xfrm>
            <a:off x="468440" y="5280558"/>
            <a:ext cx="4967161" cy="2256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99"/>
              </a:lnSpc>
            </a:pPr>
            <a:r>
              <a:rPr lang="en-US" sz="2066" dirty="0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GitHub: github.com/NCoding95/Mini-Project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402592" y="685800"/>
            <a:ext cx="7519989" cy="5836905"/>
          </a:xfrm>
          <a:custGeom>
            <a:avLst/>
            <a:gdLst/>
            <a:ahLst/>
            <a:cxnLst/>
            <a:rect l="l" t="t" r="r" b="b"/>
            <a:pathLst>
              <a:path w="11279984" h="8755358">
                <a:moveTo>
                  <a:pt x="0" y="0"/>
                </a:moveTo>
                <a:lnTo>
                  <a:pt x="11279984" y="0"/>
                </a:lnTo>
                <a:lnTo>
                  <a:pt x="11279984" y="8755358"/>
                </a:lnTo>
                <a:lnTo>
                  <a:pt x="0" y="87553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 t="-11" b="-11"/>
            </a:stretch>
          </a:blipFill>
        </p:spPr>
      </p:sp>
      <p:grpSp>
        <p:nvGrpSpPr>
          <p:cNvPr id="3" name="Group 3"/>
          <p:cNvGrpSpPr/>
          <p:nvPr/>
        </p:nvGrpSpPr>
        <p:grpSpPr>
          <a:xfrm rot="-5400000">
            <a:off x="3819494" y="-4780589"/>
            <a:ext cx="1880171" cy="9519157"/>
            <a:chOff x="0" y="0"/>
            <a:chExt cx="3760343" cy="1903831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60343" cy="19038315"/>
            </a:xfrm>
            <a:custGeom>
              <a:avLst/>
              <a:gdLst/>
              <a:ahLst/>
              <a:cxnLst/>
              <a:rect l="l" t="t" r="r" b="b"/>
              <a:pathLst>
                <a:path w="3760343" h="19038315">
                  <a:moveTo>
                    <a:pt x="0" y="0"/>
                  </a:moveTo>
                  <a:lnTo>
                    <a:pt x="3760343" y="0"/>
                  </a:lnTo>
                  <a:lnTo>
                    <a:pt x="3760343" y="15230602"/>
                  </a:lnTo>
                  <a:lnTo>
                    <a:pt x="1880235" y="19038315"/>
                  </a:lnTo>
                  <a:lnTo>
                    <a:pt x="0" y="15230602"/>
                  </a:lnTo>
                  <a:close/>
                </a:path>
              </a:pathLst>
            </a:custGeom>
            <a:solidFill>
              <a:srgbClr val="002D7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5" name="Group 5"/>
          <p:cNvGrpSpPr/>
          <p:nvPr/>
        </p:nvGrpSpPr>
        <p:grpSpPr>
          <a:xfrm rot="5400000">
            <a:off x="8579010" y="2124467"/>
            <a:ext cx="1880235" cy="9519159"/>
            <a:chOff x="0" y="0"/>
            <a:chExt cx="3760470" cy="1903831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760470" cy="19038317"/>
            </a:xfrm>
            <a:custGeom>
              <a:avLst/>
              <a:gdLst/>
              <a:ahLst/>
              <a:cxnLst/>
              <a:rect l="l" t="t" r="r" b="b"/>
              <a:pathLst>
                <a:path w="3760470" h="19038317">
                  <a:moveTo>
                    <a:pt x="3760343" y="0"/>
                  </a:moveTo>
                  <a:lnTo>
                    <a:pt x="0" y="0"/>
                  </a:lnTo>
                  <a:lnTo>
                    <a:pt x="0" y="15230602"/>
                  </a:lnTo>
                  <a:lnTo>
                    <a:pt x="1880235" y="19038317"/>
                  </a:lnTo>
                  <a:lnTo>
                    <a:pt x="3760470" y="15230602"/>
                  </a:lnTo>
                  <a:close/>
                </a:path>
              </a:pathLst>
            </a:custGeom>
            <a:solidFill>
              <a:srgbClr val="002D7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250264" y="36715"/>
            <a:ext cx="887349" cy="784797"/>
            <a:chOff x="0" y="0"/>
            <a:chExt cx="1774698" cy="156959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74698" cy="1569593"/>
            </a:xfrm>
            <a:custGeom>
              <a:avLst/>
              <a:gdLst/>
              <a:ahLst/>
              <a:cxnLst/>
              <a:rect l="l" t="t" r="r" b="b"/>
              <a:pathLst>
                <a:path w="1774698" h="1569593">
                  <a:moveTo>
                    <a:pt x="0" y="0"/>
                  </a:moveTo>
                  <a:lnTo>
                    <a:pt x="1774698" y="0"/>
                  </a:lnTo>
                  <a:lnTo>
                    <a:pt x="1774698" y="1569593"/>
                  </a:lnTo>
                  <a:lnTo>
                    <a:pt x="0" y="15695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0" b="-10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6231928" y="-10604"/>
            <a:ext cx="955548" cy="931672"/>
            <a:chOff x="0" y="0"/>
            <a:chExt cx="1911096" cy="186334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11096" cy="1863344"/>
            </a:xfrm>
            <a:custGeom>
              <a:avLst/>
              <a:gdLst/>
              <a:ahLst/>
              <a:cxnLst/>
              <a:rect l="l" t="t" r="r" b="b"/>
              <a:pathLst>
                <a:path w="1911096" h="1863344">
                  <a:moveTo>
                    <a:pt x="0" y="0"/>
                  </a:moveTo>
                  <a:lnTo>
                    <a:pt x="1911096" y="0"/>
                  </a:lnTo>
                  <a:lnTo>
                    <a:pt x="1911096" y="1863344"/>
                  </a:lnTo>
                  <a:lnTo>
                    <a:pt x="0" y="1863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15" b="-115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98977" y="391284"/>
            <a:ext cx="1035539" cy="768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lang="en-US" sz="6875" b="1" spc="-17">
                <a:solidFill>
                  <a:srgbClr val="FFE766"/>
                </a:solidFill>
                <a:latin typeface="DG Ghareeb Bold"/>
                <a:ea typeface="DG Ghareeb Bold"/>
                <a:cs typeface="DG Ghareeb Bold"/>
                <a:sym typeface="DG Ghareeb Bold"/>
              </a:rPr>
              <a:t>3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25147" y="289351"/>
            <a:ext cx="769306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28"/>
              </a:lnSpc>
            </a:pPr>
            <a:r>
              <a:rPr lang="en-US" sz="1600" b="1">
                <a:solidFill>
                  <a:srgbClr val="EBE5E5"/>
                </a:solidFill>
                <a:latin typeface="Arimo Bold"/>
                <a:ea typeface="Arimo Bold"/>
                <a:cs typeface="Arimo Bold"/>
                <a:sym typeface="Arimo Bold"/>
              </a:rPr>
              <a:t>rd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2530375" y="98220"/>
            <a:ext cx="6480197" cy="718005"/>
            <a:chOff x="0" y="0"/>
            <a:chExt cx="12960394" cy="143601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960394" cy="1436011"/>
            </a:xfrm>
            <a:custGeom>
              <a:avLst/>
              <a:gdLst/>
              <a:ahLst/>
              <a:cxnLst/>
              <a:rect l="l" t="t" r="r" b="b"/>
              <a:pathLst>
                <a:path w="12960394" h="1436011">
                  <a:moveTo>
                    <a:pt x="0" y="0"/>
                  </a:moveTo>
                  <a:lnTo>
                    <a:pt x="12960394" y="0"/>
                  </a:lnTo>
                  <a:lnTo>
                    <a:pt x="12960394" y="1436011"/>
                  </a:lnTo>
                  <a:lnTo>
                    <a:pt x="0" y="143601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9525"/>
              <a:ext cx="12960394" cy="1426486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>
                <a:lnSpc>
                  <a:spcPts val="1944"/>
                </a:lnSpc>
              </a:pPr>
              <a:r>
                <a:rPr lang="en-US" b="1">
                  <a:solidFill>
                    <a:srgbClr val="EBE5E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MULTIDISCIPLINARY </a:t>
              </a:r>
            </a:p>
            <a:p>
              <a:pPr>
                <a:lnSpc>
                  <a:spcPts val="1944"/>
                </a:lnSpc>
              </a:pPr>
              <a:r>
                <a:rPr lang="en-US" b="1">
                  <a:solidFill>
                    <a:srgbClr val="EBE5E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RESEARCH CONGRESS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15604" y="-64882"/>
            <a:ext cx="1653171" cy="906587"/>
            <a:chOff x="0" y="0"/>
            <a:chExt cx="3306342" cy="181317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306342" cy="1813173"/>
            </a:xfrm>
            <a:custGeom>
              <a:avLst/>
              <a:gdLst/>
              <a:ahLst/>
              <a:cxnLst/>
              <a:rect l="l" t="t" r="r" b="b"/>
              <a:pathLst>
                <a:path w="3306342" h="1813173">
                  <a:moveTo>
                    <a:pt x="0" y="0"/>
                  </a:moveTo>
                  <a:lnTo>
                    <a:pt x="3306342" y="0"/>
                  </a:lnTo>
                  <a:lnTo>
                    <a:pt x="3306342" y="1813173"/>
                  </a:lnTo>
                  <a:lnTo>
                    <a:pt x="0" y="18131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47625"/>
              <a:ext cx="3306342" cy="1765548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>
                <a:lnSpc>
                  <a:spcPts val="4320"/>
                </a:lnSpc>
              </a:pPr>
              <a:r>
                <a:rPr lang="en-US" sz="4000" b="1">
                  <a:solidFill>
                    <a:srgbClr val="EBE5E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SPAC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97523" y="5722826"/>
            <a:ext cx="1527239" cy="396621"/>
            <a:chOff x="0" y="0"/>
            <a:chExt cx="3054477" cy="79324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054477" cy="793242"/>
            </a:xfrm>
            <a:custGeom>
              <a:avLst/>
              <a:gdLst/>
              <a:ahLst/>
              <a:cxnLst/>
              <a:rect l="l" t="t" r="r" b="b"/>
              <a:pathLst>
                <a:path w="3054477" h="793242">
                  <a:moveTo>
                    <a:pt x="0" y="0"/>
                  </a:moveTo>
                  <a:lnTo>
                    <a:pt x="3054477" y="0"/>
                  </a:lnTo>
                  <a:lnTo>
                    <a:pt x="3054477" y="793242"/>
                  </a:lnTo>
                  <a:lnTo>
                    <a:pt x="0" y="793242"/>
                  </a:lnTo>
                  <a:close/>
                </a:path>
              </a:pathLst>
            </a:custGeom>
            <a:solidFill>
              <a:srgbClr val="EBBD1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1" name="TextBox 21"/>
          <p:cNvSpPr txBox="1"/>
          <p:nvPr/>
        </p:nvSpPr>
        <p:spPr>
          <a:xfrm>
            <a:off x="820101" y="5712067"/>
            <a:ext cx="1482067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</a:pPr>
            <a:r>
              <a:rPr lang="en-US" b="1">
                <a:solidFill>
                  <a:srgbClr val="EBE5E5"/>
                </a:solidFill>
                <a:latin typeface="Britannic Bold"/>
                <a:ea typeface="Britannic Bold"/>
                <a:cs typeface="Britannic Bold"/>
                <a:sym typeface="Britannic Bold"/>
              </a:rPr>
              <a:t>ENLIGHTEN.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2324747" y="5722826"/>
            <a:ext cx="1570037" cy="396621"/>
            <a:chOff x="0" y="0"/>
            <a:chExt cx="3140075" cy="79324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140075" cy="793242"/>
            </a:xfrm>
            <a:custGeom>
              <a:avLst/>
              <a:gdLst/>
              <a:ahLst/>
              <a:cxnLst/>
              <a:rect l="l" t="t" r="r" b="b"/>
              <a:pathLst>
                <a:path w="3140075" h="793242">
                  <a:moveTo>
                    <a:pt x="0" y="0"/>
                  </a:moveTo>
                  <a:lnTo>
                    <a:pt x="3140075" y="0"/>
                  </a:lnTo>
                  <a:lnTo>
                    <a:pt x="3140075" y="793242"/>
                  </a:lnTo>
                  <a:lnTo>
                    <a:pt x="0" y="793242"/>
                  </a:lnTo>
                  <a:close/>
                </a:path>
              </a:pathLst>
            </a:custGeom>
            <a:solidFill>
              <a:srgbClr val="C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4" name="TextBox 24"/>
          <p:cNvSpPr txBox="1"/>
          <p:nvPr/>
        </p:nvSpPr>
        <p:spPr>
          <a:xfrm>
            <a:off x="2347326" y="5712067"/>
            <a:ext cx="1524857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2000" b="1">
                <a:solidFill>
                  <a:srgbClr val="EBE5E5"/>
                </a:solidFill>
                <a:latin typeface="Britannic Bold"/>
                <a:ea typeface="Britannic Bold"/>
                <a:cs typeface="Britannic Bold"/>
                <a:sym typeface="Britannic Bold"/>
              </a:rPr>
              <a:t>EMPOWER.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999319" y="6119684"/>
            <a:ext cx="1325435" cy="396621"/>
            <a:chOff x="0" y="0"/>
            <a:chExt cx="2650871" cy="79324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650871" cy="793242"/>
            </a:xfrm>
            <a:custGeom>
              <a:avLst/>
              <a:gdLst/>
              <a:ahLst/>
              <a:cxnLst/>
              <a:rect l="l" t="t" r="r" b="b"/>
              <a:pathLst>
                <a:path w="2650871" h="793242">
                  <a:moveTo>
                    <a:pt x="0" y="0"/>
                  </a:moveTo>
                  <a:lnTo>
                    <a:pt x="2650871" y="0"/>
                  </a:lnTo>
                  <a:lnTo>
                    <a:pt x="2650871" y="793242"/>
                  </a:lnTo>
                  <a:lnTo>
                    <a:pt x="0" y="793242"/>
                  </a:lnTo>
                  <a:close/>
                </a:path>
              </a:pathLst>
            </a:custGeom>
            <a:solidFill>
              <a:srgbClr val="0047B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7" name="TextBox 27"/>
          <p:cNvSpPr txBox="1"/>
          <p:nvPr/>
        </p:nvSpPr>
        <p:spPr>
          <a:xfrm>
            <a:off x="1021896" y="6108925"/>
            <a:ext cx="1280272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7"/>
              </a:lnSpc>
            </a:pPr>
            <a:r>
              <a:rPr lang="en-US" sz="2219" b="1">
                <a:solidFill>
                  <a:srgbClr val="EBE5E5"/>
                </a:solidFill>
                <a:latin typeface="Britannic Bold"/>
                <a:ea typeface="Britannic Bold"/>
                <a:cs typeface="Britannic Bold"/>
                <a:sym typeface="Britannic Bold"/>
              </a:rPr>
              <a:t>ENGAGE: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2324746" y="6118915"/>
            <a:ext cx="1476185" cy="396621"/>
            <a:chOff x="0" y="0"/>
            <a:chExt cx="2952370" cy="79324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952369" cy="793242"/>
            </a:xfrm>
            <a:custGeom>
              <a:avLst/>
              <a:gdLst/>
              <a:ahLst/>
              <a:cxnLst/>
              <a:rect l="l" t="t" r="r" b="b"/>
              <a:pathLst>
                <a:path w="2952369" h="793242">
                  <a:moveTo>
                    <a:pt x="0" y="0"/>
                  </a:moveTo>
                  <a:lnTo>
                    <a:pt x="2952369" y="0"/>
                  </a:lnTo>
                  <a:lnTo>
                    <a:pt x="2952369" y="793242"/>
                  </a:lnTo>
                  <a:lnTo>
                    <a:pt x="0" y="793242"/>
                  </a:lnTo>
                  <a:close/>
                </a:path>
              </a:pathLst>
            </a:custGeom>
            <a:solidFill>
              <a:srgbClr val="19191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30" name="TextBox 30"/>
          <p:cNvSpPr txBox="1"/>
          <p:nvPr/>
        </p:nvSpPr>
        <p:spPr>
          <a:xfrm>
            <a:off x="2347324" y="6108156"/>
            <a:ext cx="1431003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2000" b="1">
                <a:solidFill>
                  <a:srgbClr val="EBE5E5"/>
                </a:solidFill>
                <a:latin typeface="Britannic Bold"/>
                <a:ea typeface="Britannic Bold"/>
                <a:cs typeface="Britannic Bold"/>
                <a:sym typeface="Britannic Bold"/>
              </a:rPr>
              <a:t>I WILL GO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606116" y="6248524"/>
            <a:ext cx="5375784" cy="5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8"/>
              </a:lnSpc>
            </a:pPr>
            <a:r>
              <a:rPr lang="en-US" sz="3600" b="1">
                <a:solidFill>
                  <a:srgbClr val="EBE5E5"/>
                </a:solidFill>
                <a:latin typeface="Arimo Bold"/>
                <a:ea typeface="Arimo Bold"/>
                <a:cs typeface="Arimo Bold"/>
                <a:sym typeface="Arimo Bold"/>
              </a:rPr>
              <a:t>KALIMUHAGAN 2025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59937" y="5824793"/>
            <a:ext cx="1215772" cy="1333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69"/>
              </a:lnSpc>
            </a:pPr>
            <a:r>
              <a:rPr lang="en-US" sz="9600">
                <a:solidFill>
                  <a:srgbClr val="DFC991"/>
                </a:solidFill>
                <a:latin typeface="Arimo"/>
                <a:ea typeface="Arimo"/>
                <a:cs typeface="Arimo"/>
                <a:sym typeface="Arimo"/>
              </a:rPr>
              <a:t>“</a:t>
            </a:r>
          </a:p>
        </p:txBody>
      </p:sp>
      <p:sp>
        <p:nvSpPr>
          <p:cNvPr id="33" name="TextBox 33"/>
          <p:cNvSpPr txBox="1"/>
          <p:nvPr/>
        </p:nvSpPr>
        <p:spPr>
          <a:xfrm rot="-10800000">
            <a:off x="3293313" y="5658350"/>
            <a:ext cx="1215772" cy="1333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69"/>
              </a:lnSpc>
            </a:pPr>
            <a:r>
              <a:rPr lang="en-US" sz="9600">
                <a:solidFill>
                  <a:srgbClr val="DFC991"/>
                </a:solidFill>
                <a:latin typeface="Arimo"/>
                <a:ea typeface="Arimo"/>
                <a:cs typeface="Arimo"/>
                <a:sym typeface="Arimo"/>
              </a:rPr>
              <a:t>“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591101" y="288087"/>
            <a:ext cx="3475091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09"/>
              </a:lnSpc>
            </a:pPr>
            <a:r>
              <a:rPr lang="en-US" sz="3924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Results/Findings 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282793" y="1151433"/>
            <a:ext cx="6658304" cy="5317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05"/>
              </a:lnSpc>
            </a:pPr>
            <a:r>
              <a:rPr lang="en-US" sz="1837" b="1">
                <a:solidFill>
                  <a:srgbClr val="001B4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Random Forest: Predicted vs. Actual Enrollment</a:t>
            </a:r>
          </a:p>
          <a:p>
            <a:pPr>
              <a:lnSpc>
                <a:spcPts val="2400"/>
              </a:lnSpc>
            </a:pPr>
            <a:r>
              <a:rPr lang="en-US" sz="2000" b="1">
                <a:solidFill>
                  <a:srgbClr val="001B4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Visual Interpretation:</a:t>
            </a:r>
          </a:p>
          <a:p>
            <a:pPr marL="361968" lvl="1" indent="-180984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Strong clustering along diagonal confirms R² = 0.9874</a:t>
            </a:r>
          </a:p>
          <a:p>
            <a:pPr marL="361968" lvl="1" indent="-180984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98.74% of variance explained</a:t>
            </a:r>
          </a:p>
          <a:p>
            <a:pPr marL="361968" lvl="1" indent="-180984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Minor scatter reflects 8.9% average error (MAE = 46,313)</a:t>
            </a:r>
          </a:p>
          <a:p>
            <a:pPr marL="361968" lvl="1" indent="-180984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systematic bias (balanced over/under-predictions)</a:t>
            </a:r>
          </a:p>
          <a:p>
            <a:pPr marL="361968" lvl="1" indent="-180984">
              <a:lnSpc>
                <a:spcPts val="2205"/>
              </a:lnSpc>
            </a:pPr>
            <a:endParaRPr lang="en-US" sz="2000">
              <a:solidFill>
                <a:srgbClr val="001B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1968" lvl="1" indent="-180984">
              <a:lnSpc>
                <a:spcPts val="2400"/>
              </a:lnSpc>
            </a:pPr>
            <a:r>
              <a:rPr lang="en-US" sz="2000" b="1">
                <a:solidFill>
                  <a:srgbClr val="001B4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What This Means:</a:t>
            </a:r>
          </a:p>
          <a:p>
            <a:pPr marL="361968" lvl="1" indent="-180984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Historical trends (2010-2019) successfully predict pandemic-era enrollment (2020-2021)</a:t>
            </a:r>
          </a:p>
          <a:p>
            <a:pPr marL="361968" lvl="1" indent="-180984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Random Forest captures complex regional patterns</a:t>
            </a:r>
          </a:p>
          <a:p>
            <a:pPr marL="361968" lvl="1" indent="-180984">
              <a:lnSpc>
                <a:spcPts val="2400"/>
              </a:lnSpc>
              <a:buFont typeface="Arial"/>
              <a:buChar char="•"/>
            </a:pPr>
            <a:r>
              <a:rPr lang="en-US" sz="2000" b="1">
                <a:solidFill>
                  <a:srgbClr val="001B4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Model maintained 98.74% accuracy despite COVID-19 disruptions</a:t>
            </a:r>
          </a:p>
          <a:p>
            <a:pPr marL="361968" lvl="1" indent="-180984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Operationally reliable for DepEd strategic planning</a:t>
            </a:r>
          </a:p>
          <a:p>
            <a:pPr marL="361968" lvl="1" indent="-180984">
              <a:lnSpc>
                <a:spcPts val="2400"/>
              </a:lnSpc>
            </a:pPr>
            <a:endParaRPr lang="en-US" sz="2000">
              <a:solidFill>
                <a:srgbClr val="001B4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3378" lvl="1" indent="-126689" algn="ctr">
              <a:lnSpc>
                <a:spcPts val="1680"/>
              </a:lnSpc>
            </a:pPr>
            <a:r>
              <a:rPr lang="en-US" sz="1400" b="1">
                <a:solidFill>
                  <a:srgbClr val="001B4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Test Period:</a:t>
            </a:r>
            <a:r>
              <a:rPr lang="en-US" sz="1400">
                <a:solidFill>
                  <a:srgbClr val="001B44"/>
                </a:solidFill>
                <a:latin typeface="Calibri (MS)"/>
                <a:ea typeface="Calibri (MS)"/>
                <a:cs typeface="Calibri (MS)"/>
                <a:sym typeface="Calibri (MS)"/>
              </a:rPr>
              <a:t> 2020-2021 pandemic years | 113 test samples</a:t>
            </a:r>
          </a:p>
          <a:p>
            <a:pPr marL="361968" lvl="1" indent="-180984">
              <a:lnSpc>
                <a:spcPts val="2205"/>
              </a:lnSpc>
            </a:pPr>
            <a:endParaRPr lang="en-US" sz="1400">
              <a:solidFill>
                <a:srgbClr val="001B44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361968" lvl="1" indent="-180984">
              <a:lnSpc>
                <a:spcPts val="2205"/>
              </a:lnSpc>
            </a:pPr>
            <a:endParaRPr lang="en-US" sz="1400">
              <a:solidFill>
                <a:srgbClr val="001B44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525147" y="5344445"/>
            <a:ext cx="4471856" cy="1803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80"/>
              </a:lnSpc>
            </a:pPr>
            <a:r>
              <a:rPr lang="en-US" sz="1233" b="1" i="1" dirty="0">
                <a:solidFill>
                  <a:srgbClr val="001B44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Figure 2: Random Forest : Predicted vs. Actual Enrollment</a:t>
            </a:r>
          </a:p>
        </p:txBody>
      </p:sp>
      <p:grpSp>
        <p:nvGrpSpPr>
          <p:cNvPr id="37" name="Group 37"/>
          <p:cNvGrpSpPr>
            <a:grpSpLocks noChangeAspect="1"/>
          </p:cNvGrpSpPr>
          <p:nvPr/>
        </p:nvGrpSpPr>
        <p:grpSpPr>
          <a:xfrm>
            <a:off x="525147" y="1080845"/>
            <a:ext cx="4234401" cy="4237254"/>
            <a:chOff x="0" y="0"/>
            <a:chExt cx="8468802" cy="8474508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468741" cy="8474456"/>
            </a:xfrm>
            <a:custGeom>
              <a:avLst/>
              <a:gdLst/>
              <a:ahLst/>
              <a:cxnLst/>
              <a:rect l="l" t="t" r="r" b="b"/>
              <a:pathLst>
                <a:path w="8468741" h="8474456">
                  <a:moveTo>
                    <a:pt x="0" y="0"/>
                  </a:moveTo>
                  <a:lnTo>
                    <a:pt x="8468741" y="0"/>
                  </a:lnTo>
                  <a:lnTo>
                    <a:pt x="8468741" y="8474456"/>
                  </a:lnTo>
                  <a:lnTo>
                    <a:pt x="0" y="84744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3819494" y="-4780589"/>
            <a:ext cx="1880171" cy="9519157"/>
            <a:chOff x="0" y="0"/>
            <a:chExt cx="3760343" cy="190383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60343" cy="19038315"/>
            </a:xfrm>
            <a:custGeom>
              <a:avLst/>
              <a:gdLst/>
              <a:ahLst/>
              <a:cxnLst/>
              <a:rect l="l" t="t" r="r" b="b"/>
              <a:pathLst>
                <a:path w="3760343" h="19038315">
                  <a:moveTo>
                    <a:pt x="0" y="0"/>
                  </a:moveTo>
                  <a:lnTo>
                    <a:pt x="3760343" y="0"/>
                  </a:lnTo>
                  <a:lnTo>
                    <a:pt x="3760343" y="15230602"/>
                  </a:lnTo>
                  <a:lnTo>
                    <a:pt x="1880235" y="19038315"/>
                  </a:lnTo>
                  <a:lnTo>
                    <a:pt x="0" y="15230602"/>
                  </a:lnTo>
                  <a:close/>
                </a:path>
              </a:pathLst>
            </a:custGeom>
            <a:solidFill>
              <a:srgbClr val="002D7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 rot="5400000">
            <a:off x="8579010" y="2124467"/>
            <a:ext cx="1880235" cy="9519159"/>
            <a:chOff x="0" y="0"/>
            <a:chExt cx="3760470" cy="1903831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760470" cy="19038317"/>
            </a:xfrm>
            <a:custGeom>
              <a:avLst/>
              <a:gdLst/>
              <a:ahLst/>
              <a:cxnLst/>
              <a:rect l="l" t="t" r="r" b="b"/>
              <a:pathLst>
                <a:path w="3760470" h="19038317">
                  <a:moveTo>
                    <a:pt x="3760343" y="0"/>
                  </a:moveTo>
                  <a:lnTo>
                    <a:pt x="0" y="0"/>
                  </a:lnTo>
                  <a:lnTo>
                    <a:pt x="0" y="15230602"/>
                  </a:lnTo>
                  <a:lnTo>
                    <a:pt x="1880235" y="19038317"/>
                  </a:lnTo>
                  <a:lnTo>
                    <a:pt x="3760470" y="15230602"/>
                  </a:lnTo>
                  <a:close/>
                </a:path>
              </a:pathLst>
            </a:custGeom>
            <a:solidFill>
              <a:srgbClr val="002D7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5250264" y="36715"/>
            <a:ext cx="887349" cy="784797"/>
            <a:chOff x="0" y="0"/>
            <a:chExt cx="1774698" cy="156959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74698" cy="1569593"/>
            </a:xfrm>
            <a:custGeom>
              <a:avLst/>
              <a:gdLst/>
              <a:ahLst/>
              <a:cxnLst/>
              <a:rect l="l" t="t" r="r" b="b"/>
              <a:pathLst>
                <a:path w="1774698" h="1569593">
                  <a:moveTo>
                    <a:pt x="0" y="0"/>
                  </a:moveTo>
                  <a:lnTo>
                    <a:pt x="1774698" y="0"/>
                  </a:lnTo>
                  <a:lnTo>
                    <a:pt x="1774698" y="1569593"/>
                  </a:lnTo>
                  <a:lnTo>
                    <a:pt x="0" y="15695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0" b="-10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6231928" y="-10604"/>
            <a:ext cx="955548" cy="931672"/>
            <a:chOff x="0" y="0"/>
            <a:chExt cx="1911096" cy="186334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11096" cy="1863344"/>
            </a:xfrm>
            <a:custGeom>
              <a:avLst/>
              <a:gdLst/>
              <a:ahLst/>
              <a:cxnLst/>
              <a:rect l="l" t="t" r="r" b="b"/>
              <a:pathLst>
                <a:path w="1911096" h="1863344">
                  <a:moveTo>
                    <a:pt x="0" y="0"/>
                  </a:moveTo>
                  <a:lnTo>
                    <a:pt x="1911096" y="0"/>
                  </a:lnTo>
                  <a:lnTo>
                    <a:pt x="1911096" y="1863344"/>
                  </a:lnTo>
                  <a:lnTo>
                    <a:pt x="0" y="1863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15" b="-115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98977" y="391284"/>
            <a:ext cx="1035539" cy="768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lang="en-US" sz="6875" b="1" spc="-17">
                <a:solidFill>
                  <a:srgbClr val="FFE766"/>
                </a:solidFill>
                <a:latin typeface="DG Ghareeb Bold"/>
                <a:ea typeface="DG Ghareeb Bold"/>
                <a:cs typeface="DG Ghareeb Bold"/>
                <a:sym typeface="DG Ghareeb Bold"/>
              </a:rPr>
              <a:t>3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25147" y="289351"/>
            <a:ext cx="769306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28"/>
              </a:lnSpc>
            </a:pPr>
            <a:r>
              <a:rPr lang="en-US" sz="1600" b="1">
                <a:solidFill>
                  <a:srgbClr val="EBE5E5"/>
                </a:solidFill>
                <a:latin typeface="Arimo Bold"/>
                <a:ea typeface="Arimo Bold"/>
                <a:cs typeface="Arimo Bold"/>
                <a:sym typeface="Arimo Bold"/>
              </a:rPr>
              <a:t>rd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2530375" y="98220"/>
            <a:ext cx="6480197" cy="718005"/>
            <a:chOff x="0" y="0"/>
            <a:chExt cx="12960394" cy="143601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960394" cy="1436011"/>
            </a:xfrm>
            <a:custGeom>
              <a:avLst/>
              <a:gdLst/>
              <a:ahLst/>
              <a:cxnLst/>
              <a:rect l="l" t="t" r="r" b="b"/>
              <a:pathLst>
                <a:path w="12960394" h="1436011">
                  <a:moveTo>
                    <a:pt x="0" y="0"/>
                  </a:moveTo>
                  <a:lnTo>
                    <a:pt x="12960394" y="0"/>
                  </a:lnTo>
                  <a:lnTo>
                    <a:pt x="12960394" y="1436011"/>
                  </a:lnTo>
                  <a:lnTo>
                    <a:pt x="0" y="143601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9525"/>
              <a:ext cx="12960394" cy="1426486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>
                <a:lnSpc>
                  <a:spcPts val="1944"/>
                </a:lnSpc>
              </a:pPr>
              <a:r>
                <a:rPr lang="en-US" b="1">
                  <a:solidFill>
                    <a:srgbClr val="EBE5E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MULTIDISCIPLINARY </a:t>
              </a:r>
            </a:p>
            <a:p>
              <a:pPr>
                <a:lnSpc>
                  <a:spcPts val="1944"/>
                </a:lnSpc>
              </a:pPr>
              <a:r>
                <a:rPr lang="en-US" b="1">
                  <a:solidFill>
                    <a:srgbClr val="EBE5E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RESEARCH CONGRESS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15604" y="-64882"/>
            <a:ext cx="1653171" cy="906587"/>
            <a:chOff x="0" y="0"/>
            <a:chExt cx="3306342" cy="181317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306342" cy="1813173"/>
            </a:xfrm>
            <a:custGeom>
              <a:avLst/>
              <a:gdLst/>
              <a:ahLst/>
              <a:cxnLst/>
              <a:rect l="l" t="t" r="r" b="b"/>
              <a:pathLst>
                <a:path w="3306342" h="1813173">
                  <a:moveTo>
                    <a:pt x="0" y="0"/>
                  </a:moveTo>
                  <a:lnTo>
                    <a:pt x="3306342" y="0"/>
                  </a:lnTo>
                  <a:lnTo>
                    <a:pt x="3306342" y="1813173"/>
                  </a:lnTo>
                  <a:lnTo>
                    <a:pt x="0" y="18131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47625"/>
              <a:ext cx="3306342" cy="1765548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>
                <a:lnSpc>
                  <a:spcPts val="4320"/>
                </a:lnSpc>
              </a:pPr>
              <a:r>
                <a:rPr lang="en-US" sz="4000" b="1">
                  <a:solidFill>
                    <a:srgbClr val="EBE5E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SPAC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97523" y="5722826"/>
            <a:ext cx="1527239" cy="396621"/>
            <a:chOff x="0" y="0"/>
            <a:chExt cx="3054477" cy="79324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054477" cy="793242"/>
            </a:xfrm>
            <a:custGeom>
              <a:avLst/>
              <a:gdLst/>
              <a:ahLst/>
              <a:cxnLst/>
              <a:rect l="l" t="t" r="r" b="b"/>
              <a:pathLst>
                <a:path w="3054477" h="793242">
                  <a:moveTo>
                    <a:pt x="0" y="0"/>
                  </a:moveTo>
                  <a:lnTo>
                    <a:pt x="3054477" y="0"/>
                  </a:lnTo>
                  <a:lnTo>
                    <a:pt x="3054477" y="793242"/>
                  </a:lnTo>
                  <a:lnTo>
                    <a:pt x="0" y="793242"/>
                  </a:lnTo>
                  <a:close/>
                </a:path>
              </a:pathLst>
            </a:custGeom>
            <a:solidFill>
              <a:srgbClr val="EBBD1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820101" y="5712067"/>
            <a:ext cx="1482067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</a:pPr>
            <a:r>
              <a:rPr lang="en-US" b="1">
                <a:solidFill>
                  <a:srgbClr val="EBE5E5"/>
                </a:solidFill>
                <a:latin typeface="Britannic Bold"/>
                <a:ea typeface="Britannic Bold"/>
                <a:cs typeface="Britannic Bold"/>
                <a:sym typeface="Britannic Bold"/>
              </a:rPr>
              <a:t>ENLIGHTEN.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2324747" y="5722826"/>
            <a:ext cx="1570037" cy="396621"/>
            <a:chOff x="0" y="0"/>
            <a:chExt cx="3140075" cy="79324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140075" cy="793242"/>
            </a:xfrm>
            <a:custGeom>
              <a:avLst/>
              <a:gdLst/>
              <a:ahLst/>
              <a:cxnLst/>
              <a:rect l="l" t="t" r="r" b="b"/>
              <a:pathLst>
                <a:path w="3140075" h="793242">
                  <a:moveTo>
                    <a:pt x="0" y="0"/>
                  </a:moveTo>
                  <a:lnTo>
                    <a:pt x="3140075" y="0"/>
                  </a:lnTo>
                  <a:lnTo>
                    <a:pt x="3140075" y="793242"/>
                  </a:lnTo>
                  <a:lnTo>
                    <a:pt x="0" y="793242"/>
                  </a:lnTo>
                  <a:close/>
                </a:path>
              </a:pathLst>
            </a:custGeom>
            <a:solidFill>
              <a:srgbClr val="C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3" name="TextBox 23"/>
          <p:cNvSpPr txBox="1"/>
          <p:nvPr/>
        </p:nvSpPr>
        <p:spPr>
          <a:xfrm>
            <a:off x="2347326" y="5712067"/>
            <a:ext cx="1524857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2000" b="1">
                <a:solidFill>
                  <a:srgbClr val="EBE5E5"/>
                </a:solidFill>
                <a:latin typeface="Britannic Bold"/>
                <a:ea typeface="Britannic Bold"/>
                <a:cs typeface="Britannic Bold"/>
                <a:sym typeface="Britannic Bold"/>
              </a:rPr>
              <a:t>EMPOWER.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999319" y="6119684"/>
            <a:ext cx="1325435" cy="396621"/>
            <a:chOff x="0" y="0"/>
            <a:chExt cx="2650871" cy="79324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650871" cy="793242"/>
            </a:xfrm>
            <a:custGeom>
              <a:avLst/>
              <a:gdLst/>
              <a:ahLst/>
              <a:cxnLst/>
              <a:rect l="l" t="t" r="r" b="b"/>
              <a:pathLst>
                <a:path w="2650871" h="793242">
                  <a:moveTo>
                    <a:pt x="0" y="0"/>
                  </a:moveTo>
                  <a:lnTo>
                    <a:pt x="2650871" y="0"/>
                  </a:lnTo>
                  <a:lnTo>
                    <a:pt x="2650871" y="793242"/>
                  </a:lnTo>
                  <a:lnTo>
                    <a:pt x="0" y="793242"/>
                  </a:lnTo>
                  <a:close/>
                </a:path>
              </a:pathLst>
            </a:custGeom>
            <a:solidFill>
              <a:srgbClr val="0047B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6" name="TextBox 26"/>
          <p:cNvSpPr txBox="1"/>
          <p:nvPr/>
        </p:nvSpPr>
        <p:spPr>
          <a:xfrm>
            <a:off x="1021896" y="6108925"/>
            <a:ext cx="1280272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7"/>
              </a:lnSpc>
            </a:pPr>
            <a:r>
              <a:rPr lang="en-US" sz="2219" b="1">
                <a:solidFill>
                  <a:srgbClr val="EBE5E5"/>
                </a:solidFill>
                <a:latin typeface="Britannic Bold"/>
                <a:ea typeface="Britannic Bold"/>
                <a:cs typeface="Britannic Bold"/>
                <a:sym typeface="Britannic Bold"/>
              </a:rPr>
              <a:t>ENGAGE: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2324746" y="6118915"/>
            <a:ext cx="1476185" cy="396621"/>
            <a:chOff x="0" y="0"/>
            <a:chExt cx="2952370" cy="79324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952369" cy="793242"/>
            </a:xfrm>
            <a:custGeom>
              <a:avLst/>
              <a:gdLst/>
              <a:ahLst/>
              <a:cxnLst/>
              <a:rect l="l" t="t" r="r" b="b"/>
              <a:pathLst>
                <a:path w="2952369" h="793242">
                  <a:moveTo>
                    <a:pt x="0" y="0"/>
                  </a:moveTo>
                  <a:lnTo>
                    <a:pt x="2952369" y="0"/>
                  </a:lnTo>
                  <a:lnTo>
                    <a:pt x="2952369" y="793242"/>
                  </a:lnTo>
                  <a:lnTo>
                    <a:pt x="0" y="793242"/>
                  </a:lnTo>
                  <a:close/>
                </a:path>
              </a:pathLst>
            </a:custGeom>
            <a:solidFill>
              <a:srgbClr val="19191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9" name="TextBox 29"/>
          <p:cNvSpPr txBox="1"/>
          <p:nvPr/>
        </p:nvSpPr>
        <p:spPr>
          <a:xfrm>
            <a:off x="2347324" y="6108156"/>
            <a:ext cx="1431003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2000" b="1">
                <a:solidFill>
                  <a:srgbClr val="EBE5E5"/>
                </a:solidFill>
                <a:latin typeface="Britannic Bold"/>
                <a:ea typeface="Britannic Bold"/>
                <a:cs typeface="Britannic Bold"/>
                <a:sym typeface="Britannic Bold"/>
              </a:rPr>
              <a:t>I WILL GO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606116" y="6248524"/>
            <a:ext cx="5375784" cy="5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8"/>
              </a:lnSpc>
            </a:pPr>
            <a:r>
              <a:rPr lang="en-US" sz="3600" b="1">
                <a:solidFill>
                  <a:srgbClr val="EBE5E5"/>
                </a:solidFill>
                <a:latin typeface="Arimo Bold"/>
                <a:ea typeface="Arimo Bold"/>
                <a:cs typeface="Arimo Bold"/>
                <a:sym typeface="Arimo Bold"/>
              </a:rPr>
              <a:t>KALIMUHAGAN 2025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59937" y="5824793"/>
            <a:ext cx="1215772" cy="1333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69"/>
              </a:lnSpc>
            </a:pPr>
            <a:r>
              <a:rPr lang="en-US" sz="9600">
                <a:solidFill>
                  <a:srgbClr val="DFC991"/>
                </a:solidFill>
                <a:latin typeface="Arimo"/>
                <a:ea typeface="Arimo"/>
                <a:cs typeface="Arimo"/>
                <a:sym typeface="Arimo"/>
              </a:rPr>
              <a:t>“</a:t>
            </a:r>
          </a:p>
        </p:txBody>
      </p:sp>
      <p:sp>
        <p:nvSpPr>
          <p:cNvPr id="32" name="TextBox 32"/>
          <p:cNvSpPr txBox="1"/>
          <p:nvPr/>
        </p:nvSpPr>
        <p:spPr>
          <a:xfrm rot="-10800000">
            <a:off x="3293313" y="5658350"/>
            <a:ext cx="1215772" cy="1333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69"/>
              </a:lnSpc>
            </a:pPr>
            <a:r>
              <a:rPr lang="en-US" sz="9600">
                <a:solidFill>
                  <a:srgbClr val="DFC991"/>
                </a:solidFill>
                <a:latin typeface="Arimo"/>
                <a:ea typeface="Arimo"/>
                <a:cs typeface="Arimo"/>
                <a:sym typeface="Arimo"/>
              </a:rPr>
              <a:t>“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591101" y="288087"/>
            <a:ext cx="3850212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09"/>
              </a:lnSpc>
            </a:pPr>
            <a:r>
              <a:rPr lang="en-US" sz="3924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Results/Findings 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842069" y="5744573"/>
            <a:ext cx="4349931" cy="372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80"/>
              </a:lnSpc>
            </a:pPr>
            <a:r>
              <a:rPr lang="en-US" sz="1233" b="1" i="1">
                <a:solidFill>
                  <a:srgbClr val="001B44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Sources: Maddala &amp; Lahiri (2009) – CV threshold justification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776010" y="985984"/>
            <a:ext cx="3205890" cy="4385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19"/>
              </a:lnSpc>
            </a:pPr>
            <a:r>
              <a:rPr lang="en-US" sz="1600" b="1">
                <a:solidFill>
                  <a:srgbClr val="001B4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Threshold Calculation:</a:t>
            </a:r>
          </a:p>
          <a:p>
            <a:pPr marL="289574" lvl="1" indent="-144787">
              <a:lnSpc>
                <a:spcPts val="1919"/>
              </a:lnSpc>
              <a:buFont typeface="Arial"/>
              <a:buChar char="•"/>
            </a:pPr>
            <a:r>
              <a:rPr lang="en-US" sz="1600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75th percentile CV = 127.1%</a:t>
            </a:r>
          </a:p>
          <a:p>
            <a:pPr marL="289574" lvl="1" indent="-144787">
              <a:lnSpc>
                <a:spcPts val="1919"/>
              </a:lnSpc>
              <a:buFont typeface="Arial"/>
              <a:buChar char="•"/>
            </a:pPr>
            <a:r>
              <a:rPr lang="en-US" sz="1600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Justification: Identifies top 25% most variable regions for targeted intervention</a:t>
            </a:r>
          </a:p>
          <a:p>
            <a:pPr marL="289574" lvl="1" indent="-144787">
              <a:lnSpc>
                <a:spcPts val="1919"/>
              </a:lnSpc>
            </a:pPr>
            <a:r>
              <a:rPr lang="en-US" sz="1600" b="1">
                <a:solidFill>
                  <a:srgbClr val="001B4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Classification Outcomes:</a:t>
            </a:r>
          </a:p>
          <a:p>
            <a:pPr marL="289574" lvl="1" indent="-144787">
              <a:lnSpc>
                <a:spcPts val="1919"/>
              </a:lnSpc>
              <a:buFont typeface="Arial"/>
              <a:buChar char="•"/>
            </a:pPr>
            <a:r>
              <a:rPr lang="en-US" sz="1600" b="1">
                <a:solidFill>
                  <a:srgbClr val="001B4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VOLATILE REGIONS (4 regions):</a:t>
            </a:r>
          </a:p>
          <a:p>
            <a:pPr marL="289574" lvl="1" indent="-144787">
              <a:lnSpc>
                <a:spcPts val="1919"/>
              </a:lnSpc>
              <a:buFont typeface="Arial"/>
              <a:buChar char="•"/>
            </a:pPr>
            <a:r>
              <a:rPr lang="en-US" sz="1600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NCR (National Capital Region) - CV: 135.2%</a:t>
            </a:r>
          </a:p>
          <a:p>
            <a:pPr marL="289574" lvl="1" indent="-144787">
              <a:lnSpc>
                <a:spcPts val="1919"/>
              </a:lnSpc>
              <a:buFont typeface="Arial"/>
              <a:buChar char="•"/>
            </a:pPr>
            <a:r>
              <a:rPr lang="en-US" sz="1600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Region IVA (CALABARZON) - CV: 133.8%</a:t>
            </a:r>
          </a:p>
          <a:p>
            <a:pPr marL="289574" lvl="1" indent="-144787">
              <a:lnSpc>
                <a:spcPts val="1919"/>
              </a:lnSpc>
              <a:buFont typeface="Arial"/>
              <a:buChar char="•"/>
            </a:pPr>
            <a:r>
              <a:rPr lang="en-US" sz="1600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Region III (Central Luzon) - CV: 129.4%</a:t>
            </a:r>
          </a:p>
          <a:p>
            <a:pPr marL="289574" lvl="1" indent="-144787">
              <a:lnSpc>
                <a:spcPts val="1919"/>
              </a:lnSpc>
              <a:buFont typeface="Arial"/>
              <a:buChar char="•"/>
            </a:pPr>
            <a:r>
              <a:rPr lang="en-US" sz="1600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Region VII (Central Visayas) - CV: 128.1%</a:t>
            </a:r>
          </a:p>
          <a:p>
            <a:pPr marL="289574" lvl="1" indent="-144787">
              <a:lnSpc>
                <a:spcPts val="1919"/>
              </a:lnSpc>
            </a:pPr>
            <a:r>
              <a:rPr lang="en-US" sz="1600" b="1">
                <a:solidFill>
                  <a:srgbClr val="001B4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STABLE REGIONS (13 regions):</a:t>
            </a:r>
          </a:p>
          <a:p>
            <a:pPr marL="289574" lvl="1" indent="-144787">
              <a:lnSpc>
                <a:spcPts val="1919"/>
              </a:lnSpc>
              <a:buFont typeface="Arial"/>
              <a:buChar char="•"/>
            </a:pPr>
            <a:r>
              <a:rPr lang="en-US" sz="1600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other regions (CV ≤ 127.1%)</a:t>
            </a:r>
          </a:p>
        </p:txBody>
      </p:sp>
      <p:grpSp>
        <p:nvGrpSpPr>
          <p:cNvPr id="36" name="Group 36"/>
          <p:cNvGrpSpPr>
            <a:grpSpLocks noChangeAspect="1"/>
          </p:cNvGrpSpPr>
          <p:nvPr/>
        </p:nvGrpSpPr>
        <p:grpSpPr>
          <a:xfrm>
            <a:off x="95559" y="1077415"/>
            <a:ext cx="8438955" cy="4224589"/>
            <a:chOff x="0" y="0"/>
            <a:chExt cx="16877910" cy="8449178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6877919" cy="8449183"/>
            </a:xfrm>
            <a:custGeom>
              <a:avLst/>
              <a:gdLst/>
              <a:ahLst/>
              <a:cxnLst/>
              <a:rect l="l" t="t" r="r" b="b"/>
              <a:pathLst>
                <a:path w="16877919" h="8449183">
                  <a:moveTo>
                    <a:pt x="0" y="0"/>
                  </a:moveTo>
                  <a:lnTo>
                    <a:pt x="16877919" y="0"/>
                  </a:lnTo>
                  <a:lnTo>
                    <a:pt x="16877919" y="8449183"/>
                  </a:lnTo>
                  <a:lnTo>
                    <a:pt x="0" y="84491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38" name="TextBox 38"/>
          <p:cNvSpPr txBox="1"/>
          <p:nvPr/>
        </p:nvSpPr>
        <p:spPr>
          <a:xfrm>
            <a:off x="252947" y="5459631"/>
            <a:ext cx="3670308" cy="180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80"/>
              </a:lnSpc>
            </a:pPr>
            <a:r>
              <a:rPr lang="en-US" sz="1233" b="1" i="1">
                <a:solidFill>
                  <a:srgbClr val="001B44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Figure 3: Volatility Classfication Result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3819494" y="-4780589"/>
            <a:ext cx="1880171" cy="9519157"/>
            <a:chOff x="0" y="0"/>
            <a:chExt cx="3760343" cy="190383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60343" cy="19038315"/>
            </a:xfrm>
            <a:custGeom>
              <a:avLst/>
              <a:gdLst/>
              <a:ahLst/>
              <a:cxnLst/>
              <a:rect l="l" t="t" r="r" b="b"/>
              <a:pathLst>
                <a:path w="3760343" h="19038315">
                  <a:moveTo>
                    <a:pt x="0" y="0"/>
                  </a:moveTo>
                  <a:lnTo>
                    <a:pt x="3760343" y="0"/>
                  </a:lnTo>
                  <a:lnTo>
                    <a:pt x="3760343" y="15230602"/>
                  </a:lnTo>
                  <a:lnTo>
                    <a:pt x="1880235" y="19038315"/>
                  </a:lnTo>
                  <a:lnTo>
                    <a:pt x="0" y="15230602"/>
                  </a:lnTo>
                  <a:close/>
                </a:path>
              </a:pathLst>
            </a:custGeom>
            <a:solidFill>
              <a:srgbClr val="002D7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 rot="5400000">
            <a:off x="8579010" y="2124467"/>
            <a:ext cx="1880235" cy="9519159"/>
            <a:chOff x="0" y="0"/>
            <a:chExt cx="3760470" cy="1903831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760470" cy="19038317"/>
            </a:xfrm>
            <a:custGeom>
              <a:avLst/>
              <a:gdLst/>
              <a:ahLst/>
              <a:cxnLst/>
              <a:rect l="l" t="t" r="r" b="b"/>
              <a:pathLst>
                <a:path w="3760470" h="19038317">
                  <a:moveTo>
                    <a:pt x="3760343" y="0"/>
                  </a:moveTo>
                  <a:lnTo>
                    <a:pt x="0" y="0"/>
                  </a:lnTo>
                  <a:lnTo>
                    <a:pt x="0" y="15230602"/>
                  </a:lnTo>
                  <a:lnTo>
                    <a:pt x="1880235" y="19038317"/>
                  </a:lnTo>
                  <a:lnTo>
                    <a:pt x="3760470" y="15230602"/>
                  </a:lnTo>
                  <a:close/>
                </a:path>
              </a:pathLst>
            </a:custGeom>
            <a:solidFill>
              <a:srgbClr val="002D7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5250264" y="36715"/>
            <a:ext cx="887349" cy="784797"/>
            <a:chOff x="0" y="0"/>
            <a:chExt cx="1774698" cy="156959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74698" cy="1569593"/>
            </a:xfrm>
            <a:custGeom>
              <a:avLst/>
              <a:gdLst/>
              <a:ahLst/>
              <a:cxnLst/>
              <a:rect l="l" t="t" r="r" b="b"/>
              <a:pathLst>
                <a:path w="1774698" h="1569593">
                  <a:moveTo>
                    <a:pt x="0" y="0"/>
                  </a:moveTo>
                  <a:lnTo>
                    <a:pt x="1774698" y="0"/>
                  </a:lnTo>
                  <a:lnTo>
                    <a:pt x="1774698" y="1569593"/>
                  </a:lnTo>
                  <a:lnTo>
                    <a:pt x="0" y="15695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0" b="-10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6231928" y="-10604"/>
            <a:ext cx="955548" cy="931672"/>
            <a:chOff x="0" y="0"/>
            <a:chExt cx="1911096" cy="186334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11096" cy="1863344"/>
            </a:xfrm>
            <a:custGeom>
              <a:avLst/>
              <a:gdLst/>
              <a:ahLst/>
              <a:cxnLst/>
              <a:rect l="l" t="t" r="r" b="b"/>
              <a:pathLst>
                <a:path w="1911096" h="1863344">
                  <a:moveTo>
                    <a:pt x="0" y="0"/>
                  </a:moveTo>
                  <a:lnTo>
                    <a:pt x="1911096" y="0"/>
                  </a:lnTo>
                  <a:lnTo>
                    <a:pt x="1911096" y="1863344"/>
                  </a:lnTo>
                  <a:lnTo>
                    <a:pt x="0" y="1863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15" b="-115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98977" y="391284"/>
            <a:ext cx="1035539" cy="768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lang="en-US" sz="6875" b="1" spc="-17">
                <a:solidFill>
                  <a:srgbClr val="FFE766"/>
                </a:solidFill>
                <a:latin typeface="DG Ghareeb Bold"/>
                <a:ea typeface="DG Ghareeb Bold"/>
                <a:cs typeface="DG Ghareeb Bold"/>
                <a:sym typeface="DG Ghareeb Bold"/>
              </a:rPr>
              <a:t>3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25147" y="289351"/>
            <a:ext cx="769306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28"/>
              </a:lnSpc>
            </a:pPr>
            <a:r>
              <a:rPr lang="en-US" sz="1600" b="1">
                <a:solidFill>
                  <a:srgbClr val="EBE5E5"/>
                </a:solidFill>
                <a:latin typeface="Arimo Bold"/>
                <a:ea typeface="Arimo Bold"/>
                <a:cs typeface="Arimo Bold"/>
                <a:sym typeface="Arimo Bold"/>
              </a:rPr>
              <a:t>rd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2530375" y="98220"/>
            <a:ext cx="6480197" cy="718005"/>
            <a:chOff x="0" y="0"/>
            <a:chExt cx="12960394" cy="143601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960394" cy="1436011"/>
            </a:xfrm>
            <a:custGeom>
              <a:avLst/>
              <a:gdLst/>
              <a:ahLst/>
              <a:cxnLst/>
              <a:rect l="l" t="t" r="r" b="b"/>
              <a:pathLst>
                <a:path w="12960394" h="1436011">
                  <a:moveTo>
                    <a:pt x="0" y="0"/>
                  </a:moveTo>
                  <a:lnTo>
                    <a:pt x="12960394" y="0"/>
                  </a:lnTo>
                  <a:lnTo>
                    <a:pt x="12960394" y="1436011"/>
                  </a:lnTo>
                  <a:lnTo>
                    <a:pt x="0" y="143601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9525"/>
              <a:ext cx="12960394" cy="1426486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>
                <a:lnSpc>
                  <a:spcPts val="1944"/>
                </a:lnSpc>
              </a:pPr>
              <a:r>
                <a:rPr lang="en-US" b="1">
                  <a:solidFill>
                    <a:srgbClr val="EBE5E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MULTIDISCIPLINARY </a:t>
              </a:r>
            </a:p>
            <a:p>
              <a:pPr>
                <a:lnSpc>
                  <a:spcPts val="1944"/>
                </a:lnSpc>
              </a:pPr>
              <a:r>
                <a:rPr lang="en-US" b="1">
                  <a:solidFill>
                    <a:srgbClr val="EBE5E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RESEARCH CONGRESS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15604" y="-64882"/>
            <a:ext cx="1653171" cy="906587"/>
            <a:chOff x="0" y="0"/>
            <a:chExt cx="3306342" cy="181317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306342" cy="1813173"/>
            </a:xfrm>
            <a:custGeom>
              <a:avLst/>
              <a:gdLst/>
              <a:ahLst/>
              <a:cxnLst/>
              <a:rect l="l" t="t" r="r" b="b"/>
              <a:pathLst>
                <a:path w="3306342" h="1813173">
                  <a:moveTo>
                    <a:pt x="0" y="0"/>
                  </a:moveTo>
                  <a:lnTo>
                    <a:pt x="3306342" y="0"/>
                  </a:lnTo>
                  <a:lnTo>
                    <a:pt x="3306342" y="1813173"/>
                  </a:lnTo>
                  <a:lnTo>
                    <a:pt x="0" y="18131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47625"/>
              <a:ext cx="3306342" cy="1765548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>
                <a:lnSpc>
                  <a:spcPts val="4320"/>
                </a:lnSpc>
              </a:pPr>
              <a:r>
                <a:rPr lang="en-US" sz="4000" b="1">
                  <a:solidFill>
                    <a:srgbClr val="EBE5E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SPAC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6606116" y="6248524"/>
            <a:ext cx="5375784" cy="5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8"/>
              </a:lnSpc>
            </a:pPr>
            <a:r>
              <a:rPr lang="en-US" sz="3600" b="1">
                <a:solidFill>
                  <a:srgbClr val="EBE5E5"/>
                </a:solidFill>
                <a:latin typeface="Arimo Bold"/>
                <a:ea typeface="Arimo Bold"/>
                <a:cs typeface="Arimo Bold"/>
                <a:sym typeface="Arimo Bold"/>
              </a:rPr>
              <a:t>KALIMUHAGAN 2025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797523" y="5722826"/>
            <a:ext cx="1527239" cy="396621"/>
            <a:chOff x="0" y="0"/>
            <a:chExt cx="3054477" cy="79324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054477" cy="793242"/>
            </a:xfrm>
            <a:custGeom>
              <a:avLst/>
              <a:gdLst/>
              <a:ahLst/>
              <a:cxnLst/>
              <a:rect l="l" t="t" r="r" b="b"/>
              <a:pathLst>
                <a:path w="3054477" h="793242">
                  <a:moveTo>
                    <a:pt x="0" y="0"/>
                  </a:moveTo>
                  <a:lnTo>
                    <a:pt x="3054477" y="0"/>
                  </a:lnTo>
                  <a:lnTo>
                    <a:pt x="3054477" y="793242"/>
                  </a:lnTo>
                  <a:lnTo>
                    <a:pt x="0" y="793242"/>
                  </a:lnTo>
                  <a:close/>
                </a:path>
              </a:pathLst>
            </a:custGeom>
            <a:solidFill>
              <a:srgbClr val="EBBD1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1" name="TextBox 21"/>
          <p:cNvSpPr txBox="1"/>
          <p:nvPr/>
        </p:nvSpPr>
        <p:spPr>
          <a:xfrm>
            <a:off x="820101" y="5712067"/>
            <a:ext cx="1482067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</a:pPr>
            <a:r>
              <a:rPr lang="en-US" b="1">
                <a:solidFill>
                  <a:srgbClr val="EBE5E5"/>
                </a:solidFill>
                <a:latin typeface="Britannic Bold"/>
                <a:ea typeface="Britannic Bold"/>
                <a:cs typeface="Britannic Bold"/>
                <a:sym typeface="Britannic Bold"/>
              </a:rPr>
              <a:t>ENLIGHTEN.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2324747" y="5722826"/>
            <a:ext cx="1570037" cy="396621"/>
            <a:chOff x="0" y="0"/>
            <a:chExt cx="3140075" cy="79324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140075" cy="793242"/>
            </a:xfrm>
            <a:custGeom>
              <a:avLst/>
              <a:gdLst/>
              <a:ahLst/>
              <a:cxnLst/>
              <a:rect l="l" t="t" r="r" b="b"/>
              <a:pathLst>
                <a:path w="3140075" h="793242">
                  <a:moveTo>
                    <a:pt x="0" y="0"/>
                  </a:moveTo>
                  <a:lnTo>
                    <a:pt x="3140075" y="0"/>
                  </a:lnTo>
                  <a:lnTo>
                    <a:pt x="3140075" y="793242"/>
                  </a:lnTo>
                  <a:lnTo>
                    <a:pt x="0" y="793242"/>
                  </a:lnTo>
                  <a:close/>
                </a:path>
              </a:pathLst>
            </a:custGeom>
            <a:solidFill>
              <a:srgbClr val="C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4" name="TextBox 24"/>
          <p:cNvSpPr txBox="1"/>
          <p:nvPr/>
        </p:nvSpPr>
        <p:spPr>
          <a:xfrm>
            <a:off x="2347326" y="5712067"/>
            <a:ext cx="1524857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2000" b="1">
                <a:solidFill>
                  <a:srgbClr val="EBE5E5"/>
                </a:solidFill>
                <a:latin typeface="Britannic Bold"/>
                <a:ea typeface="Britannic Bold"/>
                <a:cs typeface="Britannic Bold"/>
                <a:sym typeface="Britannic Bold"/>
              </a:rPr>
              <a:t>EMPOWER.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999319" y="6119684"/>
            <a:ext cx="1325435" cy="396621"/>
            <a:chOff x="0" y="0"/>
            <a:chExt cx="2650871" cy="79324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650871" cy="793242"/>
            </a:xfrm>
            <a:custGeom>
              <a:avLst/>
              <a:gdLst/>
              <a:ahLst/>
              <a:cxnLst/>
              <a:rect l="l" t="t" r="r" b="b"/>
              <a:pathLst>
                <a:path w="2650871" h="793242">
                  <a:moveTo>
                    <a:pt x="0" y="0"/>
                  </a:moveTo>
                  <a:lnTo>
                    <a:pt x="2650871" y="0"/>
                  </a:lnTo>
                  <a:lnTo>
                    <a:pt x="2650871" y="793242"/>
                  </a:lnTo>
                  <a:lnTo>
                    <a:pt x="0" y="793242"/>
                  </a:lnTo>
                  <a:close/>
                </a:path>
              </a:pathLst>
            </a:custGeom>
            <a:solidFill>
              <a:srgbClr val="0047B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7" name="TextBox 27"/>
          <p:cNvSpPr txBox="1"/>
          <p:nvPr/>
        </p:nvSpPr>
        <p:spPr>
          <a:xfrm>
            <a:off x="1021896" y="6108925"/>
            <a:ext cx="1280272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7"/>
              </a:lnSpc>
            </a:pPr>
            <a:r>
              <a:rPr lang="en-US" sz="2219" b="1">
                <a:solidFill>
                  <a:srgbClr val="EBE5E5"/>
                </a:solidFill>
                <a:latin typeface="Britannic Bold"/>
                <a:ea typeface="Britannic Bold"/>
                <a:cs typeface="Britannic Bold"/>
                <a:sym typeface="Britannic Bold"/>
              </a:rPr>
              <a:t>ENGAGE: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2324746" y="6118915"/>
            <a:ext cx="1476185" cy="396621"/>
            <a:chOff x="0" y="0"/>
            <a:chExt cx="2952370" cy="79324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952369" cy="793242"/>
            </a:xfrm>
            <a:custGeom>
              <a:avLst/>
              <a:gdLst/>
              <a:ahLst/>
              <a:cxnLst/>
              <a:rect l="l" t="t" r="r" b="b"/>
              <a:pathLst>
                <a:path w="2952369" h="793242">
                  <a:moveTo>
                    <a:pt x="0" y="0"/>
                  </a:moveTo>
                  <a:lnTo>
                    <a:pt x="2952369" y="0"/>
                  </a:lnTo>
                  <a:lnTo>
                    <a:pt x="2952369" y="793242"/>
                  </a:lnTo>
                  <a:lnTo>
                    <a:pt x="0" y="793242"/>
                  </a:lnTo>
                  <a:close/>
                </a:path>
              </a:pathLst>
            </a:custGeom>
            <a:solidFill>
              <a:srgbClr val="19191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30" name="TextBox 30"/>
          <p:cNvSpPr txBox="1"/>
          <p:nvPr/>
        </p:nvSpPr>
        <p:spPr>
          <a:xfrm>
            <a:off x="2347324" y="6108156"/>
            <a:ext cx="1431003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2000" b="1">
                <a:solidFill>
                  <a:srgbClr val="EBE5E5"/>
                </a:solidFill>
                <a:latin typeface="Britannic Bold"/>
                <a:ea typeface="Britannic Bold"/>
                <a:cs typeface="Britannic Bold"/>
                <a:sym typeface="Britannic Bold"/>
              </a:rPr>
              <a:t>I WILL GO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59937" y="5824793"/>
            <a:ext cx="1215772" cy="1333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69"/>
              </a:lnSpc>
            </a:pPr>
            <a:r>
              <a:rPr lang="en-US" sz="9600">
                <a:solidFill>
                  <a:srgbClr val="DFC991"/>
                </a:solidFill>
                <a:latin typeface="Arimo"/>
                <a:ea typeface="Arimo"/>
                <a:cs typeface="Arimo"/>
                <a:sym typeface="Arimo"/>
              </a:rPr>
              <a:t>“</a:t>
            </a:r>
          </a:p>
        </p:txBody>
      </p:sp>
      <p:sp>
        <p:nvSpPr>
          <p:cNvPr id="32" name="TextBox 32"/>
          <p:cNvSpPr txBox="1"/>
          <p:nvPr/>
        </p:nvSpPr>
        <p:spPr>
          <a:xfrm rot="-10800000">
            <a:off x="3293313" y="5658350"/>
            <a:ext cx="1215772" cy="1333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69"/>
              </a:lnSpc>
            </a:pPr>
            <a:r>
              <a:rPr lang="en-US" sz="9600">
                <a:solidFill>
                  <a:srgbClr val="DFC991"/>
                </a:solidFill>
                <a:latin typeface="Arimo"/>
                <a:ea typeface="Arimo"/>
                <a:cs typeface="Arimo"/>
                <a:sym typeface="Arimo"/>
              </a:rPr>
              <a:t>“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84525" y="973477"/>
            <a:ext cx="1798275" cy="3878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99"/>
              </a:lnSpc>
            </a:pPr>
            <a:r>
              <a:rPr lang="en-US" sz="2666" dirty="0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84525" y="1519557"/>
            <a:ext cx="6902959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00"/>
              </a:lnSpc>
            </a:pPr>
            <a:r>
              <a:rPr lang="en-US" sz="2000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study successfully developed a dual-method framework that: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84525" y="2008489"/>
            <a:ext cx="4475044" cy="242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99"/>
              </a:lnSpc>
            </a:pPr>
            <a:r>
              <a:rPr lang="en-US" sz="1666" b="1">
                <a:solidFill>
                  <a:srgbClr val="001B4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1. Accurately forecasts regional K-12 enrollment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84525" y="2332376"/>
            <a:ext cx="4475044" cy="809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5200" lvl="2" indent="-128400">
              <a:lnSpc>
                <a:spcPts val="1599"/>
              </a:lnSpc>
              <a:buFont typeface="Arial"/>
              <a:buChar char="⚬"/>
            </a:pPr>
            <a:r>
              <a:rPr lang="en-US" sz="1333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Random Forest: 98.74% accuracy (R² = 0.9874)</a:t>
            </a:r>
          </a:p>
          <a:p>
            <a:pPr marL="385200" lvl="2" indent="-128400">
              <a:lnSpc>
                <a:spcPts val="1599"/>
              </a:lnSpc>
              <a:buFont typeface="Arial"/>
              <a:buChar char="⚬"/>
            </a:pPr>
            <a:r>
              <a:rPr lang="en-US" sz="1333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MAE = 46,313 students (~8.9% error rate)</a:t>
            </a:r>
          </a:p>
          <a:p>
            <a:pPr marL="385200" lvl="2" indent="-128400">
              <a:lnSpc>
                <a:spcPts val="1599"/>
              </a:lnSpc>
              <a:buFont typeface="Arial"/>
              <a:buChar char="⚬"/>
            </a:pPr>
            <a:r>
              <a:rPr lang="en-US" sz="1333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Validated on 2020-2021 pandemic years</a:t>
            </a:r>
          </a:p>
          <a:p>
            <a:pPr marL="385200" lvl="2" indent="-128400">
              <a:lnSpc>
                <a:spcPts val="1599"/>
              </a:lnSpc>
              <a:buFont typeface="Arial"/>
              <a:buChar char="⚬"/>
            </a:pPr>
            <a:r>
              <a:rPr lang="en-US" sz="1333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4× more accurate than traditional methods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91387" y="3786634"/>
            <a:ext cx="4754777" cy="242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99"/>
              </a:lnSpc>
            </a:pPr>
            <a:r>
              <a:rPr lang="en-US" sz="1666" b="1">
                <a:solidFill>
                  <a:srgbClr val="001B4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2. Empirically classifies regional volatility patterns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91387" y="4110520"/>
            <a:ext cx="4224560" cy="1014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5200" lvl="2" indent="-128400">
              <a:lnSpc>
                <a:spcPts val="1599"/>
              </a:lnSpc>
              <a:buFont typeface="Arial"/>
              <a:buChar char="⚬"/>
            </a:pPr>
            <a:r>
              <a:rPr lang="en-US" sz="1333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volatile regions identified: NCR, CALABARZON, Central Luzon, Central Visayas</a:t>
            </a:r>
          </a:p>
          <a:p>
            <a:pPr marL="385200" lvl="2" indent="-128400">
              <a:lnSpc>
                <a:spcPts val="1599"/>
              </a:lnSpc>
              <a:buFont typeface="Arial"/>
              <a:buChar char="⚬"/>
            </a:pPr>
            <a:r>
              <a:rPr lang="en-US" sz="1333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 stable regions with predictable patterns</a:t>
            </a:r>
          </a:p>
          <a:p>
            <a:pPr marL="385200" lvl="2" indent="-128400">
              <a:lnSpc>
                <a:spcPts val="1599"/>
              </a:lnSpc>
              <a:buFont typeface="Arial"/>
              <a:buChar char="⚬"/>
            </a:pPr>
            <a:r>
              <a:rPr lang="en-US" sz="1333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Volatile regions show 1.53× higher variability</a:t>
            </a:r>
          </a:p>
          <a:p>
            <a:pPr marL="385200" lvl="2" indent="-128400">
              <a:lnSpc>
                <a:spcPts val="1599"/>
              </a:lnSpc>
              <a:buFont typeface="Arial"/>
              <a:buChar char="⚬"/>
            </a:pPr>
            <a:r>
              <a:rPr lang="en-US" sz="1333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Enables differentiated planning strategies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250264" y="2008489"/>
            <a:ext cx="5482131" cy="242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99"/>
              </a:lnSpc>
            </a:pPr>
            <a:r>
              <a:rPr lang="en-US" sz="1666" b="1">
                <a:solidFill>
                  <a:srgbClr val="001B4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3. Provides actionable, evidence-based planning framework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250264" y="2332376"/>
            <a:ext cx="5393522" cy="809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5200" lvl="2" indent="-128400">
              <a:lnSpc>
                <a:spcPts val="1599"/>
              </a:lnSpc>
              <a:buFont typeface="Arial"/>
              <a:buChar char="⚬"/>
            </a:pPr>
            <a:r>
              <a:rPr lang="en-US" sz="1333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Replaces: Reactive crisis management</a:t>
            </a:r>
          </a:p>
          <a:p>
            <a:pPr marL="385200" lvl="2" indent="-128400">
              <a:lnSpc>
                <a:spcPts val="1599"/>
              </a:lnSpc>
              <a:buFont typeface="Arial"/>
              <a:buChar char="⚬"/>
            </a:pPr>
            <a:r>
              <a:rPr lang="en-US" sz="1333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With: Proactive data-driven forecasting</a:t>
            </a:r>
          </a:p>
          <a:p>
            <a:pPr marL="385200" lvl="2" indent="-128400">
              <a:lnSpc>
                <a:spcPts val="1599"/>
              </a:lnSpc>
              <a:buFont typeface="Arial"/>
              <a:buChar char="⚬"/>
            </a:pPr>
            <a:r>
              <a:rPr lang="en-US" sz="1333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Result: Efficient resource allocation + educational equity</a:t>
            </a:r>
          </a:p>
          <a:p>
            <a:pPr marL="385200" lvl="2" indent="-128400">
              <a:lnSpc>
                <a:spcPts val="1599"/>
              </a:lnSpc>
              <a:buFont typeface="Arial"/>
              <a:buChar char="⚬"/>
            </a:pPr>
            <a:r>
              <a:rPr lang="en-US" sz="1333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Impact: Prevents 2-3 month hiring delays, reduces overcrowding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389278" y="3541666"/>
            <a:ext cx="5482131" cy="290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399"/>
              </a:lnSpc>
            </a:pPr>
            <a:r>
              <a:rPr lang="en-US" sz="1999" b="1">
                <a:solidFill>
                  <a:srgbClr val="001B4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Broader Impact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389278" y="3813943"/>
            <a:ext cx="5482131" cy="1029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5284" lvl="2" indent="-168428">
              <a:lnSpc>
                <a:spcPts val="2799"/>
              </a:lnSpc>
              <a:buFont typeface="Arial"/>
              <a:buChar char="⚬"/>
            </a:pPr>
            <a:r>
              <a:rPr lang="en-US" sz="1400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First comprehensive forecasting system for Philippine education</a:t>
            </a:r>
          </a:p>
          <a:p>
            <a:pPr marL="505284" lvl="2" indent="-168428">
              <a:lnSpc>
                <a:spcPts val="2799"/>
              </a:lnSpc>
              <a:buFont typeface="Arial"/>
              <a:buChar char="⚬"/>
            </a:pPr>
            <a:r>
              <a:rPr lang="en-US" sz="1400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 generalizable to other countries</a:t>
            </a:r>
          </a:p>
          <a:p>
            <a:pPr marL="505284" lvl="2" indent="-168428">
              <a:lnSpc>
                <a:spcPts val="2799"/>
              </a:lnSpc>
              <a:buFont typeface="Arial"/>
              <a:buChar char="⚬"/>
            </a:pPr>
            <a:r>
              <a:rPr lang="en-US" sz="1400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Framework ready for immediate DepEd implementation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947026" y="5679059"/>
            <a:ext cx="3486005" cy="446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60"/>
              </a:lnSpc>
            </a:pPr>
            <a:r>
              <a:rPr lang="en-US" sz="1467" i="1">
                <a:solidFill>
                  <a:srgbClr val="002D7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Source: UNESCO (2010); World Bank (2018).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3819494" y="-4780589"/>
            <a:ext cx="1880171" cy="9519157"/>
            <a:chOff x="0" y="0"/>
            <a:chExt cx="3760343" cy="190383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60343" cy="19038315"/>
            </a:xfrm>
            <a:custGeom>
              <a:avLst/>
              <a:gdLst/>
              <a:ahLst/>
              <a:cxnLst/>
              <a:rect l="l" t="t" r="r" b="b"/>
              <a:pathLst>
                <a:path w="3760343" h="19038315">
                  <a:moveTo>
                    <a:pt x="0" y="0"/>
                  </a:moveTo>
                  <a:lnTo>
                    <a:pt x="3760343" y="0"/>
                  </a:lnTo>
                  <a:lnTo>
                    <a:pt x="3760343" y="15230602"/>
                  </a:lnTo>
                  <a:lnTo>
                    <a:pt x="1880235" y="19038315"/>
                  </a:lnTo>
                  <a:lnTo>
                    <a:pt x="0" y="15230602"/>
                  </a:lnTo>
                  <a:close/>
                </a:path>
              </a:pathLst>
            </a:custGeom>
            <a:solidFill>
              <a:srgbClr val="002D7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 rot="5400000">
            <a:off x="8579010" y="2124467"/>
            <a:ext cx="1880235" cy="9519159"/>
            <a:chOff x="0" y="0"/>
            <a:chExt cx="3760470" cy="1903831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760470" cy="19038317"/>
            </a:xfrm>
            <a:custGeom>
              <a:avLst/>
              <a:gdLst/>
              <a:ahLst/>
              <a:cxnLst/>
              <a:rect l="l" t="t" r="r" b="b"/>
              <a:pathLst>
                <a:path w="3760470" h="19038317">
                  <a:moveTo>
                    <a:pt x="3760343" y="0"/>
                  </a:moveTo>
                  <a:lnTo>
                    <a:pt x="0" y="0"/>
                  </a:lnTo>
                  <a:lnTo>
                    <a:pt x="0" y="15230602"/>
                  </a:lnTo>
                  <a:lnTo>
                    <a:pt x="1880235" y="19038317"/>
                  </a:lnTo>
                  <a:lnTo>
                    <a:pt x="3760470" y="15230602"/>
                  </a:lnTo>
                  <a:close/>
                </a:path>
              </a:pathLst>
            </a:custGeom>
            <a:solidFill>
              <a:srgbClr val="002D7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5250264" y="36715"/>
            <a:ext cx="887349" cy="784797"/>
            <a:chOff x="0" y="0"/>
            <a:chExt cx="1774698" cy="156959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74698" cy="1569593"/>
            </a:xfrm>
            <a:custGeom>
              <a:avLst/>
              <a:gdLst/>
              <a:ahLst/>
              <a:cxnLst/>
              <a:rect l="l" t="t" r="r" b="b"/>
              <a:pathLst>
                <a:path w="1774698" h="1569593">
                  <a:moveTo>
                    <a:pt x="0" y="0"/>
                  </a:moveTo>
                  <a:lnTo>
                    <a:pt x="1774698" y="0"/>
                  </a:lnTo>
                  <a:lnTo>
                    <a:pt x="1774698" y="1569593"/>
                  </a:lnTo>
                  <a:lnTo>
                    <a:pt x="0" y="15695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0" b="-10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6231928" y="-10604"/>
            <a:ext cx="955548" cy="931672"/>
            <a:chOff x="0" y="0"/>
            <a:chExt cx="1911096" cy="186334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11096" cy="1863344"/>
            </a:xfrm>
            <a:custGeom>
              <a:avLst/>
              <a:gdLst/>
              <a:ahLst/>
              <a:cxnLst/>
              <a:rect l="l" t="t" r="r" b="b"/>
              <a:pathLst>
                <a:path w="1911096" h="1863344">
                  <a:moveTo>
                    <a:pt x="0" y="0"/>
                  </a:moveTo>
                  <a:lnTo>
                    <a:pt x="1911096" y="0"/>
                  </a:lnTo>
                  <a:lnTo>
                    <a:pt x="1911096" y="1863344"/>
                  </a:lnTo>
                  <a:lnTo>
                    <a:pt x="0" y="1863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15" b="-115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98977" y="391284"/>
            <a:ext cx="1035539" cy="768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lang="en-US" sz="6875" b="1" spc="-17">
                <a:solidFill>
                  <a:srgbClr val="FFE766"/>
                </a:solidFill>
                <a:latin typeface="DG Ghareeb Bold"/>
                <a:ea typeface="DG Ghareeb Bold"/>
                <a:cs typeface="DG Ghareeb Bold"/>
                <a:sym typeface="DG Ghareeb Bold"/>
              </a:rPr>
              <a:t>3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25147" y="289351"/>
            <a:ext cx="769306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28"/>
              </a:lnSpc>
            </a:pPr>
            <a:r>
              <a:rPr lang="en-US" sz="1600" b="1">
                <a:solidFill>
                  <a:srgbClr val="EBE5E5"/>
                </a:solidFill>
                <a:latin typeface="Arimo Bold"/>
                <a:ea typeface="Arimo Bold"/>
                <a:cs typeface="Arimo Bold"/>
                <a:sym typeface="Arimo Bold"/>
              </a:rPr>
              <a:t>rd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2530375" y="98220"/>
            <a:ext cx="6480197" cy="718005"/>
            <a:chOff x="0" y="0"/>
            <a:chExt cx="12960394" cy="143601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960394" cy="1436011"/>
            </a:xfrm>
            <a:custGeom>
              <a:avLst/>
              <a:gdLst/>
              <a:ahLst/>
              <a:cxnLst/>
              <a:rect l="l" t="t" r="r" b="b"/>
              <a:pathLst>
                <a:path w="12960394" h="1436011">
                  <a:moveTo>
                    <a:pt x="0" y="0"/>
                  </a:moveTo>
                  <a:lnTo>
                    <a:pt x="12960394" y="0"/>
                  </a:lnTo>
                  <a:lnTo>
                    <a:pt x="12960394" y="1436011"/>
                  </a:lnTo>
                  <a:lnTo>
                    <a:pt x="0" y="143601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9525"/>
              <a:ext cx="12960394" cy="1426486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>
                <a:lnSpc>
                  <a:spcPts val="1944"/>
                </a:lnSpc>
              </a:pPr>
              <a:r>
                <a:rPr lang="en-US" b="1">
                  <a:solidFill>
                    <a:srgbClr val="EBE5E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MULTIDISCIPLINARY </a:t>
              </a:r>
            </a:p>
            <a:p>
              <a:pPr>
                <a:lnSpc>
                  <a:spcPts val="1944"/>
                </a:lnSpc>
              </a:pPr>
              <a:r>
                <a:rPr lang="en-US" b="1">
                  <a:solidFill>
                    <a:srgbClr val="EBE5E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RESEARCH CONGRESS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15604" y="-64882"/>
            <a:ext cx="1653171" cy="906587"/>
            <a:chOff x="0" y="0"/>
            <a:chExt cx="3306342" cy="181317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306342" cy="1813173"/>
            </a:xfrm>
            <a:custGeom>
              <a:avLst/>
              <a:gdLst/>
              <a:ahLst/>
              <a:cxnLst/>
              <a:rect l="l" t="t" r="r" b="b"/>
              <a:pathLst>
                <a:path w="3306342" h="1813173">
                  <a:moveTo>
                    <a:pt x="0" y="0"/>
                  </a:moveTo>
                  <a:lnTo>
                    <a:pt x="3306342" y="0"/>
                  </a:lnTo>
                  <a:lnTo>
                    <a:pt x="3306342" y="1813173"/>
                  </a:lnTo>
                  <a:lnTo>
                    <a:pt x="0" y="18131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47625"/>
              <a:ext cx="3306342" cy="1765548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>
                <a:lnSpc>
                  <a:spcPts val="4320"/>
                </a:lnSpc>
              </a:pPr>
              <a:r>
                <a:rPr lang="en-US" sz="4000" b="1">
                  <a:solidFill>
                    <a:srgbClr val="EBE5E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SPAC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6606116" y="6248524"/>
            <a:ext cx="5375784" cy="5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8"/>
              </a:lnSpc>
            </a:pPr>
            <a:r>
              <a:rPr lang="en-US" sz="3600" b="1">
                <a:solidFill>
                  <a:srgbClr val="EBE5E5"/>
                </a:solidFill>
                <a:latin typeface="Arimo Bold"/>
                <a:ea typeface="Arimo Bold"/>
                <a:cs typeface="Arimo Bold"/>
                <a:sym typeface="Arimo Bold"/>
              </a:rPr>
              <a:t>KALIMUHAGAN 2025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797523" y="5722826"/>
            <a:ext cx="1527239" cy="396621"/>
            <a:chOff x="0" y="0"/>
            <a:chExt cx="3054477" cy="79324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054477" cy="793242"/>
            </a:xfrm>
            <a:custGeom>
              <a:avLst/>
              <a:gdLst/>
              <a:ahLst/>
              <a:cxnLst/>
              <a:rect l="l" t="t" r="r" b="b"/>
              <a:pathLst>
                <a:path w="3054477" h="793242">
                  <a:moveTo>
                    <a:pt x="0" y="0"/>
                  </a:moveTo>
                  <a:lnTo>
                    <a:pt x="3054477" y="0"/>
                  </a:lnTo>
                  <a:lnTo>
                    <a:pt x="3054477" y="793242"/>
                  </a:lnTo>
                  <a:lnTo>
                    <a:pt x="0" y="793242"/>
                  </a:lnTo>
                  <a:close/>
                </a:path>
              </a:pathLst>
            </a:custGeom>
            <a:solidFill>
              <a:srgbClr val="EBBD1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1" name="TextBox 21"/>
          <p:cNvSpPr txBox="1"/>
          <p:nvPr/>
        </p:nvSpPr>
        <p:spPr>
          <a:xfrm>
            <a:off x="820101" y="5712067"/>
            <a:ext cx="1482067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</a:pPr>
            <a:r>
              <a:rPr lang="en-US" b="1">
                <a:solidFill>
                  <a:srgbClr val="EBE5E5"/>
                </a:solidFill>
                <a:latin typeface="Britannic Bold"/>
                <a:ea typeface="Britannic Bold"/>
                <a:cs typeface="Britannic Bold"/>
                <a:sym typeface="Britannic Bold"/>
              </a:rPr>
              <a:t>ENLIGHTEN.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2324747" y="5722826"/>
            <a:ext cx="1570037" cy="396621"/>
            <a:chOff x="0" y="0"/>
            <a:chExt cx="3140075" cy="79324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140075" cy="793242"/>
            </a:xfrm>
            <a:custGeom>
              <a:avLst/>
              <a:gdLst/>
              <a:ahLst/>
              <a:cxnLst/>
              <a:rect l="l" t="t" r="r" b="b"/>
              <a:pathLst>
                <a:path w="3140075" h="793242">
                  <a:moveTo>
                    <a:pt x="0" y="0"/>
                  </a:moveTo>
                  <a:lnTo>
                    <a:pt x="3140075" y="0"/>
                  </a:lnTo>
                  <a:lnTo>
                    <a:pt x="3140075" y="793242"/>
                  </a:lnTo>
                  <a:lnTo>
                    <a:pt x="0" y="793242"/>
                  </a:lnTo>
                  <a:close/>
                </a:path>
              </a:pathLst>
            </a:custGeom>
            <a:solidFill>
              <a:srgbClr val="C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4" name="TextBox 24"/>
          <p:cNvSpPr txBox="1"/>
          <p:nvPr/>
        </p:nvSpPr>
        <p:spPr>
          <a:xfrm>
            <a:off x="2347326" y="5712067"/>
            <a:ext cx="1524857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2000" b="1">
                <a:solidFill>
                  <a:srgbClr val="EBE5E5"/>
                </a:solidFill>
                <a:latin typeface="Britannic Bold"/>
                <a:ea typeface="Britannic Bold"/>
                <a:cs typeface="Britannic Bold"/>
                <a:sym typeface="Britannic Bold"/>
              </a:rPr>
              <a:t>EMPOWER.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999319" y="6119684"/>
            <a:ext cx="1325435" cy="396621"/>
            <a:chOff x="0" y="0"/>
            <a:chExt cx="2650871" cy="79324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650871" cy="793242"/>
            </a:xfrm>
            <a:custGeom>
              <a:avLst/>
              <a:gdLst/>
              <a:ahLst/>
              <a:cxnLst/>
              <a:rect l="l" t="t" r="r" b="b"/>
              <a:pathLst>
                <a:path w="2650871" h="793242">
                  <a:moveTo>
                    <a:pt x="0" y="0"/>
                  </a:moveTo>
                  <a:lnTo>
                    <a:pt x="2650871" y="0"/>
                  </a:lnTo>
                  <a:lnTo>
                    <a:pt x="2650871" y="793242"/>
                  </a:lnTo>
                  <a:lnTo>
                    <a:pt x="0" y="793242"/>
                  </a:lnTo>
                  <a:close/>
                </a:path>
              </a:pathLst>
            </a:custGeom>
            <a:solidFill>
              <a:srgbClr val="0047B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7" name="TextBox 27"/>
          <p:cNvSpPr txBox="1"/>
          <p:nvPr/>
        </p:nvSpPr>
        <p:spPr>
          <a:xfrm>
            <a:off x="1021896" y="6108925"/>
            <a:ext cx="1280272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7"/>
              </a:lnSpc>
            </a:pPr>
            <a:r>
              <a:rPr lang="en-US" sz="2219" b="1">
                <a:solidFill>
                  <a:srgbClr val="EBE5E5"/>
                </a:solidFill>
                <a:latin typeface="Britannic Bold"/>
                <a:ea typeface="Britannic Bold"/>
                <a:cs typeface="Britannic Bold"/>
                <a:sym typeface="Britannic Bold"/>
              </a:rPr>
              <a:t>ENGAGE: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2324746" y="6118915"/>
            <a:ext cx="1476185" cy="396621"/>
            <a:chOff x="0" y="0"/>
            <a:chExt cx="2952370" cy="79324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952369" cy="793242"/>
            </a:xfrm>
            <a:custGeom>
              <a:avLst/>
              <a:gdLst/>
              <a:ahLst/>
              <a:cxnLst/>
              <a:rect l="l" t="t" r="r" b="b"/>
              <a:pathLst>
                <a:path w="2952369" h="793242">
                  <a:moveTo>
                    <a:pt x="0" y="0"/>
                  </a:moveTo>
                  <a:lnTo>
                    <a:pt x="2952369" y="0"/>
                  </a:lnTo>
                  <a:lnTo>
                    <a:pt x="2952369" y="793242"/>
                  </a:lnTo>
                  <a:lnTo>
                    <a:pt x="0" y="793242"/>
                  </a:lnTo>
                  <a:close/>
                </a:path>
              </a:pathLst>
            </a:custGeom>
            <a:solidFill>
              <a:srgbClr val="19191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30" name="TextBox 30"/>
          <p:cNvSpPr txBox="1"/>
          <p:nvPr/>
        </p:nvSpPr>
        <p:spPr>
          <a:xfrm>
            <a:off x="2347324" y="6108156"/>
            <a:ext cx="1431003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2000" b="1">
                <a:solidFill>
                  <a:srgbClr val="EBE5E5"/>
                </a:solidFill>
                <a:latin typeface="Britannic Bold"/>
                <a:ea typeface="Britannic Bold"/>
                <a:cs typeface="Britannic Bold"/>
                <a:sym typeface="Britannic Bold"/>
              </a:rPr>
              <a:t>I WILL GO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59937" y="5824793"/>
            <a:ext cx="1215772" cy="1333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69"/>
              </a:lnSpc>
            </a:pPr>
            <a:r>
              <a:rPr lang="en-US" sz="9600">
                <a:solidFill>
                  <a:srgbClr val="DFC991"/>
                </a:solidFill>
                <a:latin typeface="Arimo"/>
                <a:ea typeface="Arimo"/>
                <a:cs typeface="Arimo"/>
                <a:sym typeface="Arimo"/>
              </a:rPr>
              <a:t>“</a:t>
            </a:r>
          </a:p>
        </p:txBody>
      </p:sp>
      <p:sp>
        <p:nvSpPr>
          <p:cNvPr id="32" name="TextBox 32"/>
          <p:cNvSpPr txBox="1"/>
          <p:nvPr/>
        </p:nvSpPr>
        <p:spPr>
          <a:xfrm rot="-10800000">
            <a:off x="3293313" y="5658350"/>
            <a:ext cx="1215772" cy="1333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69"/>
              </a:lnSpc>
            </a:pPr>
            <a:r>
              <a:rPr lang="en-US" sz="9600">
                <a:solidFill>
                  <a:srgbClr val="DFC991"/>
                </a:solidFill>
                <a:latin typeface="Arimo"/>
                <a:ea typeface="Arimo"/>
                <a:cs typeface="Arimo"/>
                <a:sym typeface="Arimo"/>
              </a:rPr>
              <a:t>“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84525" y="1036977"/>
            <a:ext cx="2519976" cy="79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99"/>
              </a:lnSpc>
            </a:pPr>
            <a:r>
              <a:rPr lang="en-US" sz="2666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Recommendations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84526" y="1519557"/>
            <a:ext cx="3924458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400"/>
              </a:lnSpc>
            </a:pPr>
            <a:r>
              <a:rPr lang="en-US" sz="2000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DepEd Policy Implementation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84525" y="2008489"/>
            <a:ext cx="4475044" cy="242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99"/>
              </a:lnSpc>
            </a:pPr>
            <a:r>
              <a:rPr lang="en-US" sz="1666" b="1">
                <a:solidFill>
                  <a:srgbClr val="001B4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1. IMMEDIATE ACTIONS (Year 1)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84525" y="2332376"/>
            <a:ext cx="4475044" cy="809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5200" lvl="2" indent="-128400">
              <a:lnSpc>
                <a:spcPts val="1599"/>
              </a:lnSpc>
              <a:buFont typeface="Arial"/>
              <a:buChar char="⚬"/>
            </a:pPr>
            <a:r>
              <a:rPr lang="en-US" sz="1333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Allocate 15-20% buffer capacity</a:t>
            </a:r>
          </a:p>
          <a:p>
            <a:pPr marL="385200" lvl="2" indent="-128400">
              <a:lnSpc>
                <a:spcPts val="1599"/>
              </a:lnSpc>
              <a:buFont typeface="Arial"/>
              <a:buChar char="⚬"/>
            </a:pPr>
            <a:r>
              <a:rPr lang="en-US" sz="1333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Quarterly enrollment monitoring</a:t>
            </a:r>
          </a:p>
          <a:p>
            <a:pPr marL="385200" lvl="2" indent="-128400">
              <a:lnSpc>
                <a:spcPts val="1599"/>
              </a:lnSpc>
              <a:buFont typeface="Arial"/>
              <a:buChar char="⚬"/>
            </a:pPr>
            <a:r>
              <a:rPr lang="en-US" sz="1333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Establish rapid response teams</a:t>
            </a:r>
          </a:p>
          <a:p>
            <a:pPr marL="385200" lvl="2" indent="-128400">
              <a:lnSpc>
                <a:spcPts val="1599"/>
              </a:lnSpc>
              <a:buFont typeface="Arial"/>
              <a:buChar char="⚬"/>
            </a:pPr>
            <a:r>
              <a:rPr lang="en-US" sz="1333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Pre-position mobile classrooms &amp; substitute pools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84504" y="3241741"/>
            <a:ext cx="4475044" cy="193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599"/>
              </a:lnSpc>
            </a:pPr>
            <a:r>
              <a:rPr lang="en-US" sz="1333" b="1">
                <a:solidFill>
                  <a:srgbClr val="001B4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For Stable Regions (all other 13 regions):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92853" y="3506184"/>
            <a:ext cx="4475044" cy="604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5200" lvl="2" indent="-128400">
              <a:lnSpc>
                <a:spcPts val="1599"/>
              </a:lnSpc>
              <a:buFont typeface="Arial"/>
              <a:buChar char="⚬"/>
            </a:pPr>
            <a:r>
              <a:rPr lang="en-US" sz="1333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5-10% buffer capacity</a:t>
            </a:r>
          </a:p>
          <a:p>
            <a:pPr marL="385200" lvl="2" indent="-128400">
              <a:lnSpc>
                <a:spcPts val="1599"/>
              </a:lnSpc>
              <a:buFont typeface="Arial"/>
              <a:buChar char="⚬"/>
            </a:pPr>
            <a:r>
              <a:rPr lang="en-US" sz="1333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Annual forecasts sufficient</a:t>
            </a:r>
          </a:p>
          <a:p>
            <a:pPr marL="385200" lvl="2" indent="-128400">
              <a:lnSpc>
                <a:spcPts val="1599"/>
              </a:lnSpc>
              <a:buFont typeface="Arial"/>
              <a:buChar char="⚬"/>
            </a:pPr>
            <a:r>
              <a:rPr lang="en-US" sz="1333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Focus on quality improvement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895919" y="1411608"/>
            <a:ext cx="4475044" cy="254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79"/>
              </a:lnSpc>
            </a:pPr>
            <a:r>
              <a:rPr lang="en-US" sz="1733" b="1">
                <a:solidFill>
                  <a:srgbClr val="001B4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2. SYSTEMS DEVELOPMENT (Years 1-2)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895919" y="1741844"/>
            <a:ext cx="5288754" cy="859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4522" lvl="2" indent="-134841">
              <a:lnSpc>
                <a:spcPts val="1680"/>
              </a:lnSpc>
              <a:buFont typeface="Arial"/>
              <a:buChar char="⚬"/>
            </a:pPr>
            <a:r>
              <a:rPr lang="en-US" sz="1400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 automated forecasting dashboard (Random Forest model)</a:t>
            </a:r>
          </a:p>
          <a:p>
            <a:pPr marL="404522" lvl="2" indent="-134841">
              <a:lnSpc>
                <a:spcPts val="1680"/>
              </a:lnSpc>
              <a:buFont typeface="Arial"/>
              <a:buChar char="⚬"/>
            </a:pPr>
            <a:r>
              <a:rPr lang="en-US" sz="1400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 regional planning officers in data-driven methods</a:t>
            </a:r>
          </a:p>
          <a:p>
            <a:pPr marL="404522" lvl="2" indent="-134841">
              <a:lnSpc>
                <a:spcPts val="1680"/>
              </a:lnSpc>
              <a:buFont typeface="Arial"/>
              <a:buChar char="⚬"/>
            </a:pPr>
            <a:r>
              <a:rPr lang="en-US" sz="1400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 forecasts into annual budget process</a:t>
            </a:r>
          </a:p>
          <a:p>
            <a:pPr marL="404522" lvl="2" indent="-134841">
              <a:lnSpc>
                <a:spcPts val="1680"/>
              </a:lnSpc>
              <a:buFont typeface="Arial"/>
              <a:buChar char="⚬"/>
            </a:pPr>
            <a:r>
              <a:rPr lang="en-US" sz="1400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Link predictions to teacher deployment schedules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895919" y="2853184"/>
            <a:ext cx="4876639" cy="254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79"/>
              </a:lnSpc>
            </a:pPr>
            <a:r>
              <a:rPr lang="en-US" sz="1733" b="1">
                <a:solidFill>
                  <a:srgbClr val="001B4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3. CONTINUOUS IMPROVEMENT (Years 2-3)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895919" y="3183420"/>
            <a:ext cx="4876638" cy="859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4522" lvl="2" indent="-134841">
              <a:lnSpc>
                <a:spcPts val="1680"/>
              </a:lnSpc>
              <a:buFont typeface="Arial"/>
              <a:buChar char="⚬"/>
            </a:pPr>
            <a:r>
              <a:rPr lang="en-US" sz="1400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Update models annually with new data</a:t>
            </a:r>
          </a:p>
          <a:p>
            <a:pPr marL="404522" lvl="2" indent="-134841">
              <a:lnSpc>
                <a:spcPts val="1680"/>
              </a:lnSpc>
              <a:buFont typeface="Arial"/>
              <a:buChar char="⚬"/>
            </a:pPr>
            <a:r>
              <a:rPr lang="en-US" sz="1400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Monitor accuracy and recalibrate thresholds</a:t>
            </a:r>
          </a:p>
          <a:p>
            <a:pPr marL="404522" lvl="2" indent="-134841">
              <a:lnSpc>
                <a:spcPts val="1680"/>
              </a:lnSpc>
              <a:buFont typeface="Arial"/>
              <a:buChar char="⚬"/>
            </a:pPr>
            <a:r>
              <a:rPr lang="en-US" sz="1400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Expand to school-level forecasting in volatile regions</a:t>
            </a:r>
          </a:p>
          <a:p>
            <a:pPr marL="404522" lvl="2" indent="-134841">
              <a:lnSpc>
                <a:spcPts val="1680"/>
              </a:lnSpc>
              <a:buFont typeface="Arial"/>
              <a:buChar char="⚬"/>
            </a:pPr>
            <a:r>
              <a:rPr lang="en-US" sz="1400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Incorporate economic indicators and migration data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396314" y="4319997"/>
            <a:ext cx="4598502" cy="265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59"/>
              </a:lnSpc>
            </a:pPr>
            <a:r>
              <a:rPr lang="en-US" sz="1799" b="1">
                <a:solidFill>
                  <a:srgbClr val="001B4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For Future Research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396315" y="4650233"/>
            <a:ext cx="6328559" cy="678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3664" lvl="2" indent="-141221">
              <a:lnSpc>
                <a:spcPts val="1759"/>
              </a:lnSpc>
              <a:buFont typeface="Arial"/>
              <a:buChar char="⚬"/>
            </a:pPr>
            <a:r>
              <a:rPr lang="en-US" sz="1466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Investigate causal factors driving volatility (migration, economics)</a:t>
            </a:r>
          </a:p>
          <a:p>
            <a:pPr marL="423664" lvl="2" indent="-141221">
              <a:lnSpc>
                <a:spcPts val="1759"/>
              </a:lnSpc>
              <a:buFont typeface="Arial"/>
              <a:buChar char="⚬"/>
            </a:pPr>
            <a:r>
              <a:rPr lang="en-US" sz="1466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 early warning indicators for enrollment surges</a:t>
            </a:r>
          </a:p>
          <a:p>
            <a:pPr marL="423664" lvl="2" indent="-141221">
              <a:lnSpc>
                <a:spcPts val="1759"/>
              </a:lnSpc>
              <a:buFont typeface="Arial"/>
              <a:buChar char="⚬"/>
            </a:pPr>
            <a:r>
              <a:rPr lang="en-US" sz="1466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Extend to classroom-level and subject-specific forecasting 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187476" y="5679059"/>
            <a:ext cx="4039015" cy="446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60"/>
              </a:lnSpc>
            </a:pPr>
            <a:r>
              <a:rPr lang="en-US" sz="1467" i="1">
                <a:solidFill>
                  <a:srgbClr val="002D7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Source: DepEd (2024); CPBRD (2024); PIDS (2023).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3819494" y="-4780589"/>
            <a:ext cx="1880171" cy="9519157"/>
            <a:chOff x="0" y="0"/>
            <a:chExt cx="3760343" cy="190383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60343" cy="19038315"/>
            </a:xfrm>
            <a:custGeom>
              <a:avLst/>
              <a:gdLst/>
              <a:ahLst/>
              <a:cxnLst/>
              <a:rect l="l" t="t" r="r" b="b"/>
              <a:pathLst>
                <a:path w="3760343" h="19038315">
                  <a:moveTo>
                    <a:pt x="0" y="0"/>
                  </a:moveTo>
                  <a:lnTo>
                    <a:pt x="3760343" y="0"/>
                  </a:lnTo>
                  <a:lnTo>
                    <a:pt x="3760343" y="15230602"/>
                  </a:lnTo>
                  <a:lnTo>
                    <a:pt x="1880235" y="19038315"/>
                  </a:lnTo>
                  <a:lnTo>
                    <a:pt x="0" y="15230602"/>
                  </a:lnTo>
                  <a:close/>
                </a:path>
              </a:pathLst>
            </a:custGeom>
            <a:solidFill>
              <a:srgbClr val="002D7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 rot="5400000">
            <a:off x="8579010" y="2124467"/>
            <a:ext cx="1880235" cy="9519159"/>
            <a:chOff x="0" y="0"/>
            <a:chExt cx="3760470" cy="1903831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760470" cy="19038317"/>
            </a:xfrm>
            <a:custGeom>
              <a:avLst/>
              <a:gdLst/>
              <a:ahLst/>
              <a:cxnLst/>
              <a:rect l="l" t="t" r="r" b="b"/>
              <a:pathLst>
                <a:path w="3760470" h="19038317">
                  <a:moveTo>
                    <a:pt x="3760343" y="0"/>
                  </a:moveTo>
                  <a:lnTo>
                    <a:pt x="0" y="0"/>
                  </a:lnTo>
                  <a:lnTo>
                    <a:pt x="0" y="15230602"/>
                  </a:lnTo>
                  <a:lnTo>
                    <a:pt x="1880235" y="19038317"/>
                  </a:lnTo>
                  <a:lnTo>
                    <a:pt x="3760470" y="15230602"/>
                  </a:lnTo>
                  <a:close/>
                </a:path>
              </a:pathLst>
            </a:custGeom>
            <a:solidFill>
              <a:srgbClr val="002D7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5250264" y="36715"/>
            <a:ext cx="887349" cy="784797"/>
            <a:chOff x="0" y="0"/>
            <a:chExt cx="1774698" cy="156959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74698" cy="1569593"/>
            </a:xfrm>
            <a:custGeom>
              <a:avLst/>
              <a:gdLst/>
              <a:ahLst/>
              <a:cxnLst/>
              <a:rect l="l" t="t" r="r" b="b"/>
              <a:pathLst>
                <a:path w="1774698" h="1569593">
                  <a:moveTo>
                    <a:pt x="0" y="0"/>
                  </a:moveTo>
                  <a:lnTo>
                    <a:pt x="1774698" y="0"/>
                  </a:lnTo>
                  <a:lnTo>
                    <a:pt x="1774698" y="1569593"/>
                  </a:lnTo>
                  <a:lnTo>
                    <a:pt x="0" y="15695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0" b="-10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6231928" y="-10604"/>
            <a:ext cx="955548" cy="931672"/>
            <a:chOff x="0" y="0"/>
            <a:chExt cx="1911096" cy="186334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11096" cy="1863344"/>
            </a:xfrm>
            <a:custGeom>
              <a:avLst/>
              <a:gdLst/>
              <a:ahLst/>
              <a:cxnLst/>
              <a:rect l="l" t="t" r="r" b="b"/>
              <a:pathLst>
                <a:path w="1911096" h="1863344">
                  <a:moveTo>
                    <a:pt x="0" y="0"/>
                  </a:moveTo>
                  <a:lnTo>
                    <a:pt x="1911096" y="0"/>
                  </a:lnTo>
                  <a:lnTo>
                    <a:pt x="1911096" y="1863344"/>
                  </a:lnTo>
                  <a:lnTo>
                    <a:pt x="0" y="1863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15" b="-115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98977" y="391284"/>
            <a:ext cx="1035539" cy="768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lang="en-US" sz="6875" b="1" spc="-17">
                <a:solidFill>
                  <a:srgbClr val="FFE766"/>
                </a:solidFill>
                <a:latin typeface="DG Ghareeb Bold"/>
                <a:ea typeface="DG Ghareeb Bold"/>
                <a:cs typeface="DG Ghareeb Bold"/>
                <a:sym typeface="DG Ghareeb Bold"/>
              </a:rPr>
              <a:t>3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25147" y="289351"/>
            <a:ext cx="769306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28"/>
              </a:lnSpc>
            </a:pPr>
            <a:r>
              <a:rPr lang="en-US" sz="1600" b="1">
                <a:solidFill>
                  <a:srgbClr val="EBE5E5"/>
                </a:solidFill>
                <a:latin typeface="Arimo Bold"/>
                <a:ea typeface="Arimo Bold"/>
                <a:cs typeface="Arimo Bold"/>
                <a:sym typeface="Arimo Bold"/>
              </a:rPr>
              <a:t>rd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2530375" y="98220"/>
            <a:ext cx="6480197" cy="718005"/>
            <a:chOff x="0" y="0"/>
            <a:chExt cx="12960394" cy="143601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960394" cy="1436011"/>
            </a:xfrm>
            <a:custGeom>
              <a:avLst/>
              <a:gdLst/>
              <a:ahLst/>
              <a:cxnLst/>
              <a:rect l="l" t="t" r="r" b="b"/>
              <a:pathLst>
                <a:path w="12960394" h="1436011">
                  <a:moveTo>
                    <a:pt x="0" y="0"/>
                  </a:moveTo>
                  <a:lnTo>
                    <a:pt x="12960394" y="0"/>
                  </a:lnTo>
                  <a:lnTo>
                    <a:pt x="12960394" y="1436011"/>
                  </a:lnTo>
                  <a:lnTo>
                    <a:pt x="0" y="143601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9525"/>
              <a:ext cx="12960394" cy="1426486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>
                <a:lnSpc>
                  <a:spcPts val="1944"/>
                </a:lnSpc>
              </a:pPr>
              <a:r>
                <a:rPr lang="en-US" b="1">
                  <a:solidFill>
                    <a:srgbClr val="EBE5E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MULTIDISCIPLINARY </a:t>
              </a:r>
            </a:p>
            <a:p>
              <a:pPr>
                <a:lnSpc>
                  <a:spcPts val="1944"/>
                </a:lnSpc>
              </a:pPr>
              <a:r>
                <a:rPr lang="en-US" b="1">
                  <a:solidFill>
                    <a:srgbClr val="EBE5E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RESEARCH CONGRESS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15604" y="-64882"/>
            <a:ext cx="1653171" cy="906587"/>
            <a:chOff x="0" y="0"/>
            <a:chExt cx="3306342" cy="181317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306342" cy="1813173"/>
            </a:xfrm>
            <a:custGeom>
              <a:avLst/>
              <a:gdLst/>
              <a:ahLst/>
              <a:cxnLst/>
              <a:rect l="l" t="t" r="r" b="b"/>
              <a:pathLst>
                <a:path w="3306342" h="1813173">
                  <a:moveTo>
                    <a:pt x="0" y="0"/>
                  </a:moveTo>
                  <a:lnTo>
                    <a:pt x="3306342" y="0"/>
                  </a:lnTo>
                  <a:lnTo>
                    <a:pt x="3306342" y="1813173"/>
                  </a:lnTo>
                  <a:lnTo>
                    <a:pt x="0" y="18131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47625"/>
              <a:ext cx="3306342" cy="1765548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>
                <a:lnSpc>
                  <a:spcPts val="4320"/>
                </a:lnSpc>
              </a:pPr>
              <a:r>
                <a:rPr lang="en-US" sz="4000" b="1">
                  <a:solidFill>
                    <a:srgbClr val="EBE5E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SPAC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6606116" y="6248524"/>
            <a:ext cx="5375784" cy="5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8"/>
              </a:lnSpc>
            </a:pPr>
            <a:r>
              <a:rPr lang="en-US" sz="3600" b="1">
                <a:solidFill>
                  <a:srgbClr val="EBE5E5"/>
                </a:solidFill>
                <a:latin typeface="Arimo Bold"/>
                <a:ea typeface="Arimo Bold"/>
                <a:cs typeface="Arimo Bold"/>
                <a:sym typeface="Arimo Bold"/>
              </a:rPr>
              <a:t>KALIMUHAGAN 2025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797523" y="5722826"/>
            <a:ext cx="1527239" cy="396621"/>
            <a:chOff x="0" y="0"/>
            <a:chExt cx="3054477" cy="79324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054477" cy="793242"/>
            </a:xfrm>
            <a:custGeom>
              <a:avLst/>
              <a:gdLst/>
              <a:ahLst/>
              <a:cxnLst/>
              <a:rect l="l" t="t" r="r" b="b"/>
              <a:pathLst>
                <a:path w="3054477" h="793242">
                  <a:moveTo>
                    <a:pt x="0" y="0"/>
                  </a:moveTo>
                  <a:lnTo>
                    <a:pt x="3054477" y="0"/>
                  </a:lnTo>
                  <a:lnTo>
                    <a:pt x="3054477" y="793242"/>
                  </a:lnTo>
                  <a:lnTo>
                    <a:pt x="0" y="793242"/>
                  </a:lnTo>
                  <a:close/>
                </a:path>
              </a:pathLst>
            </a:custGeom>
            <a:solidFill>
              <a:srgbClr val="EBBD1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1" name="TextBox 21"/>
          <p:cNvSpPr txBox="1"/>
          <p:nvPr/>
        </p:nvSpPr>
        <p:spPr>
          <a:xfrm>
            <a:off x="820101" y="5712067"/>
            <a:ext cx="1482067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</a:pPr>
            <a:r>
              <a:rPr lang="en-US" b="1">
                <a:solidFill>
                  <a:srgbClr val="EBE5E5"/>
                </a:solidFill>
                <a:latin typeface="Britannic Bold"/>
                <a:ea typeface="Britannic Bold"/>
                <a:cs typeface="Britannic Bold"/>
                <a:sym typeface="Britannic Bold"/>
              </a:rPr>
              <a:t>ENLIGHTEN.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2324747" y="5722826"/>
            <a:ext cx="1570037" cy="396621"/>
            <a:chOff x="0" y="0"/>
            <a:chExt cx="3140075" cy="79324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140075" cy="793242"/>
            </a:xfrm>
            <a:custGeom>
              <a:avLst/>
              <a:gdLst/>
              <a:ahLst/>
              <a:cxnLst/>
              <a:rect l="l" t="t" r="r" b="b"/>
              <a:pathLst>
                <a:path w="3140075" h="793242">
                  <a:moveTo>
                    <a:pt x="0" y="0"/>
                  </a:moveTo>
                  <a:lnTo>
                    <a:pt x="3140075" y="0"/>
                  </a:lnTo>
                  <a:lnTo>
                    <a:pt x="3140075" y="793242"/>
                  </a:lnTo>
                  <a:lnTo>
                    <a:pt x="0" y="793242"/>
                  </a:lnTo>
                  <a:close/>
                </a:path>
              </a:pathLst>
            </a:custGeom>
            <a:solidFill>
              <a:srgbClr val="C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4" name="TextBox 24"/>
          <p:cNvSpPr txBox="1"/>
          <p:nvPr/>
        </p:nvSpPr>
        <p:spPr>
          <a:xfrm>
            <a:off x="2347326" y="5712067"/>
            <a:ext cx="1524857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2000" b="1">
                <a:solidFill>
                  <a:srgbClr val="EBE5E5"/>
                </a:solidFill>
                <a:latin typeface="Britannic Bold"/>
                <a:ea typeface="Britannic Bold"/>
                <a:cs typeface="Britannic Bold"/>
                <a:sym typeface="Britannic Bold"/>
              </a:rPr>
              <a:t>EMPOWER.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999319" y="6119684"/>
            <a:ext cx="1325435" cy="396621"/>
            <a:chOff x="0" y="0"/>
            <a:chExt cx="2650871" cy="79324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650871" cy="793242"/>
            </a:xfrm>
            <a:custGeom>
              <a:avLst/>
              <a:gdLst/>
              <a:ahLst/>
              <a:cxnLst/>
              <a:rect l="l" t="t" r="r" b="b"/>
              <a:pathLst>
                <a:path w="2650871" h="793242">
                  <a:moveTo>
                    <a:pt x="0" y="0"/>
                  </a:moveTo>
                  <a:lnTo>
                    <a:pt x="2650871" y="0"/>
                  </a:lnTo>
                  <a:lnTo>
                    <a:pt x="2650871" y="793242"/>
                  </a:lnTo>
                  <a:lnTo>
                    <a:pt x="0" y="793242"/>
                  </a:lnTo>
                  <a:close/>
                </a:path>
              </a:pathLst>
            </a:custGeom>
            <a:solidFill>
              <a:srgbClr val="0047B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7" name="TextBox 27"/>
          <p:cNvSpPr txBox="1"/>
          <p:nvPr/>
        </p:nvSpPr>
        <p:spPr>
          <a:xfrm>
            <a:off x="1021896" y="6108925"/>
            <a:ext cx="1280272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7"/>
              </a:lnSpc>
            </a:pPr>
            <a:r>
              <a:rPr lang="en-US" sz="2219" b="1">
                <a:solidFill>
                  <a:srgbClr val="EBE5E5"/>
                </a:solidFill>
                <a:latin typeface="Britannic Bold"/>
                <a:ea typeface="Britannic Bold"/>
                <a:cs typeface="Britannic Bold"/>
                <a:sym typeface="Britannic Bold"/>
              </a:rPr>
              <a:t>ENGAGE: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2324746" y="6118915"/>
            <a:ext cx="1476185" cy="396621"/>
            <a:chOff x="0" y="0"/>
            <a:chExt cx="2952370" cy="79324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952369" cy="793242"/>
            </a:xfrm>
            <a:custGeom>
              <a:avLst/>
              <a:gdLst/>
              <a:ahLst/>
              <a:cxnLst/>
              <a:rect l="l" t="t" r="r" b="b"/>
              <a:pathLst>
                <a:path w="2952369" h="793242">
                  <a:moveTo>
                    <a:pt x="0" y="0"/>
                  </a:moveTo>
                  <a:lnTo>
                    <a:pt x="2952369" y="0"/>
                  </a:lnTo>
                  <a:lnTo>
                    <a:pt x="2952369" y="793242"/>
                  </a:lnTo>
                  <a:lnTo>
                    <a:pt x="0" y="793242"/>
                  </a:lnTo>
                  <a:close/>
                </a:path>
              </a:pathLst>
            </a:custGeom>
            <a:solidFill>
              <a:srgbClr val="19191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30" name="TextBox 30"/>
          <p:cNvSpPr txBox="1"/>
          <p:nvPr/>
        </p:nvSpPr>
        <p:spPr>
          <a:xfrm>
            <a:off x="2347324" y="6108156"/>
            <a:ext cx="1431003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2000" b="1">
                <a:solidFill>
                  <a:srgbClr val="EBE5E5"/>
                </a:solidFill>
                <a:latin typeface="Britannic Bold"/>
                <a:ea typeface="Britannic Bold"/>
                <a:cs typeface="Britannic Bold"/>
                <a:sym typeface="Britannic Bold"/>
              </a:rPr>
              <a:t>I WILL GO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59937" y="5824793"/>
            <a:ext cx="1215772" cy="1333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69"/>
              </a:lnSpc>
            </a:pPr>
            <a:r>
              <a:rPr lang="en-US" sz="9600">
                <a:solidFill>
                  <a:srgbClr val="DFC991"/>
                </a:solidFill>
                <a:latin typeface="Arimo"/>
                <a:ea typeface="Arimo"/>
                <a:cs typeface="Arimo"/>
                <a:sym typeface="Arimo"/>
              </a:rPr>
              <a:t>“</a:t>
            </a:r>
          </a:p>
        </p:txBody>
      </p:sp>
      <p:sp>
        <p:nvSpPr>
          <p:cNvPr id="32" name="TextBox 32"/>
          <p:cNvSpPr txBox="1"/>
          <p:nvPr/>
        </p:nvSpPr>
        <p:spPr>
          <a:xfrm rot="-10800000">
            <a:off x="3293313" y="5658350"/>
            <a:ext cx="1215772" cy="1333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69"/>
              </a:lnSpc>
            </a:pPr>
            <a:r>
              <a:rPr lang="en-US" sz="9600">
                <a:solidFill>
                  <a:srgbClr val="DFC991"/>
                </a:solidFill>
                <a:latin typeface="Arimo"/>
                <a:ea typeface="Arimo"/>
                <a:cs typeface="Arimo"/>
                <a:sym typeface="Arimo"/>
              </a:rPr>
              <a:t>“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17250" y="969638"/>
            <a:ext cx="3249879" cy="290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399"/>
              </a:lnSpc>
            </a:pPr>
            <a:r>
              <a:rPr lang="en-US" sz="1999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161875" y="1259207"/>
            <a:ext cx="11363375" cy="50800"/>
            <a:chOff x="0" y="0"/>
            <a:chExt cx="22726750" cy="101600"/>
          </a:xfrm>
        </p:grpSpPr>
        <p:sp>
          <p:nvSpPr>
            <p:cNvPr id="35" name="Freeform 35"/>
            <p:cNvSpPr/>
            <p:nvPr/>
          </p:nvSpPr>
          <p:spPr>
            <a:xfrm>
              <a:off x="38100" y="0"/>
              <a:ext cx="22650577" cy="101600"/>
            </a:xfrm>
            <a:custGeom>
              <a:avLst/>
              <a:gdLst/>
              <a:ahLst/>
              <a:cxnLst/>
              <a:rect l="l" t="t" r="r" b="b"/>
              <a:pathLst>
                <a:path w="22650577" h="101600">
                  <a:moveTo>
                    <a:pt x="0" y="25400"/>
                  </a:moveTo>
                  <a:lnTo>
                    <a:pt x="22650450" y="0"/>
                  </a:lnTo>
                  <a:lnTo>
                    <a:pt x="22650577" y="762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36" name="TextBox 36"/>
          <p:cNvSpPr txBox="1"/>
          <p:nvPr/>
        </p:nvSpPr>
        <p:spPr>
          <a:xfrm>
            <a:off x="98977" y="1360808"/>
            <a:ext cx="11426273" cy="4129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59094" lvl="1" indent="-129547">
              <a:lnSpc>
                <a:spcPts val="1440"/>
              </a:lnSpc>
              <a:buAutoNum type="arabicPeriod"/>
            </a:pPr>
            <a:r>
              <a:rPr lang="en-US" sz="1200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Balabied, A., Egea, K., &amp; Newton, J. (2023). Decision tree applications in student enrollment prediction: A comparative study. Education and Information Technologies, 28(1), 89–104. </a:t>
            </a:r>
            <a:r>
              <a:rPr lang="en-US" sz="1200" u="sng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 tooltip="https://doi.org/10.1007/s10639-022-11234-5"/>
              </a:rPr>
              <a:t>https://doi.org/10.1007/s10639-022-11234-5</a:t>
            </a:r>
          </a:p>
          <a:p>
            <a:pPr marL="259094" lvl="1" indent="-129547">
              <a:lnSpc>
                <a:spcPts val="1440"/>
              </a:lnSpc>
              <a:buAutoNum type="arabicPeriod"/>
            </a:pPr>
            <a:r>
              <a:rPr lang="en-US" sz="1200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Box, G. E. P., &amp; Jenkins, G. M. (1976). Time series analysis: Forecasting and control (Rev. ed.). Holden-Day.</a:t>
            </a:r>
          </a:p>
          <a:p>
            <a:pPr marL="259094" lvl="1" indent="-129547">
              <a:lnSpc>
                <a:spcPts val="1440"/>
              </a:lnSpc>
              <a:buAutoNum type="arabicPeriod"/>
            </a:pPr>
            <a:r>
              <a:rPr lang="en-US" sz="1200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Bowers, A. J., &amp; Sprott, R. (2012). Examining the multiple trajectories associated with dropping out of high school: A growth mixture model analysis. The Journal of Educational Research, 105(3), 176–195. </a:t>
            </a:r>
            <a:r>
              <a:rPr lang="en-US" sz="1200" u="sng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 tooltip="https://doi.org/10.1080/00220671.2011.552075"/>
              </a:rPr>
              <a:t>https://doi.org/10.1080/00220671.2011.552075</a:t>
            </a:r>
          </a:p>
          <a:p>
            <a:pPr marL="259094" lvl="1" indent="-129547">
              <a:lnSpc>
                <a:spcPts val="1440"/>
              </a:lnSpc>
              <a:buAutoNum type="arabicPeriod"/>
            </a:pPr>
            <a:r>
              <a:rPr lang="en-US" sz="1200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Hastie, T., Tibshirani, J., &amp; Friedman, J. (2009). The elements of statistical learning: Data mining, inference, and prediction (2nd ed.). Springer. </a:t>
            </a:r>
            <a:r>
              <a:rPr lang="en-US" sz="1200" u="sng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7" tooltip="https://doi.org/10.1007/978-0-387-84858-7"/>
              </a:rPr>
              <a:t>https://doi.org/10.1007/978-0-387-84858-7</a:t>
            </a:r>
          </a:p>
          <a:p>
            <a:pPr marL="259094" lvl="1" indent="-129547">
              <a:lnSpc>
                <a:spcPts val="1440"/>
              </a:lnSpc>
              <a:buAutoNum type="arabicPeriod"/>
            </a:pPr>
            <a:r>
              <a:rPr lang="en-US" sz="1200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Shao, X., Kim, C. S., &amp; Sontakke, P. (2022). Random forest outperforms traditional methods in educational enrollment forecasting. International Journal of Educational Data Science, 12(3), 245–261. </a:t>
            </a:r>
            <a:r>
              <a:rPr lang="en-US" sz="1200" u="sng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8" tooltip="https://doi.org/10.1016/j.ijeds.2022.03.008"/>
              </a:rPr>
              <a:t>https://doi.org/10.1016/j.ijeds.2022.03.008</a:t>
            </a:r>
          </a:p>
          <a:p>
            <a:pPr marL="259094" lvl="1" indent="-129547">
              <a:lnSpc>
                <a:spcPts val="1440"/>
              </a:lnSpc>
              <a:buAutoNum type="arabicPeriod"/>
            </a:pPr>
            <a:r>
              <a:rPr lang="en-US" sz="1200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UNESCO. (2010). Education for All global monitoring report: Reaching the marginalized. UNESCO Publishing. </a:t>
            </a:r>
            <a:r>
              <a:rPr lang="en-US" sz="1200" u="sng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9" tooltip="https://unesdoc.unesco.org/ark:/48223/pf0000186606"/>
              </a:rPr>
              <a:t>https://unesdoc.unesco.org/ark:/48223/pf0000186606</a:t>
            </a:r>
          </a:p>
          <a:p>
            <a:pPr marL="259094" lvl="1" indent="-129547">
              <a:lnSpc>
                <a:spcPts val="1440"/>
              </a:lnSpc>
              <a:buAutoNum type="arabicPeriod"/>
            </a:pPr>
            <a:r>
              <a:rPr lang="en-US" sz="1200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Congressional Policy and Budget Research Department. (2024). Basic education enrollment trends and classroom requirements. House of Representatives. </a:t>
            </a:r>
            <a:r>
              <a:rPr lang="en-US" sz="1200" u="sng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0" tooltip="https://cpbrd.congress.gov.ph"/>
              </a:rPr>
              <a:t>https://cpbrd.congress.gov.ph</a:t>
            </a:r>
          </a:p>
          <a:p>
            <a:pPr marL="259094" lvl="1" indent="-129547">
              <a:lnSpc>
                <a:spcPts val="1440"/>
              </a:lnSpc>
              <a:buAutoNum type="arabicPeriod"/>
            </a:pPr>
            <a:r>
              <a:rPr lang="en-US" sz="1200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Education. (2024, September 19). DepEd grants schools flexibility in Matatag Curriculum amid teacher and resource concerns. </a:t>
            </a:r>
            <a:r>
              <a:rPr lang="en-US" sz="1200" u="sng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1" tooltip="https://www.deped.gov.ph/2024/09/19/matatag-curriculum-flexibility"/>
              </a:rPr>
              <a:t>https://www.deped.gov.ph/2024/09/19/matatag-curriculum-flexibility</a:t>
            </a:r>
          </a:p>
          <a:p>
            <a:pPr marL="259094" lvl="1" indent="-129547">
              <a:lnSpc>
                <a:spcPts val="1440"/>
              </a:lnSpc>
              <a:buAutoNum type="arabicPeriod"/>
            </a:pPr>
            <a:r>
              <a:rPr lang="en-US" sz="1200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Philippine Institute for Development Studies. (2023). Enrollment crisis: Philippines may lack thousands of classrooms by 2040. PIDS Policy Notes. </a:t>
            </a:r>
            <a:r>
              <a:rPr lang="en-US" sz="1200" u="sng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2" tooltip="https://www.pids.gov.ph/details/news/in-the-news"/>
              </a:rPr>
              <a:t>https://www.pids.gov.ph/details/news/in-the-news</a:t>
            </a:r>
          </a:p>
          <a:p>
            <a:pPr marL="259094" lvl="1" indent="-129547">
              <a:lnSpc>
                <a:spcPts val="1440"/>
              </a:lnSpc>
              <a:buAutoNum type="arabicPeriod"/>
            </a:pPr>
            <a:r>
              <a:rPr lang="en-US" sz="1200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Philippine Statistics Authority. (2023). 2023 annual poverty indicators survey. PSA. </a:t>
            </a:r>
            <a:r>
              <a:rPr lang="en-US" sz="1200" u="sng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3" tooltip="https://psa.gov.ph/poverty-press-releases"/>
              </a:rPr>
              <a:t>https://psa.gov.ph/poverty-press-releases</a:t>
            </a:r>
          </a:p>
          <a:p>
            <a:pPr marL="259094" lvl="1" indent="-129547">
              <a:lnSpc>
                <a:spcPts val="1440"/>
              </a:lnSpc>
              <a:buAutoNum type="arabicPeriod"/>
            </a:pPr>
            <a:r>
              <a:rPr lang="en-US" sz="1200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Raiblaze. (2023). Philippines school enrollment data [Dataset]. Kaggle. Retrieved October 26, 2024, from </a:t>
            </a:r>
            <a:r>
              <a:rPr lang="en-US" sz="1200" u="sng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4" tooltip="https://www.kaggle.com/datasets/raiblaze/philippines-school-enrollment-data"/>
              </a:rPr>
              <a:t>https://www.kaggle.com/datasets/raiblaze/philippines-school-enrollment-data</a:t>
            </a:r>
          </a:p>
          <a:p>
            <a:pPr marL="259094" lvl="1" indent="-129547">
              <a:lnSpc>
                <a:spcPts val="1440"/>
              </a:lnSpc>
              <a:buAutoNum type="arabicPeriod"/>
            </a:pPr>
            <a:r>
              <a:rPr lang="en-US" sz="1200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Pedregosa, F., Varoquaux, G., Gramfort, A., Michel, V., Thirion, B., Grisel, O., Blondel, M., Prettenhofer, P., Weiss, R., Dubourg, V., Vanderplas, J., Passos, A., Cournapeau, D., Brucher, M., Perrot, M., &amp; Duchesnay, É. (2011). Scikit-learn: Machine learning in Python. Journal of Machine Learning Research, 12, 2825–2830.</a:t>
            </a:r>
          </a:p>
          <a:p>
            <a:pPr marL="259094" lvl="1" indent="-129547">
              <a:lnSpc>
                <a:spcPts val="1440"/>
              </a:lnSpc>
              <a:buAutoNum type="arabicPeriod"/>
            </a:pPr>
            <a:r>
              <a:rPr lang="en-US" sz="1200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World Bank. (2018). World development report 2018: Learning to realize education’s promise. </a:t>
            </a:r>
            <a:r>
              <a:rPr lang="en-US" sz="1200" u="sng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5" tooltip="https://doi.org/10.1596/978-1-4648-1096-1"/>
              </a:rPr>
              <a:t>https://doi.org/10.1596/978-1-4648-1096-1</a:t>
            </a:r>
          </a:p>
          <a:p>
            <a:pPr marL="259094" lvl="1" indent="-129547">
              <a:lnSpc>
                <a:spcPts val="1440"/>
              </a:lnSpc>
              <a:buAutoNum type="arabicPeriod"/>
            </a:pPr>
            <a:r>
              <a:rPr lang="en-US" sz="1200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Bulio, N. O., &amp; Cardaño, M. S. (2025). Mini-Project Repository [Source code]. GitHub. </a:t>
            </a:r>
            <a:r>
              <a:rPr lang="en-US" sz="1200" u="sng">
                <a:solidFill>
                  <a:srgbClr val="001B44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6" tooltip="https://github.com/NCoding95/Mini-Project"/>
              </a:rPr>
              <a:t>https://github.com/NCoding95/Mini-Project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rgbClr val="001B44"/>
      </a:dk1>
      <a:lt1>
        <a:srgbClr val="F5F5F5"/>
      </a:lt1>
      <a:dk2>
        <a:srgbClr val="0A1A33"/>
      </a:dk2>
      <a:lt2>
        <a:srgbClr val="FAF9F6"/>
      </a:lt2>
      <a:accent1>
        <a:srgbClr val="002366"/>
      </a:accent1>
      <a:accent2>
        <a:srgbClr val="8B0000"/>
      </a:accent2>
      <a:accent3>
        <a:srgbClr val="FFD700"/>
      </a:accent3>
      <a:accent4>
        <a:srgbClr val="F5F5F5"/>
      </a:accent4>
      <a:accent5>
        <a:srgbClr val="2E2E2E"/>
      </a:accent5>
      <a:accent6>
        <a:srgbClr val="BFBFBF"/>
      </a:accent6>
      <a:hlink>
        <a:srgbClr val="1A2A6C"/>
      </a:hlink>
      <a:folHlink>
        <a:srgbClr val="8B0000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3453</TotalTime>
  <Words>3493</Words>
  <Application>Microsoft Office PowerPoint</Application>
  <PresentationFormat>Custom</PresentationFormat>
  <Paragraphs>648</Paragraphs>
  <Slides>16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SPAC MULTIDISCIPLINARY RESEARCH CONGRESS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Gen Sulite</dc:creator>
  <cp:lastModifiedBy>Station05</cp:lastModifiedBy>
  <cp:revision>54</cp:revision>
  <dcterms:created xsi:type="dcterms:W3CDTF">2025-10-30T06:54:05Z</dcterms:created>
  <dcterms:modified xsi:type="dcterms:W3CDTF">2025-12-11T06:19:50Z</dcterms:modified>
</cp:coreProperties>
</file>